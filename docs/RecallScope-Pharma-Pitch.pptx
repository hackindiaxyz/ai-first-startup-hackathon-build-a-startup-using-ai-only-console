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86f50675adb4325" /><Relationship Type="http://schemas.openxmlformats.org/officeDocument/2006/relationships/extended-properties" Target="/docProps/app.xml" Id="Rb6e655934ce04e41" /><Relationship Type="http://schemas.openxmlformats.org/officeDocument/2006/relationships/officeDocument" Target="/ppt/presentation.xml" Id="Rdfc84c6792444d8f" /></Relationships>
</file>

<file path=ppt/presentation.xml><?xml version="1.0" encoding="utf-8"?>
<p:presentation xmlns:p="http://schemas.openxmlformats.org/presentationml/2006/main">
  <p:sldMasterIdLst>
    <p:sldMasterId xmlns:r="http://schemas.openxmlformats.org/officeDocument/2006/relationships" id="2147483648" r:id="R82f71e1ceff543d8"/>
  </p:sldMasterIdLst>
  <p:notesMasterIdLst>
    <p:notesMasterId xmlns:r="http://schemas.openxmlformats.org/officeDocument/2006/relationships" r:id="R64a86ac8766043ae"/>
  </p:notesMasterIdLst>
  <p:sldIdLst>
    <p:sldId xmlns:r="http://schemas.openxmlformats.org/officeDocument/2006/relationships" id="256" r:id="Rb7fbf80f76c4444b"/>
    <p:sldId xmlns:r="http://schemas.openxmlformats.org/officeDocument/2006/relationships" id="257" r:id="R0ac4845c2c2d4c09"/>
    <p:sldId xmlns:r="http://schemas.openxmlformats.org/officeDocument/2006/relationships" id="258" r:id="Rbe5a410034ec4ea8"/>
    <p:sldId xmlns:r="http://schemas.openxmlformats.org/officeDocument/2006/relationships" id="259" r:id="Rb30731997c4a4d30"/>
    <p:sldId xmlns:r="http://schemas.openxmlformats.org/officeDocument/2006/relationships" id="260" r:id="R2c4787c1c75c45a9"/>
    <p:sldId xmlns:r="http://schemas.openxmlformats.org/officeDocument/2006/relationships" id="261" r:id="R5f8bc6abd78f47a4"/>
    <p:sldId xmlns:r="http://schemas.openxmlformats.org/officeDocument/2006/relationships" id="262" r:id="R5371b7fd9e584cdd"/>
    <p:sldId xmlns:r="http://schemas.openxmlformats.org/officeDocument/2006/relationships" id="263" r:id="R235b7e7b47e7472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b4af583fd4e4f16" /><Relationship Type="http://schemas.openxmlformats.org/officeDocument/2006/relationships/slideMaster" Target="/ppt/slideMasters/slideMaster1.xml" Id="R82f71e1ceff543d8" /><Relationship Type="http://schemas.openxmlformats.org/officeDocument/2006/relationships/notesMaster" Target="/ppt/notesMasters/notesMaster1.xml" Id="R64a86ac8766043ae" /><Relationship Type="http://schemas.openxmlformats.org/officeDocument/2006/relationships/presProps" Target="/ppt/presProps.xml" Id="R122a1a16160b479a" /><Relationship Type="http://schemas.openxmlformats.org/officeDocument/2006/relationships/tableStyles" Target="/ppt/tableStyles.xml" Id="R4647b455fe3f4935" /><Relationship Type="http://schemas.openxmlformats.org/officeDocument/2006/relationships/slide" Target="/ppt/slides/slide1.xml" Id="Rb7fbf80f76c4444b" /><Relationship Type="http://schemas.openxmlformats.org/officeDocument/2006/relationships/slide" Target="/ppt/slides/slide2.xml" Id="R0ac4845c2c2d4c09" /><Relationship Type="http://schemas.openxmlformats.org/officeDocument/2006/relationships/slide" Target="/ppt/slides/slide3.xml" Id="Rbe5a410034ec4ea8" /><Relationship Type="http://schemas.openxmlformats.org/officeDocument/2006/relationships/slide" Target="/ppt/slides/slide4.xml" Id="Rb30731997c4a4d30" /><Relationship Type="http://schemas.openxmlformats.org/officeDocument/2006/relationships/slide" Target="/ppt/slides/slide5.xml" Id="R2c4787c1c75c45a9" /><Relationship Type="http://schemas.openxmlformats.org/officeDocument/2006/relationships/slide" Target="/ppt/slides/slide6.xml" Id="R5f8bc6abd78f47a4" /><Relationship Type="http://schemas.openxmlformats.org/officeDocument/2006/relationships/slide" Target="/ppt/slides/slide7.xml" Id="R5371b7fd9e584cdd" /><Relationship Type="http://schemas.openxmlformats.org/officeDocument/2006/relationships/slide" Target="/ppt/slides/slide8.xml" Id="R235b7e7b47e7472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68dc34f7052469e"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90a0ec1402c490d" /><Relationship Type="http://schemas.openxmlformats.org/officeDocument/2006/relationships/notesMaster" Target="/ppt/notesMasters/notesMaster1.xml" Id="R095e11e724ed4752" /></Relationships>
</file>

<file path=ppt/notesSlides/_rels/notesSlide2.xml.rels>&#65279;<?xml version="1.0" encoding="utf-8"?><Relationships xmlns="http://schemas.openxmlformats.org/package/2006/relationships"><Relationship Type="http://schemas.openxmlformats.org/officeDocument/2006/relationships/slide" Target="/ppt/slides/slide2.xml" Id="R40bc4a45dacc4e43" /><Relationship Type="http://schemas.openxmlformats.org/officeDocument/2006/relationships/notesMaster" Target="/ppt/notesMasters/notesMaster1.xml" Id="R2747e124d06841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1fcec399783f41d9" /><Relationship Type="http://schemas.openxmlformats.org/officeDocument/2006/relationships/notesMaster" Target="/ppt/notesMasters/notesMaster1.xml" Id="R6c9bd081d8dc4a3c"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d15704780f4452" /><Relationship Type="http://schemas.openxmlformats.org/officeDocument/2006/relationships/notesMaster" Target="/ppt/notesMasters/notesMaster1.xml" Id="R822be6a35be04e2a"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27d6ab0ee84998" /><Relationship Type="http://schemas.openxmlformats.org/officeDocument/2006/relationships/notesMaster" Target="/ppt/notesMasters/notesMaster1.xml" Id="Rcfd474db6c3f402a" /></Relationships>
</file>

<file path=ppt/notesSlides/_rels/notesSlide6.xml.rels>&#65279;<?xml version="1.0" encoding="utf-8"?><Relationships xmlns="http://schemas.openxmlformats.org/package/2006/relationships"><Relationship Type="http://schemas.openxmlformats.org/officeDocument/2006/relationships/slide" Target="/ppt/slides/slide6.xml" Id="Re1b6f90a7af54dc6" /><Relationship Type="http://schemas.openxmlformats.org/officeDocument/2006/relationships/notesMaster" Target="/ppt/notesMasters/notesMaster1.xml" Id="R6bbf0f332d6e41e3"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c56687b0e34b42" /><Relationship Type="http://schemas.openxmlformats.org/officeDocument/2006/relationships/notesMaster" Target="/ppt/notesMasters/notesMaster1.xml" Id="Rb1691bccc8994e8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4132c27b35e4ed4" /><Relationship Type="http://schemas.openxmlformats.org/officeDocument/2006/relationships/notesMaster" Target="/ppt/notesMasters/notesMaster1.xml" Id="Rbea400aa2a944a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RecallScope is a working pharmaceutical distributor and wholesaler workspace. This pitch describes the pharmaceutical release. All showcased organisations and transactions are fictional. The demonstration does not claim industrial validation, regulatory certification, medical safety, or measured customer savings. The owner selected distributors/wholesalers as the target 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Primary context: NPRA GDP third edition, stock reconciliation, quarantined returns and recall recording: https://www.npra.gov.my/~npraweb/images/Guidelines_Central/Guidelines_on_Regulatory/2018/GUIDELINE_ON_GDP_3rd_Edi_2018.pdf</a:t>
            </a:r>
          </a:p>
          <a:p xmlns:a="http://schemas.openxmlformats.org/drawingml/2006/main">
            <a:r>
              <a:t>NPRA public recall scope and product/batch fields: https://www.npra.gov.my/index.php/en/consumers/safety-information/product-recall.html</a:t>
            </a:r>
          </a:p>
          <a:p xmlns:a="http://schemas.openxmlformats.org/drawingml/2006/main">
            <a:r>
              <a:t>The slide states the operational problem addressed, not a measured frequency or delay. Screenshot: work/screenshots/pharma-trace.jpg, actual local pharmaceutical app on 3 October 2026, labelled sample records. Each screenshot uses its own source asset.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app screenshot: work/screenshots/pharma-overview.jpg, captured 3 October 2026. The screen uses a controlled reference date and authored sample distributor data. Features implemented in product/app/pharma/workspace.tsx and product/lib/pharma/domain.ts include catalogue and product-scoped batch identity, exact units, expiry precision, FEFO suggestions, warehouse stock accounts, delivered shipments and returns. Existing ingredient-tracing data remains separate under /bakery. No clinical workflow is part of this product.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Actual screen: work/screenshots/pharma-guided.jpg. Guided examples are authored fictional records, and the interface says no AI request is made. CSV parsing is deterministic. Both feed a server-side stored draft that requires a review note and explicit approval before posting. Fireworks is the development provider and the OpenAI option remains implemented. Provider keys stay server-side; per-workspace and global budgets bound optional paid requests. This slide does not imply that guided examples are model output or that a live pharmaceutical AI extraction was measured.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Data source: product/lib/pharma/seed.ts and deterministic domain tests in product/tests/pharma-domain.test.ts. Initial receipt 1,000 boxes, transfer 200 Central to North, dispatches 250 + 150 + 100 + 100 = 600 boxes. Before returns, 400 boxes remain on hand. Partial returns 50 + 30 + 20 = 100 yield 500 on hand and 500 outstanding. Completing the remaining 500 returns yields 600 total returns, 1,000 on hand and zero outstanding. Historical shipment exposure is never added to on-hand stock. The complete fixture includes evidenced acknowledgement and an explicit closure decision. Quantities describe fictional records, not an industrial trial.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Implementation evidence: product/lib/pharma/domain.ts, intake.ts, store.ts, interoperability.ts and API routes under product/app/api/pharma. Automated tests exercise identity/date/unit invariants, receipt/transfer/dispatch/return accounting, role denial, separate sessions, stored draft review, duplicate prevention and concurrent writes. Serialized-unit custody and nested package relationships are implemented; packaging changes no stock quantities. Health checks and source hash manifests provide operational diagnostics. Regulatory compliance, external ERP integration and pharmaceutical authenticity are not claimed.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Dated desk research, 3 October 2026. Sources: TraceLink Targeted Recalls https://www.tracelink.com/products/product-orchestration/targeted-recalls; SAP Advanced Track and Trace for Pharmaceuticals https://www.sap.com/uk/products/scm/track-trace-pharmaceuticals.html; Odoo expiry documentation https://www.odoo.com/documentation/19.0/applications/inventory_and_mrp/inventory/product_management/product_tracking/expiration_dates.html. Summary source: docs/PHARMA-ALTERNATIVES.md. Recall management, lot tracking and serialization are established capabilities. This pitch makes no claim that those competitors lack any capability, that RecallScope is cheaper or faster, or that its approach is validated demand. The pricing structure is a planning hypothesis. Hosting, extraction, storage and support costs need measured input; no revenue, customer count, market share or savings is invented.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no-key demonstration is fully functional using guided records or CSV. Original screenshots show actual app state captured on 3 October 2026: work/screenshots/pharma-stock-night.jpg. Public project URL: https://recallscope.console3096.chatgpt.site/ . GitHub source: https://github.com/HackIndiaXYZ/ai-first-startup-hackathon-build-a-startup-using-ai-only-console . The release documentation records the deployment revision and validation scope. Reasons this entry can be compelling are a specific user, a complete workflow, meaningful deterministic engineering and inspectable outcomes. No competition prize is guaranteed.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875a56cb93f4d1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1248e33c8d41411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fc8a4a0f7b14a6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2e454825e664c7a"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18c16f94bc7427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3936184ed31f45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C392548-C7F9-4ACF-8FBF-D6E77DFA19B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D6F7E26-278A-4A9F-BAB9-34FA414DE569}"/>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662301D-6038-4CFD-80E0-7A13082872B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2B00B06-4080-466E-8252-EDA48808644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0DB03F2-94AB-4F15-851E-E66965CE76C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BB0A49B9-E79D-48C8-827D-ACF4D9F3A9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3A8A750-4E51-4A2B-96B9-F02D38596A6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08D49A33-7B54-4291-AE58-76995692BDF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F88E2DE-E9AE-4849-A755-419CE576F03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A261F9-5776-4861-9FE1-1BBAB9A3767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8add29988d04edb" /><Relationship Type="http://schemas.openxmlformats.org/officeDocument/2006/relationships/slideLayout" Target="/ppt/slideLayouts/slideLayout1.xml" Id="R7fe37ae01ee34f7a" /><Relationship Type="http://schemas.openxmlformats.org/officeDocument/2006/relationships/slideLayout" Target="/ppt/slideLayouts/slideLayout2.xml" Id="R3550210190f24f72" /><Relationship Type="http://schemas.openxmlformats.org/officeDocument/2006/relationships/slideLayout" Target="/ppt/slideLayouts/slideLayout3.xml" Id="R5c4088c8345643a6" /><Relationship Type="http://schemas.openxmlformats.org/officeDocument/2006/relationships/slideLayout" Target="/ppt/slideLayouts/slideLayout4.xml" Id="R28fcf5041a154ce8" /><Relationship Type="http://schemas.openxmlformats.org/officeDocument/2006/relationships/slideLayout" Target="/ppt/slideLayouts/slideLayout5.xml" Id="Rd0c8b0bb3c484c92" /><Relationship Type="http://schemas.openxmlformats.org/officeDocument/2006/relationships/slideLayout" Target="/ppt/slideLayouts/slideLayout6.xml" Id="R29040f809b9b4bc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fe37ae01ee34f7a"/>
    <p:sldLayoutId xmlns:r="http://schemas.openxmlformats.org/officeDocument/2006/relationships" id="2147483650" r:id="R3550210190f24f72"/>
    <p:sldLayoutId xmlns:r="http://schemas.openxmlformats.org/officeDocument/2006/relationships" id="2147483651" r:id="R5c4088c8345643a6"/>
    <p:sldLayoutId xmlns:r="http://schemas.openxmlformats.org/officeDocument/2006/relationships" id="2147483652" r:id="R28fcf5041a154ce8"/>
    <p:sldLayoutId xmlns:r="http://schemas.openxmlformats.org/officeDocument/2006/relationships" id="2147483653" r:id="Rd0c8b0bb3c484c92"/>
    <p:sldLayoutId xmlns:r="http://schemas.openxmlformats.org/officeDocument/2006/relationships" id="2147483654" r:id="R29040f809b9b4bc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d58e7e6a20f4dfc" /><Relationship Type="http://schemas.openxmlformats.org/officeDocument/2006/relationships/notesSlide" Target="/ppt/notesSlides/notesSlide1.xml" Id="R6c4fef852ce143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19e4623d4154353" /><Relationship Type="http://schemas.openxmlformats.org/officeDocument/2006/relationships/image" Target="/ppt/media/image.jpeg" Id="Re364ad2c684b45dc" /><Relationship Type="http://schemas.openxmlformats.org/officeDocument/2006/relationships/notesSlide" Target="/ppt/notesSlides/notesSlide2.xml" Id="R0a8998c499f743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b767b1b02ee4ecb" /><Relationship Type="http://schemas.openxmlformats.org/officeDocument/2006/relationships/image" Target="/ppt/media/image2.jpeg" Id="Raabe46e64b2c40dd" /><Relationship Type="http://schemas.openxmlformats.org/officeDocument/2006/relationships/notesSlide" Target="/ppt/notesSlides/notesSlide3.xml" Id="R9f586d6275ad42d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218549e90bf44f2" /><Relationship Type="http://schemas.openxmlformats.org/officeDocument/2006/relationships/image" Target="/ppt/media/image3.jpeg" Id="Rd7e0186b24584106" /><Relationship Type="http://schemas.openxmlformats.org/officeDocument/2006/relationships/notesSlide" Target="/ppt/notesSlides/notesSlide4.xml" Id="R580ea940c41d40b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aad504b2fc345e1" /><Relationship Type="http://schemas.openxmlformats.org/officeDocument/2006/relationships/notesSlide" Target="/ppt/notesSlides/notesSlide5.xml" Id="R502af8eea9f6463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077942ef2ea47c4" /><Relationship Type="http://schemas.openxmlformats.org/officeDocument/2006/relationships/notesSlide" Target="/ppt/notesSlides/notesSlide6.xml" Id="R881dd55916c64891"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7c11cf08174468" /><Relationship Type="http://schemas.openxmlformats.org/officeDocument/2006/relationships/notesSlide" Target="/ppt/notesSlides/notesSlide7.xml" Id="R9951691f044f427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a7a0b4a4ec24733" /><Relationship Type="http://schemas.openxmlformats.org/officeDocument/2006/relationships/image" Target="/ppt/media/image4.jpeg" Id="R6b7b49d9f0a04b76" /><Relationship Type="http://schemas.openxmlformats.org/officeDocument/2006/relationships/notesSlide" Target="/ppt/notesSlides/notesSlide8.xml" Id="Rcfbf78db6a574524" /></Relationships>
</file>

<file path=ppt/slides/slide1.xml><?xml version="1.0" encoding="utf-8"?>
<p:sld xmlns:p="http://schemas.openxmlformats.org/presentationml/2006/main">
  <p:cSld>
    <p:bg>
      <p:bgPr>
        <a:solidFill xmlns:a="http://schemas.openxmlformats.org/drawingml/2006/main">
          <a:srgbClr val="1E3535"/>
        </a:solidFill>
      </p:bgPr>
    </p:bg>
    <p:spTree>
      <p:nvGrpSpPr>
        <p:cNvPr id="1" name=""/>
        <p:cNvGrpSpPr/>
        <p:nvPr/>
      </p:nvGrpSpPr>
      <p:grpSpPr>
        <a:xfrm xmlns:a="http://schemas.openxmlformats.org/drawingml/2006/main"/>
      </p:grpSpPr>
      <p:sp>
        <p:nvSpPr>
          <p:cNvPr id="6" name="RecallScope">
            <a:extLst xmlns:a="http://schemas.openxmlformats.org/drawingml/2006/main">
              <a:ext uri="{FF2B5EF4-FFF2-40B4-BE49-F238E27FC236}">
                <a16:creationId xmlns:a16="http://schemas.microsoft.com/office/drawing/2014/main" id="{A452DC11-1234-45F6-8A2C-E2208D757B38}"/>
              </a:ext>
            </a:extLst>
          </p:cNvPr>
          <p:cNvSpPr>
            <a:spLocks xmlns:a="http://schemas.openxmlformats.org/drawingml/2006/main" noGrp="1"/>
          </p:cNvSpPr>
          <p:nvPr/>
        </p:nvSpPr>
        <p:spPr>
          <a:xfrm xmlns:a="http://schemas.openxmlformats.org/drawingml/2006/main">
            <a:off x="685800" y="1257300"/>
            <a:ext cx="10820400"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6150" b="1">
                <a:solidFill>
                  <a:srgbClr val="FFFFFF"/>
                </a:solidFill>
                <a:latin typeface="Arial"/>
                <a:ea typeface="Arial"/>
                <a:cs typeface="Arial"/>
              </a:defRPr>
            </a:defPPr>
          </a:lstStyle>
          <a:p xmlns:a="http://schemas.openxmlformats.org/drawingml/2006/main">
            <a:pPr algn="l">
              <a:defRPr sz="6150" b="1">
                <a:solidFill>
                  <a:srgbClr val="FFFFFF"/>
                </a:solidFill>
                <a:latin typeface="Arial"/>
                <a:ea typeface="Arial"/>
                <a:cs typeface="Arial"/>
              </a:defRPr>
            </a:pPr>
            <a:r>
              <a:rPr sz="6150" b="1">
                <a:solidFill>
                  <a:srgbClr val="FFFFFF"/>
                </a:solidFill>
                <a:latin typeface="Arial"/>
                <a:ea typeface="Arial"/>
                <a:cs typeface="Arial"/>
              </a:rPr>
              <a:t>RecallScope</a:t>
            </a:r>
          </a:p>
        </p:txBody>
      </p:sp>
      <p:sp>
        <p:nvSpPr>
          <p:cNvPr id="2" name="Pharmaceutical distribution">
            <a:extLst xmlns:a="http://schemas.openxmlformats.org/drawingml/2006/main">
              <a:ext uri="{FF2B5EF4-FFF2-40B4-BE49-F238E27FC236}">
                <a16:creationId xmlns:a16="http://schemas.microsoft.com/office/drawing/2014/main" id="{7AED97FC-8B14-4761-AECC-683E686ED0D0}"/>
              </a:ext>
            </a:extLst>
          </p:cNvPr>
          <p:cNvSpPr>
            <a:spLocks xmlns:a="http://schemas.openxmlformats.org/drawingml/2006/main" noGrp="1"/>
          </p:cNvSpPr>
          <p:nvPr/>
        </p:nvSpPr>
        <p:spPr>
          <a:xfrm xmlns:a="http://schemas.openxmlformats.org/drawingml/2006/main">
            <a:off x="714375" y="2466975"/>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475" b="0">
                <a:solidFill>
                  <a:srgbClr val="D7E7D5"/>
                </a:solidFill>
                <a:latin typeface="Arial"/>
                <a:ea typeface="Arial"/>
                <a:cs typeface="Arial"/>
              </a:defRPr>
            </a:defPPr>
          </a:lstStyle>
          <a:p xmlns:a="http://schemas.openxmlformats.org/drawingml/2006/main">
            <a:pPr algn="l">
              <a:defRPr sz="2475" b="0">
                <a:solidFill>
                  <a:srgbClr val="D7E7D5"/>
                </a:solidFill>
                <a:latin typeface="Arial"/>
                <a:ea typeface="Arial"/>
                <a:cs typeface="Arial"/>
              </a:defRPr>
            </a:pPr>
            <a:r>
              <a:rPr sz="2475" b="0">
                <a:solidFill>
                  <a:srgbClr val="D7E7D5"/>
                </a:solidFill>
                <a:latin typeface="Arial"/>
                <a:ea typeface="Arial"/>
                <a:cs typeface="Arial"/>
              </a:rPr>
              <a:t>Pharmaceutical distribution</a:t>
            </a:r>
          </a:p>
        </p:txBody>
      </p:sp>
      <p:sp>
        <p:nvSpPr>
          <p:cNvPr id="3" name="Batch recall accounting&#10;with the evidence attach">
            <a:extLst xmlns:a="http://schemas.openxmlformats.org/drawingml/2006/main">
              <a:ext uri="{FF2B5EF4-FFF2-40B4-BE49-F238E27FC236}">
                <a16:creationId xmlns:a16="http://schemas.microsoft.com/office/drawing/2014/main" id="{BE15E5E5-FA5A-4758-A89A-EE24986C4DA1}"/>
              </a:ext>
            </a:extLst>
          </p:cNvPr>
          <p:cNvSpPr>
            <a:spLocks xmlns:a="http://schemas.openxmlformats.org/drawingml/2006/main" noGrp="1"/>
          </p:cNvSpPr>
          <p:nvPr/>
        </p:nvSpPr>
        <p:spPr>
          <a:xfrm xmlns:a="http://schemas.openxmlformats.org/drawingml/2006/main">
            <a:off x="714375" y="3695700"/>
            <a:ext cx="102870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150" b="0">
                <a:solidFill>
                  <a:srgbClr val="FFFFFF"/>
                </a:solidFill>
                <a:latin typeface="Arial"/>
                <a:ea typeface="Arial"/>
                <a:cs typeface="Arial"/>
              </a:defRPr>
            </a:defPPr>
          </a:lstStyle>
          <a:p xmlns:a="http://schemas.openxmlformats.org/drawingml/2006/main">
            <a:pPr algn="l">
              <a:defRPr sz="3150" b="0">
                <a:solidFill>
                  <a:srgbClr val="FFFFFF"/>
                </a:solidFill>
                <a:latin typeface="Arial"/>
                <a:ea typeface="Arial"/>
                <a:cs typeface="Arial"/>
              </a:defRPr>
            </a:pPr>
            <a:r>
              <a:rPr sz="3150" b="0">
                <a:solidFill>
                  <a:srgbClr val="FFFFFF"/>
                </a:solidFill>
                <a:latin typeface="Arial"/>
                <a:ea typeface="Arial"/>
                <a:cs typeface="Arial"/>
              </a:rPr>
              <a:t>Batch recall accounting</a:t>
            </a:r>
          </a:p>
          <a:p xmlns:a="http://schemas.openxmlformats.org/drawingml/2006/main">
            <a:pPr algn="l">
              <a:defRPr sz="3150" b="0">
                <a:solidFill>
                  <a:srgbClr val="FFFFFF"/>
                </a:solidFill>
                <a:latin typeface="Arial"/>
                <a:ea typeface="Arial"/>
                <a:cs typeface="Arial"/>
              </a:defRPr>
            </a:pPr>
            <a:r>
              <a:rPr sz="3150" b="0">
                <a:solidFill>
                  <a:srgbClr val="FFFFFF"/>
                </a:solidFill>
                <a:latin typeface="Arial"/>
                <a:ea typeface="Arial"/>
                <a:cs typeface="Arial"/>
              </a:rPr>
              <a:t>with the evidence attached</a:t>
            </a:r>
          </a:p>
        </p:txBody>
      </p:sp>
      <p:sp>
        <p:nvSpPr>
          <p:cNvPr id="4" name="Team Console">
            <a:extLst xmlns:a="http://schemas.openxmlformats.org/drawingml/2006/main">
              <a:ext uri="{FF2B5EF4-FFF2-40B4-BE49-F238E27FC236}">
                <a16:creationId xmlns:a16="http://schemas.microsoft.com/office/drawing/2014/main" id="{F9F78952-DF42-41C6-B726-87ABD03D5085}"/>
              </a:ext>
            </a:extLst>
          </p:cNvPr>
          <p:cNvSpPr>
            <a:spLocks xmlns:a="http://schemas.openxmlformats.org/drawingml/2006/main" noGrp="1"/>
          </p:cNvSpPr>
          <p:nvPr/>
        </p:nvSpPr>
        <p:spPr>
          <a:xfrm xmlns:a="http://schemas.openxmlformats.org/drawingml/2006/main">
            <a:off x="723900" y="6134100"/>
            <a:ext cx="6667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650" b="0">
                <a:solidFill>
                  <a:srgbClr val="D7E7D5"/>
                </a:solidFill>
                <a:latin typeface="Arial"/>
                <a:ea typeface="Arial"/>
                <a:cs typeface="Arial"/>
              </a:defRPr>
            </a:defPPr>
          </a:lstStyle>
          <a:p xmlns:a="http://schemas.openxmlformats.org/drawingml/2006/main">
            <a:pPr algn="l">
              <a:defRPr sz="1650" b="0">
                <a:solidFill>
                  <a:srgbClr val="D7E7D5"/>
                </a:solidFill>
                <a:latin typeface="Arial"/>
                <a:ea typeface="Arial"/>
                <a:cs typeface="Arial"/>
              </a:defRPr>
            </a:pPr>
            <a:r>
              <a:rPr sz="1650" b="0">
                <a:solidFill>
                  <a:srgbClr val="D7E7D5"/>
                </a:solidFill>
                <a:latin typeface="Arial"/>
                <a:ea typeface="Arial"/>
                <a:cs typeface="Arial"/>
              </a:rPr>
              <a:t>Team Console</a:t>
            </a:r>
          </a:p>
        </p:txBody>
      </p:sp>
      <p:sp>
        <p:nvSpPr>
          <p:cNvPr id="5" name="October 2026">
            <a:extLst xmlns:a="http://schemas.openxmlformats.org/drawingml/2006/main">
              <a:ext uri="{FF2B5EF4-FFF2-40B4-BE49-F238E27FC236}">
                <a16:creationId xmlns:a16="http://schemas.microsoft.com/office/drawing/2014/main" id="{623AA83B-A73B-4EF5-9303-2D56EB58BCD3}"/>
              </a:ext>
            </a:extLst>
          </p:cNvPr>
          <p:cNvSpPr>
            <a:spLocks xmlns:a="http://schemas.openxmlformats.org/drawingml/2006/main" noGrp="1"/>
          </p:cNvSpPr>
          <p:nvPr/>
        </p:nvSpPr>
        <p:spPr>
          <a:xfrm xmlns:a="http://schemas.openxmlformats.org/drawingml/2006/main">
            <a:off x="9296400" y="6134100"/>
            <a:ext cx="23241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500" b="0">
                <a:solidFill>
                  <a:srgbClr val="D7E7D5"/>
                </a:solidFill>
                <a:latin typeface="Arial"/>
                <a:ea typeface="Arial"/>
                <a:cs typeface="Arial"/>
              </a:defRPr>
            </a:defPPr>
          </a:lstStyle>
          <a:p xmlns:a="http://schemas.openxmlformats.org/drawingml/2006/main">
            <a:pPr algn="l">
              <a:defRPr sz="1500" b="0">
                <a:solidFill>
                  <a:srgbClr val="D7E7D5"/>
                </a:solidFill>
                <a:latin typeface="Arial"/>
                <a:ea typeface="Arial"/>
                <a:cs typeface="Arial"/>
              </a:defRPr>
            </a:pPr>
            <a:r>
              <a:rPr sz="1500" b="0">
                <a:solidFill>
                  <a:srgbClr val="D7E7D5"/>
                </a:solidFill>
                <a:latin typeface="Arial"/>
                <a:ea typeface="Arial"/>
                <a:cs typeface="Arial"/>
              </a:rPr>
              <a:t>October 2026</a:t>
            </a:r>
          </a:p>
        </p:txBody>
      </p:sp>
    </p:spTree>
    <p:extLst>
      <p:ext uri="{BB962C8B-B14F-4D97-AF65-F5344CB8AC3E}">
        <p14:creationId xmlns:p14="http://schemas.microsoft.com/office/powerpoint/2010/main" val="254952546"/>
      </p:ext>
    </p:extLst>
  </p:cSld>
</p:sld>
</file>

<file path=ppt/slides/slide2.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The batch-to-customer evidence gap">
            <a:extLst xmlns:a="http://schemas.openxmlformats.org/drawingml/2006/main">
              <a:ext uri="{FF2B5EF4-FFF2-40B4-BE49-F238E27FC236}">
                <a16:creationId xmlns:a16="http://schemas.microsoft.com/office/drawing/2014/main" id="{548B7614-4FE8-4459-8149-F0150DBAAC1E}"/>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The batch-to-customer evidence gap</a:t>
            </a:r>
          </a:p>
        </p:txBody>
      </p:sp>
      <p:sp>
        <p:nvSpPr>
          <p:cNvPr id="2" name="A distributor must identify the affected product">
            <a:extLst xmlns:a="http://schemas.openxmlformats.org/drawingml/2006/main">
              <a:ext uri="{FF2B5EF4-FFF2-40B4-BE49-F238E27FC236}">
                <a16:creationId xmlns:a16="http://schemas.microsoft.com/office/drawing/2014/main" id="{8AFACFB2-03BE-4FBD-A4A6-50960792C3E7}"/>
              </a:ext>
            </a:extLst>
          </p:cNvPr>
          <p:cNvSpPr>
            <a:spLocks xmlns:a="http://schemas.openxmlformats.org/drawingml/2006/main" noGrp="1"/>
          </p:cNvSpPr>
          <p:nvPr/>
        </p:nvSpPr>
        <p:spPr>
          <a:xfrm xmlns:a="http://schemas.openxmlformats.org/drawingml/2006/main">
            <a:off x="590550" y="1552575"/>
            <a:ext cx="5162550" cy="1743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250" b="0">
                <a:solidFill>
                  <a:srgbClr val="203333"/>
                </a:solidFill>
                <a:latin typeface="Arial"/>
                <a:ea typeface="Arial"/>
                <a:cs typeface="Arial"/>
              </a:defRPr>
            </a:defPPr>
          </a:lstStyle>
          <a:p xmlns:a="http://schemas.openxmlformats.org/drawingml/2006/main">
            <a:pPr algn="l">
              <a:defRPr sz="2250" b="0">
                <a:solidFill>
                  <a:srgbClr val="203333"/>
                </a:solidFill>
                <a:latin typeface="Arial"/>
                <a:ea typeface="Arial"/>
                <a:cs typeface="Arial"/>
              </a:defRPr>
            </a:pPr>
            <a:r>
              <a:rPr sz="2250" b="0">
                <a:solidFill>
                  <a:srgbClr val="203333"/>
                </a:solidFill>
                <a:latin typeface="Arial"/>
                <a:ea typeface="Arial"/>
                <a:cs typeface="Arial"/>
              </a:rPr>
              <a:t>A distributor must identify the affected product and batch, find its destinations, and explain what happened to each quantity.</a:t>
            </a:r>
          </a:p>
        </p:txBody>
      </p:sp>
      <p:sp>
        <p:nvSpPr>
          <p:cNvPr id="3" name="Receipts and dispatch records hold the facts. A ">
            <a:extLst xmlns:a="http://schemas.openxmlformats.org/drawingml/2006/main">
              <a:ext uri="{FF2B5EF4-FFF2-40B4-BE49-F238E27FC236}">
                <a16:creationId xmlns:a16="http://schemas.microsoft.com/office/drawing/2014/main" id="{B5242A4F-1228-497F-8CA3-1FF6984345C2}"/>
              </a:ext>
            </a:extLst>
          </p:cNvPr>
          <p:cNvSpPr>
            <a:spLocks xmlns:a="http://schemas.openxmlformats.org/drawingml/2006/main" noGrp="1"/>
          </p:cNvSpPr>
          <p:nvPr/>
        </p:nvSpPr>
        <p:spPr>
          <a:xfrm xmlns:a="http://schemas.openxmlformats.org/drawingml/2006/main">
            <a:off x="590550" y="3581400"/>
            <a:ext cx="516255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75" b="0">
                <a:solidFill>
                  <a:srgbClr val="65766F"/>
                </a:solidFill>
                <a:latin typeface="Arial"/>
                <a:ea typeface="Arial"/>
                <a:cs typeface="Arial"/>
              </a:defRPr>
            </a:defPPr>
          </a:lstStyle>
          <a:p xmlns:a="http://schemas.openxmlformats.org/drawingml/2006/main">
            <a:pPr algn="l">
              <a:defRPr sz="1875" b="0">
                <a:solidFill>
                  <a:srgbClr val="65766F"/>
                </a:solidFill>
                <a:latin typeface="Arial"/>
                <a:ea typeface="Arial"/>
                <a:cs typeface="Arial"/>
              </a:defRPr>
            </a:pPr>
            <a:r>
              <a:rPr sz="1875" b="0">
                <a:solidFill>
                  <a:srgbClr val="65766F"/>
                </a:solidFill>
                <a:latin typeface="Arial"/>
                <a:ea typeface="Arial"/>
                <a:cs typeface="Arial"/>
              </a:rPr>
              <a:t>Receipts and dispatch records hold the facts. A recall needs a connected record of stock, returns and recipient responses.</a:t>
            </a:r>
          </a:p>
        </p:txBody>
      </p:sp>
      <p:pic>
        <p:nvPicPr>
          <p:cNvPr id="4" name="">
            <a:extLst xmlns:a="http://schemas.openxmlformats.org/drawingml/2006/main">
              <a:ext uri="{FF2B5EF4-FFF2-40B4-BE49-F238E27FC236}">
                <a16:creationId xmlns:a16="http://schemas.microsoft.com/office/drawing/2014/main" id="{24647402-4CC6-4116-B309-A6D44B7F4F51}"/>
              </a:ext>
            </a:extLst>
          </p:cNvPr>
          <p:cNvPicPr>
            <a:picLocks xmlns:a="http://schemas.openxmlformats.org/drawingml/2006/main" noChangeAspect="1"/>
          </p:cNvPicPr>
          <p:nvPr/>
        </p:nvPicPr>
        <p:blipFill>
          <a:blip xmlns:r="http://schemas.openxmlformats.org/officeDocument/2006/relationships" xmlns:a="http://schemas.openxmlformats.org/drawingml/2006/main" r:embed="Re364ad2c684b45dc"/>
          <a:srcRect xmlns:a="http://schemas.openxmlformats.org/drawingml/2006/main" l="15300" t="5000" r="15300" b="5000"/>
          <a:stretch xmlns:a="http://schemas.openxmlformats.org/drawingml/2006/main"/>
        </p:blipFill>
        <p:spPr>
          <a:xfrm xmlns:a="http://schemas.openxmlformats.org/drawingml/2006/main">
            <a:off x="6219825" y="1395684"/>
            <a:ext cx="5381625" cy="4361908"/>
          </a:xfrm>
          <a:prstGeom xmlns:a="http://schemas.openxmlformats.org/drawingml/2006/main" prst="rect">
            <a:avLst/>
          </a:prstGeom>
        </p:spPr>
      </p:pic>
      <p:sp>
        <p:nvSpPr>
          <p:cNvPr id="5" name="A missing link stays visible. It never becomes a">
            <a:extLst xmlns:a="http://schemas.openxmlformats.org/drawingml/2006/main">
              <a:ext uri="{FF2B5EF4-FFF2-40B4-BE49-F238E27FC236}">
                <a16:creationId xmlns:a16="http://schemas.microsoft.com/office/drawing/2014/main" id="{EADB5A9B-9A8C-49F7-B352-02EED387846A}"/>
              </a:ext>
            </a:extLst>
          </p:cNvPr>
          <p:cNvSpPr>
            <a:spLocks xmlns:a="http://schemas.openxmlformats.org/drawingml/2006/main" noGrp="1"/>
          </p:cNvSpPr>
          <p:nvPr/>
        </p:nvSpPr>
        <p:spPr>
          <a:xfrm xmlns:a="http://schemas.openxmlformats.org/drawingml/2006/main">
            <a:off x="590550" y="5476875"/>
            <a:ext cx="50863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725" b="1">
                <a:solidFill>
                  <a:srgbClr val="17645B"/>
                </a:solidFill>
                <a:latin typeface="Arial"/>
                <a:ea typeface="Arial"/>
                <a:cs typeface="Arial"/>
              </a:defRPr>
            </a:defPPr>
          </a:lstStyle>
          <a:p xmlns:a="http://schemas.openxmlformats.org/drawingml/2006/main">
            <a:pPr algn="l">
              <a:defRPr sz="1725" b="1">
                <a:solidFill>
                  <a:srgbClr val="17645B"/>
                </a:solidFill>
                <a:latin typeface="Arial"/>
                <a:ea typeface="Arial"/>
                <a:cs typeface="Arial"/>
              </a:defRPr>
            </a:pPr>
            <a:r>
              <a:rPr sz="1725" b="1">
                <a:solidFill>
                  <a:srgbClr val="17645B"/>
                </a:solidFill>
                <a:latin typeface="Arial"/>
                <a:ea typeface="Arial"/>
                <a:cs typeface="Arial"/>
              </a:rPr>
              <a:t>A missing link stays visible. It never becomes a safety conclusion.</a:t>
            </a:r>
          </a:p>
        </p:txBody>
      </p:sp>
      <p:sp>
        <p:nvSpPr>
          <p:cNvPr id="6" name="RecallScope / Pharmaceutical distribution">
            <a:extLst xmlns:a="http://schemas.openxmlformats.org/drawingml/2006/main">
              <a:ext uri="{FF2B5EF4-FFF2-40B4-BE49-F238E27FC236}">
                <a16:creationId xmlns:a16="http://schemas.microsoft.com/office/drawing/2014/main" id="{F6C2C4CF-37A3-425C-A2D4-C1707EB79D05}"/>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RecallScope / Pharmaceutical distribution</a:t>
            </a:r>
          </a:p>
        </p:txBody>
      </p:sp>
      <p:sp>
        <p:nvSpPr>
          <p:cNvPr id="7" name="02">
            <a:extLst xmlns:a="http://schemas.openxmlformats.org/drawingml/2006/main">
              <a:ext uri="{FF2B5EF4-FFF2-40B4-BE49-F238E27FC236}">
                <a16:creationId xmlns:a16="http://schemas.microsoft.com/office/drawing/2014/main" id="{87F72C0D-DAC3-4EB3-8A9A-3AAF7951F158}"/>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02</a:t>
            </a:r>
          </a:p>
        </p:txBody>
      </p:sp>
    </p:spTree>
    <p:extLst>
      <p:ext uri="{BB962C8B-B14F-4D97-AF65-F5344CB8AC3E}">
        <p14:creationId xmlns:p14="http://schemas.microsoft.com/office/powerpoint/2010/main" val="1541635532"/>
      </p:ext>
    </p:extLst>
  </p:cSld>
</p:sld>
</file>

<file path=ppt/slides/slide3.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6" name="A distributor’s working record">
            <a:extLst xmlns:a="http://schemas.openxmlformats.org/drawingml/2006/main">
              <a:ext uri="{FF2B5EF4-FFF2-40B4-BE49-F238E27FC236}">
                <a16:creationId xmlns:a16="http://schemas.microsoft.com/office/drawing/2014/main" id="{2A6C6E8E-2FE1-4587-AE73-9A9037D09016}"/>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A distributor’s working record</a:t>
            </a:r>
          </a:p>
        </p:txBody>
      </p:sp>
      <p:sp>
        <p:nvSpPr>
          <p:cNvPr id="2" name="Product identity, warehouse movements and custom">
            <a:extLst xmlns:a="http://schemas.openxmlformats.org/drawingml/2006/main">
              <a:ext uri="{FF2B5EF4-FFF2-40B4-BE49-F238E27FC236}">
                <a16:creationId xmlns:a16="http://schemas.microsoft.com/office/drawing/2014/main" id="{4F5D1D6F-514F-4353-8B86-86DB744C7DB8}"/>
              </a:ext>
            </a:extLst>
          </p:cNvPr>
          <p:cNvSpPr>
            <a:spLocks xmlns:a="http://schemas.openxmlformats.org/drawingml/2006/main" noGrp="1"/>
          </p:cNvSpPr>
          <p:nvPr/>
        </p:nvSpPr>
        <p:spPr>
          <a:xfrm xmlns:a="http://schemas.openxmlformats.org/drawingml/2006/main">
            <a:off x="590550" y="1314450"/>
            <a:ext cx="107442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950" b="0">
                <a:solidFill>
                  <a:srgbClr val="65766F"/>
                </a:solidFill>
                <a:latin typeface="Arial"/>
                <a:ea typeface="Arial"/>
                <a:cs typeface="Arial"/>
              </a:defRPr>
            </a:defPPr>
          </a:lstStyle>
          <a:p xmlns:a="http://schemas.openxmlformats.org/drawingml/2006/main">
            <a:pPr algn="l">
              <a:defRPr sz="1950" b="0">
                <a:solidFill>
                  <a:srgbClr val="65766F"/>
                </a:solidFill>
                <a:latin typeface="Arial"/>
                <a:ea typeface="Arial"/>
                <a:cs typeface="Arial"/>
              </a:defRPr>
            </a:pPr>
            <a:r>
              <a:rPr sz="1950" b="0">
                <a:solidFill>
                  <a:srgbClr val="65766F"/>
                </a:solidFill>
                <a:latin typeface="Arial"/>
                <a:ea typeface="Arial"/>
                <a:cs typeface="Arial"/>
              </a:rPr>
              <a:t>Product identity, warehouse movements and customer destinations share the same batch history.</a:t>
            </a:r>
          </a:p>
        </p:txBody>
      </p:sp>
      <p:pic>
        <p:nvPicPr>
          <p:cNvPr id="3" name="">
            <a:extLst xmlns:a="http://schemas.openxmlformats.org/drawingml/2006/main">
              <a:ext uri="{FF2B5EF4-FFF2-40B4-BE49-F238E27FC236}">
                <a16:creationId xmlns:a16="http://schemas.microsoft.com/office/drawing/2014/main" id="{C96EACA1-4BAA-4071-8B8E-ECDF26F05D4B}"/>
              </a:ext>
            </a:extLst>
          </p:cNvPr>
          <p:cNvPicPr>
            <a:picLocks xmlns:a="http://schemas.openxmlformats.org/drawingml/2006/main" noChangeAspect="1"/>
          </p:cNvPicPr>
          <p:nvPr/>
        </p:nvPicPr>
        <p:blipFill>
          <a:blip xmlns:r="http://schemas.openxmlformats.org/officeDocument/2006/relationships" xmlns:a="http://schemas.openxmlformats.org/drawingml/2006/main" r:embed="Raabe46e64b2c40dd"/>
          <a:srcRect xmlns:a="http://schemas.openxmlformats.org/drawingml/2006/main" l="18500" t="30400" r="3700" b="8400"/>
          <a:stretch xmlns:a="http://schemas.openxmlformats.org/drawingml/2006/main"/>
        </p:blipFill>
        <p:spPr>
          <a:xfrm xmlns:a="http://schemas.openxmlformats.org/drawingml/2006/main">
            <a:off x="2095326" y="2114550"/>
            <a:ext cx="8001349" cy="3933825"/>
          </a:xfrm>
          <a:prstGeom xmlns:a="http://schemas.openxmlformats.org/drawingml/2006/main" prst="rect">
            <a:avLst/>
          </a:prstGeom>
        </p:spPr>
      </p:pic>
      <p:sp>
        <p:nvSpPr>
          <p:cNvPr id="4" name="RecallScope / Pharmaceutical distribution">
            <a:extLst xmlns:a="http://schemas.openxmlformats.org/drawingml/2006/main">
              <a:ext uri="{FF2B5EF4-FFF2-40B4-BE49-F238E27FC236}">
                <a16:creationId xmlns:a16="http://schemas.microsoft.com/office/drawing/2014/main" id="{B55C0B5F-7204-4F2F-961A-18C300C4306E}"/>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RecallScope / Pharmaceutical distribution</a:t>
            </a:r>
          </a:p>
        </p:txBody>
      </p:sp>
      <p:sp>
        <p:nvSpPr>
          <p:cNvPr id="5" name="03">
            <a:extLst xmlns:a="http://schemas.openxmlformats.org/drawingml/2006/main">
              <a:ext uri="{FF2B5EF4-FFF2-40B4-BE49-F238E27FC236}">
                <a16:creationId xmlns:a16="http://schemas.microsoft.com/office/drawing/2014/main" id="{2CFDD41B-02D3-491F-9CCA-E77E88A7E476}"/>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03</a:t>
            </a:r>
          </a:p>
        </p:txBody>
      </p:sp>
    </p:spTree>
    <p:extLst>
      <p:ext uri="{BB962C8B-B14F-4D97-AF65-F5344CB8AC3E}">
        <p14:creationId xmlns:p14="http://schemas.microsoft.com/office/powerpoint/2010/main" val="767184626"/>
      </p:ext>
    </p:extLst>
  </p:cSld>
</p:sld>
</file>

<file path=ppt/slides/slide4.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11" name="Document review without an API key">
            <a:extLst xmlns:a="http://schemas.openxmlformats.org/drawingml/2006/main">
              <a:ext uri="{FF2B5EF4-FFF2-40B4-BE49-F238E27FC236}">
                <a16:creationId xmlns:a16="http://schemas.microsoft.com/office/drawing/2014/main" id="{867DBE81-0699-402D-B245-F5649485BC05}"/>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Document review without an API key</a:t>
            </a:r>
          </a:p>
        </p:txBody>
      </p:sp>
      <p:sp>
        <p:nvSpPr>
          <p:cNvPr id="2" name="Guided examples">
            <a:extLst xmlns:a="http://schemas.openxmlformats.org/drawingml/2006/main">
              <a:ext uri="{FF2B5EF4-FFF2-40B4-BE49-F238E27FC236}">
                <a16:creationId xmlns:a16="http://schemas.microsoft.com/office/drawing/2014/main" id="{E4EF15F2-CEE3-4D80-8BA9-CC9B8A2A3A00}"/>
              </a:ext>
            </a:extLst>
          </p:cNvPr>
          <p:cNvSpPr>
            <a:spLocks xmlns:a="http://schemas.openxmlformats.org/drawingml/2006/main" noGrp="1"/>
          </p:cNvSpPr>
          <p:nvPr/>
        </p:nvSpPr>
        <p:spPr>
          <a:xfrm xmlns:a="http://schemas.openxmlformats.org/drawingml/2006/main">
            <a:off x="590550" y="15144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1">
                <a:solidFill>
                  <a:srgbClr val="17645B"/>
                </a:solidFill>
                <a:latin typeface="Arial"/>
                <a:ea typeface="Arial"/>
                <a:cs typeface="Arial"/>
              </a:defRPr>
            </a:defPPr>
          </a:lstStyle>
          <a:p xmlns:a="http://schemas.openxmlformats.org/drawingml/2006/main">
            <a:pPr algn="l">
              <a:defRPr sz="2100" b="1">
                <a:solidFill>
                  <a:srgbClr val="17645B"/>
                </a:solidFill>
                <a:latin typeface="Arial"/>
                <a:ea typeface="Arial"/>
                <a:cs typeface="Arial"/>
              </a:defRPr>
            </a:pPr>
            <a:r>
              <a:rPr sz="2100" b="1">
                <a:solidFill>
                  <a:srgbClr val="17645B"/>
                </a:solidFill>
                <a:latin typeface="Arial"/>
                <a:ea typeface="Arial"/>
                <a:cs typeface="Arial"/>
              </a:rPr>
              <a:t>Guided examples</a:t>
            </a:r>
          </a:p>
        </p:txBody>
      </p:sp>
      <p:sp>
        <p:nvSpPr>
          <p:cNvPr id="3" name="Pre-filled records demonstrate the review and po">
            <a:extLst xmlns:a="http://schemas.openxmlformats.org/drawingml/2006/main">
              <a:ext uri="{FF2B5EF4-FFF2-40B4-BE49-F238E27FC236}">
                <a16:creationId xmlns:a16="http://schemas.microsoft.com/office/drawing/2014/main" id="{828B2760-52E9-4309-96B3-3E5EA7C715E8}"/>
              </a:ext>
            </a:extLst>
          </p:cNvPr>
          <p:cNvSpPr>
            <a:spLocks xmlns:a="http://schemas.openxmlformats.org/drawingml/2006/main" noGrp="1"/>
          </p:cNvSpPr>
          <p:nvPr/>
        </p:nvSpPr>
        <p:spPr>
          <a:xfrm xmlns:a="http://schemas.openxmlformats.org/drawingml/2006/main">
            <a:off x="590550" y="1981200"/>
            <a:ext cx="4095750" cy="962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0">
                <a:solidFill>
                  <a:srgbClr val="203333"/>
                </a:solidFill>
                <a:latin typeface="Arial"/>
                <a:ea typeface="Arial"/>
                <a:cs typeface="Arial"/>
              </a:defRPr>
            </a:defPPr>
          </a:lstStyle>
          <a:p xmlns:a="http://schemas.openxmlformats.org/drawingml/2006/main">
            <a:pPr algn="l">
              <a:defRPr sz="1800" b="0">
                <a:solidFill>
                  <a:srgbClr val="203333"/>
                </a:solidFill>
                <a:latin typeface="Arial"/>
                <a:ea typeface="Arial"/>
                <a:cs typeface="Arial"/>
              </a:defRPr>
            </a:pPr>
            <a:r>
              <a:rPr sz="1800" b="0">
                <a:solidFill>
                  <a:srgbClr val="203333"/>
                </a:solidFill>
                <a:latin typeface="Arial"/>
                <a:ea typeface="Arial"/>
                <a:cs typeface="Arial"/>
              </a:rPr>
              <a:t>Pre-filled records demonstrate the review and posting workflow. No AI request occurs.</a:t>
            </a:r>
          </a:p>
        </p:txBody>
      </p:sp>
      <p:sp>
        <p:nvSpPr>
          <p:cNvPr id="4" name="Structured CSV">
            <a:extLst xmlns:a="http://schemas.openxmlformats.org/drawingml/2006/main">
              <a:ext uri="{FF2B5EF4-FFF2-40B4-BE49-F238E27FC236}">
                <a16:creationId xmlns:a16="http://schemas.microsoft.com/office/drawing/2014/main" id="{7B227DF2-B38C-4A63-AFFE-0723423200CE}"/>
              </a:ext>
            </a:extLst>
          </p:cNvPr>
          <p:cNvSpPr>
            <a:spLocks xmlns:a="http://schemas.openxmlformats.org/drawingml/2006/main" noGrp="1"/>
          </p:cNvSpPr>
          <p:nvPr/>
        </p:nvSpPr>
        <p:spPr>
          <a:xfrm xmlns:a="http://schemas.openxmlformats.org/drawingml/2006/main">
            <a:off x="590550" y="3257550"/>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1">
                <a:solidFill>
                  <a:srgbClr val="17645B"/>
                </a:solidFill>
                <a:latin typeface="Arial"/>
                <a:ea typeface="Arial"/>
                <a:cs typeface="Arial"/>
              </a:defRPr>
            </a:defPPr>
          </a:lstStyle>
          <a:p xmlns:a="http://schemas.openxmlformats.org/drawingml/2006/main">
            <a:pPr algn="l">
              <a:defRPr sz="2100" b="1">
                <a:solidFill>
                  <a:srgbClr val="17645B"/>
                </a:solidFill>
                <a:latin typeface="Arial"/>
                <a:ea typeface="Arial"/>
                <a:cs typeface="Arial"/>
              </a:defRPr>
            </a:pPr>
            <a:r>
              <a:rPr sz="2100" b="1">
                <a:solidFill>
                  <a:srgbClr val="17645B"/>
                </a:solidFill>
                <a:latin typeface="Arial"/>
                <a:ea typeface="Arial"/>
                <a:cs typeface="Arial"/>
              </a:rPr>
              <a:t>Structured CSV</a:t>
            </a:r>
          </a:p>
        </p:txBody>
      </p:sp>
      <p:sp>
        <p:nvSpPr>
          <p:cNvPr id="5" name="Map source columns, correct fields and approve a">
            <a:extLst xmlns:a="http://schemas.openxmlformats.org/drawingml/2006/main">
              <a:ext uri="{FF2B5EF4-FFF2-40B4-BE49-F238E27FC236}">
                <a16:creationId xmlns:a16="http://schemas.microsoft.com/office/drawing/2014/main" id="{E7EE59C9-AB41-4C9B-B8B7-8CD5E0D7BCB7}"/>
              </a:ext>
            </a:extLst>
          </p:cNvPr>
          <p:cNvSpPr>
            <a:spLocks xmlns:a="http://schemas.openxmlformats.org/drawingml/2006/main" noGrp="1"/>
          </p:cNvSpPr>
          <p:nvPr/>
        </p:nvSpPr>
        <p:spPr>
          <a:xfrm xmlns:a="http://schemas.openxmlformats.org/drawingml/2006/main">
            <a:off x="590550" y="3724275"/>
            <a:ext cx="4095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0">
                <a:solidFill>
                  <a:srgbClr val="203333"/>
                </a:solidFill>
                <a:latin typeface="Arial"/>
                <a:ea typeface="Arial"/>
                <a:cs typeface="Arial"/>
              </a:defRPr>
            </a:defPPr>
          </a:lstStyle>
          <a:p xmlns:a="http://schemas.openxmlformats.org/drawingml/2006/main">
            <a:pPr algn="l">
              <a:defRPr sz="1800" b="0">
                <a:solidFill>
                  <a:srgbClr val="203333"/>
                </a:solidFill>
                <a:latin typeface="Arial"/>
                <a:ea typeface="Arial"/>
                <a:cs typeface="Arial"/>
              </a:defRPr>
            </a:pPr>
            <a:r>
              <a:rPr sz="1800" b="0">
                <a:solidFill>
                  <a:srgbClr val="203333"/>
                </a:solidFill>
                <a:latin typeface="Arial"/>
                <a:ea typeface="Arial"/>
                <a:cs typeface="Arial"/>
              </a:rPr>
              <a:t>Map source columns, correct fields and approve an atomic import.</a:t>
            </a:r>
          </a:p>
        </p:txBody>
      </p:sp>
      <p:sp>
        <p:nvSpPr>
          <p:cNvPr id="6" name="Optional live AI">
            <a:extLst xmlns:a="http://schemas.openxmlformats.org/drawingml/2006/main">
              <a:ext uri="{FF2B5EF4-FFF2-40B4-BE49-F238E27FC236}">
                <a16:creationId xmlns:a16="http://schemas.microsoft.com/office/drawing/2014/main" id="{93D90571-62F9-4B99-92A9-847F33134E03}"/>
              </a:ext>
            </a:extLst>
          </p:cNvPr>
          <p:cNvSpPr>
            <a:spLocks xmlns:a="http://schemas.openxmlformats.org/drawingml/2006/main" noGrp="1"/>
          </p:cNvSpPr>
          <p:nvPr/>
        </p:nvSpPr>
        <p:spPr>
          <a:xfrm xmlns:a="http://schemas.openxmlformats.org/drawingml/2006/main">
            <a:off x="590550" y="4867275"/>
            <a:ext cx="4095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1">
                <a:solidFill>
                  <a:srgbClr val="17645B"/>
                </a:solidFill>
                <a:latin typeface="Arial"/>
                <a:ea typeface="Arial"/>
                <a:cs typeface="Arial"/>
              </a:defRPr>
            </a:defPPr>
          </a:lstStyle>
          <a:p xmlns:a="http://schemas.openxmlformats.org/drawingml/2006/main">
            <a:pPr algn="l">
              <a:defRPr sz="2100" b="1">
                <a:solidFill>
                  <a:srgbClr val="17645B"/>
                </a:solidFill>
                <a:latin typeface="Arial"/>
                <a:ea typeface="Arial"/>
                <a:cs typeface="Arial"/>
              </a:defRPr>
            </a:pPr>
            <a:r>
              <a:rPr sz="2100" b="1">
                <a:solidFill>
                  <a:srgbClr val="17645B"/>
                </a:solidFill>
                <a:latin typeface="Arial"/>
                <a:ea typeface="Arial"/>
                <a:cs typeface="Arial"/>
              </a:rPr>
              <a:t>Optional live AI</a:t>
            </a:r>
          </a:p>
        </p:txBody>
      </p:sp>
      <p:sp>
        <p:nvSpPr>
          <p:cNvPr id="7" name="Fireworks or OpenAI proposes records for review.">
            <a:extLst xmlns:a="http://schemas.openxmlformats.org/drawingml/2006/main">
              <a:ext uri="{FF2B5EF4-FFF2-40B4-BE49-F238E27FC236}">
                <a16:creationId xmlns:a16="http://schemas.microsoft.com/office/drawing/2014/main" id="{152A7F53-7FFC-4F72-B635-C46017BE770E}"/>
              </a:ext>
            </a:extLst>
          </p:cNvPr>
          <p:cNvSpPr>
            <a:spLocks xmlns:a="http://schemas.openxmlformats.org/drawingml/2006/main" noGrp="1"/>
          </p:cNvSpPr>
          <p:nvPr/>
        </p:nvSpPr>
        <p:spPr>
          <a:xfrm xmlns:a="http://schemas.openxmlformats.org/drawingml/2006/main">
            <a:off x="590550" y="5334000"/>
            <a:ext cx="4095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0">
                <a:solidFill>
                  <a:srgbClr val="203333"/>
                </a:solidFill>
                <a:latin typeface="Arial"/>
                <a:ea typeface="Arial"/>
                <a:cs typeface="Arial"/>
              </a:defRPr>
            </a:defPPr>
          </a:lstStyle>
          <a:p xmlns:a="http://schemas.openxmlformats.org/drawingml/2006/main">
            <a:pPr algn="l">
              <a:defRPr sz="1800" b="0">
                <a:solidFill>
                  <a:srgbClr val="203333"/>
                </a:solidFill>
                <a:latin typeface="Arial"/>
                <a:ea typeface="Arial"/>
                <a:cs typeface="Arial"/>
              </a:defRPr>
            </a:pPr>
            <a:r>
              <a:rPr sz="1800" b="0">
                <a:solidFill>
                  <a:srgbClr val="203333"/>
                </a:solidFill>
                <a:latin typeface="Arial"/>
                <a:ea typeface="Arial"/>
                <a:cs typeface="Arial"/>
              </a:rPr>
              <a:t>Fireworks or OpenAI proposes records for review. Keys stay on the server.</a:t>
            </a:r>
          </a:p>
        </p:txBody>
      </p:sp>
      <p:pic>
        <p:nvPicPr>
          <p:cNvPr id="8" name="">
            <a:extLst xmlns:a="http://schemas.openxmlformats.org/drawingml/2006/main">
              <a:ext uri="{FF2B5EF4-FFF2-40B4-BE49-F238E27FC236}">
                <a16:creationId xmlns:a16="http://schemas.microsoft.com/office/drawing/2014/main" id="{3F13A08A-AA72-4C57-9705-1040F985CCAB}"/>
              </a:ext>
            </a:extLst>
          </p:cNvPr>
          <p:cNvPicPr>
            <a:picLocks xmlns:a="http://schemas.openxmlformats.org/drawingml/2006/main" noChangeAspect="1"/>
          </p:cNvPicPr>
          <p:nvPr/>
        </p:nvPicPr>
        <p:blipFill>
          <a:blip xmlns:r="http://schemas.openxmlformats.org/officeDocument/2006/relationships" xmlns:a="http://schemas.openxmlformats.org/drawingml/2006/main" r:embed="Rd7e0186b24584106"/>
          <a:srcRect xmlns:a="http://schemas.openxmlformats.org/drawingml/2006/main" l="15300" t="5000" r="15300" b="5000"/>
          <a:stretch xmlns:a="http://schemas.openxmlformats.org/drawingml/2006/main"/>
        </p:blipFill>
        <p:spPr>
          <a:xfrm xmlns:a="http://schemas.openxmlformats.org/drawingml/2006/main">
            <a:off x="5513155" y="1476375"/>
            <a:ext cx="5699591" cy="4619625"/>
          </a:xfrm>
          <a:prstGeom xmlns:a="http://schemas.openxmlformats.org/drawingml/2006/main" prst="rect">
            <a:avLst/>
          </a:prstGeom>
        </p:spPr>
      </p:pic>
      <p:sp>
        <p:nvSpPr>
          <p:cNvPr id="9" name="RecallScope / Pharmaceutical distribution">
            <a:extLst xmlns:a="http://schemas.openxmlformats.org/drawingml/2006/main">
              <a:ext uri="{FF2B5EF4-FFF2-40B4-BE49-F238E27FC236}">
                <a16:creationId xmlns:a16="http://schemas.microsoft.com/office/drawing/2014/main" id="{ABBF809C-E0E8-48A7-83DD-D30C2E6C0B31}"/>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RecallScope / Pharmaceutical distribution</a:t>
            </a:r>
          </a:p>
        </p:txBody>
      </p:sp>
      <p:sp>
        <p:nvSpPr>
          <p:cNvPr id="10" name="04">
            <a:extLst xmlns:a="http://schemas.openxmlformats.org/drawingml/2006/main">
              <a:ext uri="{FF2B5EF4-FFF2-40B4-BE49-F238E27FC236}">
                <a16:creationId xmlns:a16="http://schemas.microsoft.com/office/drawing/2014/main" id="{6AFADAA1-9F3E-4DFC-9CAE-0567B949AD1C}"/>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04</a:t>
            </a:r>
          </a:p>
        </p:txBody>
      </p:sp>
    </p:spTree>
    <p:extLst>
      <p:ext uri="{BB962C8B-B14F-4D97-AF65-F5344CB8AC3E}">
        <p14:creationId xmlns:p14="http://schemas.microsoft.com/office/powerpoint/2010/main" val="1093693294"/>
      </p:ext>
    </p:extLst>
  </p:cSld>
</p:sld>
</file>

<file path=ppt/slides/slide5.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7" name="One recall, reconciled">
            <a:extLst xmlns:a="http://schemas.openxmlformats.org/drawingml/2006/main">
              <a:ext uri="{FF2B5EF4-FFF2-40B4-BE49-F238E27FC236}">
                <a16:creationId xmlns:a16="http://schemas.microsoft.com/office/drawing/2014/main" id="{E43FC157-0CBB-4B91-A1CB-DAA705EE245A}"/>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One recall, reconciled</a:t>
            </a:r>
          </a:p>
        </p:txBody>
      </p:sp>
      <p:sp>
        <p:nvSpPr>
          <p:cNvPr id="2" name="1,000 boxes received. 600 boxes dispatched to fo">
            <a:extLst xmlns:a="http://schemas.openxmlformats.org/drawingml/2006/main">
              <a:ext uri="{FF2B5EF4-FFF2-40B4-BE49-F238E27FC236}">
                <a16:creationId xmlns:a16="http://schemas.microsoft.com/office/drawing/2014/main" id="{FCD1FA1F-D1CA-438F-8E2A-717DD51CB1E2}"/>
              </a:ext>
            </a:extLst>
          </p:cNvPr>
          <p:cNvSpPr>
            <a:spLocks xmlns:a="http://schemas.openxmlformats.org/drawingml/2006/main" noGrp="1"/>
          </p:cNvSpPr>
          <p:nvPr/>
        </p:nvSpPr>
        <p:spPr>
          <a:xfrm xmlns:a="http://schemas.openxmlformats.org/drawingml/2006/main">
            <a:off x="590550" y="1343025"/>
            <a:ext cx="10906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0">
                <a:solidFill>
                  <a:srgbClr val="203333"/>
                </a:solidFill>
                <a:latin typeface="Arial"/>
                <a:ea typeface="Arial"/>
                <a:cs typeface="Arial"/>
              </a:defRPr>
            </a:defPPr>
          </a:lstStyle>
          <a:p xmlns:a="http://schemas.openxmlformats.org/drawingml/2006/main">
            <a:pPr algn="l">
              <a:defRPr sz="2100" b="0">
                <a:solidFill>
                  <a:srgbClr val="203333"/>
                </a:solidFill>
                <a:latin typeface="Arial"/>
                <a:ea typeface="Arial"/>
                <a:cs typeface="Arial"/>
              </a:defRPr>
            </a:pPr>
            <a:r>
              <a:rPr sz="2100" b="0">
                <a:solidFill>
                  <a:srgbClr val="203333"/>
                </a:solidFill>
                <a:latin typeface="Arial"/>
                <a:ea typeface="Arial"/>
                <a:cs typeface="Arial"/>
              </a:rPr>
              <a:t>1,000 boxes received. 600 boxes dispatched to four recipient sites.</a:t>
            </a:r>
          </a:p>
        </p:txBody>
      </p:sp>
      <p:graphicFrame>
        <p:nvGraphicFramePr>
          <p:cNvPr id="3" name="">
            <a:extLst xmlns:a="http://schemas.openxmlformats.org/drawingml/2006/main">
              <a:ext uri="{FF2B5EF4-FFF2-40B4-BE49-F238E27FC236}">
                <a16:creationId xmlns:a16="http://schemas.microsoft.com/office/drawing/2014/main" id="{9BAE9FC6-A5D7-4B66-B8D3-F2E5EBA80B1A}"/>
              </a:ext>
            </a:extLst>
          </p:cNvPr>
          <p:cNvGraphicFramePr/>
          <p:nvPr/>
        </p:nvGraphicFramePr>
        <p:xfrm>
          <a:off xmlns:a="http://schemas.openxmlformats.org/drawingml/2006/main" x="590550" y="2314575"/>
          <a:ext xmlns:a="http://schemas.openxmlformats.org/drawingml/2006/main" cx="11010900" cy="2686050"/>
        </p:xfrm>
        <a:graphic xmlns:a="http://schemas.openxmlformats.org/drawingml/2006/main">
          <a:graphicData uri="http://schemas.openxmlformats.org/drawingml/2006/table">
            <a:tbl>
              <a:tblPr firstRow="1" bandRow="0"/>
              <a:tblGrid>
                <a:gridCol w="4095750"/>
                <a:gridCol w="2305050"/>
                <a:gridCol w="2305050"/>
                <a:gridCol w="2305050"/>
              </a:tblGrid>
              <a:tr h="671513">
                <a:tc>
                  <a:txBody>
                    <a:bodyPr>
                      <a:noAutofit/>
                    </a:bodyPr>
                    <a:lstStyle/>
                    <a:p>
                      <a:r>
                        <a:rPr sz="1800" b="1">
                          <a:solidFill>
                            <a:srgbClr val="FFFFFF"/>
                          </a:solidFill>
                          <a:latin typeface="Arial"/>
                          <a:ea typeface="Arial"/>
                          <a:cs typeface="Arial"/>
                        </a:rPr>
                        <a:t>Recorded measure</a:t>
                      </a:r>
                    </a:p>
                  </a:txBody>
                  <a:tcPr marL="91440" marR="91440" marT="45720" marB="45720">
                    <a:solidFill>
                      <a:srgbClr val="1E3535"/>
                    </a:solidFill>
                  </a:tcPr>
                </a:tc>
                <a:tc>
                  <a:txBody>
                    <a:bodyPr>
                      <a:noAutofit/>
                    </a:bodyPr>
                    <a:lstStyle/>
                    <a:p>
                      <a:r>
                        <a:rPr sz="1800" b="1">
                          <a:solidFill>
                            <a:srgbClr val="FFFFFF"/>
                          </a:solidFill>
                          <a:latin typeface="Arial"/>
                          <a:ea typeface="Arial"/>
                          <a:cs typeface="Arial"/>
                        </a:rPr>
                        <a:t>Before returns</a:t>
                      </a:r>
                    </a:p>
                  </a:txBody>
                  <a:tcPr marL="91440" marR="91440" marT="45720" marB="45720">
                    <a:solidFill>
                      <a:srgbClr val="1E3535"/>
                    </a:solidFill>
                  </a:tcPr>
                </a:tc>
                <a:tc>
                  <a:txBody>
                    <a:bodyPr>
                      <a:noAutofit/>
                    </a:bodyPr>
                    <a:lstStyle/>
                    <a:p>
                      <a:r>
                        <a:rPr sz="1800" b="1">
                          <a:solidFill>
                            <a:srgbClr val="FFFFFF"/>
                          </a:solidFill>
                          <a:latin typeface="Arial"/>
                          <a:ea typeface="Arial"/>
                          <a:cs typeface="Arial"/>
                        </a:rPr>
                        <a:t>Partial returns</a:t>
                      </a:r>
                    </a:p>
                  </a:txBody>
                  <a:tcPr marL="91440" marR="91440" marT="45720" marB="45720">
                    <a:solidFill>
                      <a:srgbClr val="1E3535"/>
                    </a:solidFill>
                  </a:tcPr>
                </a:tc>
                <a:tc>
                  <a:txBody>
                    <a:bodyPr>
                      <a:noAutofit/>
                    </a:bodyPr>
                    <a:lstStyle/>
                    <a:p>
                      <a:r>
                        <a:rPr sz="1800" b="1">
                          <a:solidFill>
                            <a:srgbClr val="FFFFFF"/>
                          </a:solidFill>
                          <a:latin typeface="Arial"/>
                          <a:ea typeface="Arial"/>
                          <a:cs typeface="Arial"/>
                        </a:rPr>
                        <a:t>All returned</a:t>
                      </a:r>
                    </a:p>
                  </a:txBody>
                  <a:tcPr marL="91440" marR="91440" marT="45720" marB="45720">
                    <a:solidFill>
                      <a:srgbClr val="1E3535"/>
                    </a:solidFill>
                  </a:tcPr>
                </a:tc>
              </a:tr>
              <a:tr h="671513">
                <a:tc>
                  <a:txBody>
                    <a:bodyPr>
                      <a:noAutofit/>
                    </a:bodyPr>
                    <a:lstStyle/>
                    <a:p>
                      <a:r>
                        <a:rPr sz="1800" b="1">
                          <a:solidFill>
                            <a:srgbClr val="203333"/>
                          </a:solidFill>
                          <a:latin typeface="Arial"/>
                          <a:ea typeface="Arial"/>
                          <a:cs typeface="Arial"/>
                        </a:rPr>
                        <a:t>Customer returns</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100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600</a:t>
                      </a:r>
                    </a:p>
                  </a:txBody>
                  <a:tcPr marL="91440" marR="91440" marT="45720" marB="45720">
                    <a:solidFill>
                      <a:srgbClr val="FFFFFF"/>
                    </a:solidFill>
                  </a:tcPr>
                </a:tc>
              </a:tr>
              <a:tr h="671513">
                <a:tc>
                  <a:txBody>
                    <a:bodyPr>
                      <a:noAutofit/>
                    </a:bodyPr>
                    <a:lstStyle/>
                    <a:p>
                      <a:r>
                        <a:rPr sz="1800" b="1">
                          <a:solidFill>
                            <a:srgbClr val="203333"/>
                          </a:solidFill>
                          <a:latin typeface="Arial"/>
                          <a:ea typeface="Arial"/>
                          <a:cs typeface="Arial"/>
                        </a:rPr>
                        <a:t>Stock on hand</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400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500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1,000</a:t>
                      </a:r>
                    </a:p>
                  </a:txBody>
                  <a:tcPr marL="91440" marR="91440" marT="45720" marB="45720">
                    <a:solidFill>
                      <a:srgbClr val="FFFFFF"/>
                    </a:solidFill>
                  </a:tcPr>
                </a:tc>
              </a:tr>
              <a:tr h="671513">
                <a:tc>
                  <a:txBody>
                    <a:bodyPr>
                      <a:noAutofit/>
                    </a:bodyPr>
                    <a:lstStyle/>
                    <a:p>
                      <a:r>
                        <a:rPr sz="1800" b="1">
                          <a:solidFill>
                            <a:srgbClr val="203333"/>
                          </a:solidFill>
                          <a:latin typeface="Arial"/>
                          <a:ea typeface="Arial"/>
                          <a:cs typeface="Arial"/>
                        </a:rPr>
                        <a:t>Outstanding shipment accounting</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600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500</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0</a:t>
                      </a:r>
                    </a:p>
                  </a:txBody>
                  <a:tcPr marL="91440" marR="91440" marT="45720" marB="45720">
                    <a:solidFill>
                      <a:srgbClr val="FFFFFF"/>
                    </a:solidFill>
                  </a:tcPr>
                </a:tc>
              </a:tr>
            </a:tbl>
          </a:graphicData>
        </a:graphic>
      </p:graphicFrame>
      <p:sp>
        <p:nvSpPr>
          <p:cNvPr id="4" name="All quantities are boxes of one product and batc">
            <a:extLst xmlns:a="http://schemas.openxmlformats.org/drawingml/2006/main">
              <a:ext uri="{FF2B5EF4-FFF2-40B4-BE49-F238E27FC236}">
                <a16:creationId xmlns:a16="http://schemas.microsoft.com/office/drawing/2014/main" id="{C3D94D96-5B4D-49F2-BE4D-2C8C99D239F7}"/>
              </a:ext>
            </a:extLst>
          </p:cNvPr>
          <p:cNvSpPr>
            <a:spLocks xmlns:a="http://schemas.openxmlformats.org/drawingml/2006/main" noGrp="1"/>
          </p:cNvSpPr>
          <p:nvPr/>
        </p:nvSpPr>
        <p:spPr>
          <a:xfrm xmlns:a="http://schemas.openxmlformats.org/drawingml/2006/main">
            <a:off x="590550" y="5238750"/>
            <a:ext cx="10953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800" b="0">
                <a:solidFill>
                  <a:srgbClr val="65766F"/>
                </a:solidFill>
                <a:latin typeface="Arial"/>
                <a:ea typeface="Arial"/>
                <a:cs typeface="Arial"/>
              </a:defRPr>
            </a:defPPr>
          </a:lstStyle>
          <a:p xmlns:a="http://schemas.openxmlformats.org/drawingml/2006/main">
            <a:pPr algn="l">
              <a:defRPr sz="1800" b="0">
                <a:solidFill>
                  <a:srgbClr val="65766F"/>
                </a:solidFill>
                <a:latin typeface="Arial"/>
                <a:ea typeface="Arial"/>
                <a:cs typeface="Arial"/>
              </a:defRPr>
            </a:pPr>
            <a:r>
              <a:rPr sz="1800" b="0">
                <a:solidFill>
                  <a:srgbClr val="65766F"/>
                </a:solidFill>
                <a:latin typeface="Arial"/>
                <a:ea typeface="Arial"/>
                <a:cs typeface="Arial"/>
              </a:rPr>
              <a:t>All quantities are boxes of one product and batch. Returns enter quarantine and form part of on-hand stock.</a:t>
            </a:r>
          </a:p>
        </p:txBody>
      </p:sp>
      <p:sp>
        <p:nvSpPr>
          <p:cNvPr id="5" name="Authored example with exact expected totals">
            <a:extLst xmlns:a="http://schemas.openxmlformats.org/drawingml/2006/main">
              <a:ext uri="{FF2B5EF4-FFF2-40B4-BE49-F238E27FC236}">
                <a16:creationId xmlns:a16="http://schemas.microsoft.com/office/drawing/2014/main" id="{AA14593F-D2A2-4B1F-A6FE-87AE7544E7CF}"/>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Authored example with exact expected totals</a:t>
            </a:r>
          </a:p>
        </p:txBody>
      </p:sp>
      <p:sp>
        <p:nvSpPr>
          <p:cNvPr id="6" name="05">
            <a:extLst xmlns:a="http://schemas.openxmlformats.org/drawingml/2006/main">
              <a:ext uri="{FF2B5EF4-FFF2-40B4-BE49-F238E27FC236}">
                <a16:creationId xmlns:a16="http://schemas.microsoft.com/office/drawing/2014/main" id="{835FECB7-7188-48BE-9887-CE563BE4CE39}"/>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05</a:t>
            </a:r>
          </a:p>
        </p:txBody>
      </p:sp>
    </p:spTree>
    <p:extLst>
      <p:ext uri="{BB962C8B-B14F-4D97-AF65-F5344CB8AC3E}">
        <p14:creationId xmlns:p14="http://schemas.microsoft.com/office/powerpoint/2010/main" val="2084196896"/>
      </p:ext>
    </p:extLst>
  </p:cSld>
</p:sld>
</file>

<file path=ppt/slides/slide6.xml><?xml version="1.0" encoding="utf-8"?>
<p:sld xmlns:p="http://schemas.openxmlformats.org/presentationml/2006/main">
  <p:cSld>
    <p:bg>
      <p:bgPr>
        <a:solidFill xmlns:a="http://schemas.openxmlformats.org/drawingml/2006/main">
          <a:srgbClr val="1E3535"/>
        </a:solidFill>
      </p:bgPr>
    </p:bg>
    <p:spTree>
      <p:nvGrpSpPr>
        <p:cNvPr id="1" name=""/>
        <p:cNvGrpSpPr/>
        <p:nvPr/>
      </p:nvGrpSpPr>
      <p:grpSpPr>
        <a:xfrm xmlns:a="http://schemas.openxmlformats.org/drawingml/2006/main"/>
      </p:grpSpPr>
      <p:sp>
        <p:nvSpPr>
          <p:cNvPr id="6" name="Rules behind each posted record">
            <a:extLst xmlns:a="http://schemas.openxmlformats.org/drawingml/2006/main">
              <a:ext uri="{FF2B5EF4-FFF2-40B4-BE49-F238E27FC236}">
                <a16:creationId xmlns:a16="http://schemas.microsoft.com/office/drawing/2014/main" id="{C43972F8-2192-4D35-9A28-8930062ABF28}"/>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FFFFFF"/>
                </a:solidFill>
                <a:latin typeface="Arial"/>
                <a:ea typeface="Arial"/>
                <a:cs typeface="Arial"/>
              </a:defRPr>
            </a:defPPr>
          </a:lstStyle>
          <a:p xmlns:a="http://schemas.openxmlformats.org/drawingml/2006/main">
            <a:pPr algn="l">
              <a:defRPr sz="3300" b="1">
                <a:solidFill>
                  <a:srgbClr val="FFFFFF"/>
                </a:solidFill>
                <a:latin typeface="Arial"/>
                <a:ea typeface="Arial"/>
                <a:cs typeface="Arial"/>
              </a:defRPr>
            </a:pPr>
            <a:r>
              <a:rPr sz="3300" b="1">
                <a:solidFill>
                  <a:srgbClr val="FFFFFF"/>
                </a:solidFill>
                <a:latin typeface="Arial"/>
                <a:ea typeface="Arial"/>
                <a:cs typeface="Arial"/>
              </a:rPr>
              <a:t>Rules behind each posted record</a:t>
            </a:r>
          </a:p>
        </p:txBody>
      </p:sp>
      <p:sp>
        <p:nvSpPr>
          <p:cNvPr id="2" name="AI proposes. Deterministic checks and an explici">
            <a:extLst xmlns:a="http://schemas.openxmlformats.org/drawingml/2006/main">
              <a:ext uri="{FF2B5EF4-FFF2-40B4-BE49-F238E27FC236}">
                <a16:creationId xmlns:a16="http://schemas.microsoft.com/office/drawing/2014/main" id="{F4F94447-26F1-4811-97E7-E5269CC9992E}"/>
              </a:ext>
            </a:extLst>
          </p:cNvPr>
          <p:cNvSpPr>
            <a:spLocks xmlns:a="http://schemas.openxmlformats.org/drawingml/2006/main" noGrp="1"/>
          </p:cNvSpPr>
          <p:nvPr/>
        </p:nvSpPr>
        <p:spPr>
          <a:xfrm xmlns:a="http://schemas.openxmlformats.org/drawingml/2006/main">
            <a:off x="590550" y="1333500"/>
            <a:ext cx="10668000" cy="676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75" b="0">
                <a:solidFill>
                  <a:srgbClr val="D7E7D5"/>
                </a:solidFill>
                <a:latin typeface="Arial"/>
                <a:ea typeface="Arial"/>
                <a:cs typeface="Arial"/>
              </a:defRPr>
            </a:defPPr>
          </a:lstStyle>
          <a:p xmlns:a="http://schemas.openxmlformats.org/drawingml/2006/main">
            <a:pPr algn="l">
              <a:defRPr sz="2175" b="0">
                <a:solidFill>
                  <a:srgbClr val="D7E7D5"/>
                </a:solidFill>
                <a:latin typeface="Arial"/>
                <a:ea typeface="Arial"/>
                <a:cs typeface="Arial"/>
              </a:defRPr>
            </a:pPr>
            <a:r>
              <a:rPr sz="2175" b="0">
                <a:solidFill>
                  <a:srgbClr val="D7E7D5"/>
                </a:solidFill>
                <a:latin typeface="Arial"/>
                <a:ea typeface="Arial"/>
                <a:cs typeface="Arial"/>
              </a:rPr>
              <a:t>AI proposes. Deterministic checks and an explicit operator decision govern posting.</a:t>
            </a:r>
          </a:p>
        </p:txBody>
      </p:sp>
      <p:graphicFrame>
        <p:nvGraphicFramePr>
          <p:cNvPr id="3" name="">
            <a:extLst xmlns:a="http://schemas.openxmlformats.org/drawingml/2006/main">
              <a:ext uri="{FF2B5EF4-FFF2-40B4-BE49-F238E27FC236}">
                <a16:creationId xmlns:a16="http://schemas.microsoft.com/office/drawing/2014/main" id="{C4730B13-704F-4395-BB63-A012A83C7230}"/>
              </a:ext>
            </a:extLst>
          </p:cNvPr>
          <p:cNvGraphicFramePr/>
          <p:nvPr/>
        </p:nvGraphicFramePr>
        <p:xfrm>
          <a:off xmlns:a="http://schemas.openxmlformats.org/drawingml/2006/main" x="590550" y="2324100"/>
          <a:ext xmlns:a="http://schemas.openxmlformats.org/drawingml/2006/main" cx="11010900" cy="3371850"/>
        </p:xfrm>
        <a:graphic xmlns:a="http://schemas.openxmlformats.org/drawingml/2006/main">
          <a:graphicData uri="http://schemas.openxmlformats.org/drawingml/2006/table">
            <a:tbl>
              <a:tblPr firstRow="1" bandRow="0"/>
              <a:tblGrid>
                <a:gridCol w="3562350"/>
                <a:gridCol w="7448550"/>
              </a:tblGrid>
              <a:tr h="674370">
                <a:tc>
                  <a:txBody>
                    <a:bodyPr>
                      <a:noAutofit/>
                    </a:bodyPr>
                    <a:lstStyle/>
                    <a:p>
                      <a:r>
                        <a:rPr sz="1800" b="1">
                          <a:solidFill>
                            <a:srgbClr val="FFFFFF"/>
                          </a:solidFill>
                          <a:latin typeface="Arial"/>
                          <a:ea typeface="Arial"/>
                          <a:cs typeface="Arial"/>
                        </a:rPr>
                        <a:t>Decision boundary</a:t>
                      </a:r>
                    </a:p>
                  </a:txBody>
                  <a:tcPr marL="91440" marR="91440" marT="45720" marB="45720">
                    <a:solidFill>
                      <a:srgbClr val="1E3535"/>
                    </a:solidFill>
                  </a:tcPr>
                </a:tc>
                <a:tc>
                  <a:txBody>
                    <a:bodyPr>
                      <a:noAutofit/>
                    </a:bodyPr>
                    <a:lstStyle/>
                    <a:p>
                      <a:r>
                        <a:rPr sz="1800" b="1">
                          <a:solidFill>
                            <a:srgbClr val="FFFFFF"/>
                          </a:solidFill>
                          <a:latin typeface="Arial"/>
                          <a:ea typeface="Arial"/>
                          <a:cs typeface="Arial"/>
                        </a:rPr>
                        <a:t>Implemented behavior</a:t>
                      </a:r>
                    </a:p>
                  </a:txBody>
                  <a:tcPr marL="91440" marR="91440" marT="45720" marB="45720">
                    <a:solidFill>
                      <a:srgbClr val="1E3535"/>
                    </a:solidFill>
                  </a:tcPr>
                </a:tc>
              </a:tr>
              <a:tr h="674370">
                <a:tc>
                  <a:txBody>
                    <a:bodyPr>
                      <a:noAutofit/>
                    </a:bodyPr>
                    <a:lstStyle/>
                    <a:p>
                      <a:r>
                        <a:rPr sz="1800" b="1">
                          <a:solidFill>
                            <a:srgbClr val="203333"/>
                          </a:solidFill>
                          <a:latin typeface="Arial"/>
                          <a:ea typeface="Arial"/>
                          <a:cs typeface="Arial"/>
                        </a:rPr>
                        <a:t>Product and batch identity</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Equal batch codes on different products stay separate.</a:t>
                      </a:r>
                    </a:p>
                  </a:txBody>
                  <a:tcPr marL="91440" marR="91440" marT="45720" marB="45720">
                    <a:solidFill>
                      <a:srgbClr val="FFFFFF"/>
                    </a:solidFill>
                  </a:tcPr>
                </a:tc>
              </a:tr>
              <a:tr h="674370">
                <a:tc>
                  <a:txBody>
                    <a:bodyPr>
                      <a:noAutofit/>
                    </a:bodyPr>
                    <a:lstStyle/>
                    <a:p>
                      <a:r>
                        <a:rPr sz="1800" b="1">
                          <a:solidFill>
                            <a:srgbClr val="203333"/>
                          </a:solidFill>
                          <a:latin typeface="Arial"/>
                          <a:ea typeface="Arial"/>
                          <a:cs typeface="Arial"/>
                        </a:rPr>
                        <a:t>Inventory and unit accounting</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Transfers conserve stock. Returns cannot exceed delivered quantities.</a:t>
                      </a:r>
                    </a:p>
                  </a:txBody>
                  <a:tcPr marL="91440" marR="91440" marT="45720" marB="45720">
                    <a:solidFill>
                      <a:srgbClr val="FFFFFF"/>
                    </a:solidFill>
                  </a:tcPr>
                </a:tc>
              </a:tr>
              <a:tr h="674370">
                <a:tc>
                  <a:txBody>
                    <a:bodyPr>
                      <a:noAutofit/>
                    </a:bodyPr>
                    <a:lstStyle/>
                    <a:p>
                      <a:r>
                        <a:rPr sz="1800" b="1">
                          <a:solidFill>
                            <a:srgbClr val="203333"/>
                          </a:solidFill>
                          <a:latin typeface="Arial"/>
                          <a:ea typeface="Arial"/>
                          <a:cs typeface="Arial"/>
                        </a:rPr>
                        <a:t>Access and concurrent edits</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Server roles, workspace isolation and stale-write checks guard updates.</a:t>
                      </a:r>
                    </a:p>
                  </a:txBody>
                  <a:tcPr marL="91440" marR="91440" marT="45720" marB="45720">
                    <a:solidFill>
                      <a:srgbClr val="FFFFFF"/>
                    </a:solidFill>
                  </a:tcPr>
                </a:tc>
              </a:tr>
              <a:tr h="674370">
                <a:tc>
                  <a:txBody>
                    <a:bodyPr>
                      <a:noAutofit/>
                    </a:bodyPr>
                    <a:lstStyle/>
                    <a:p>
                      <a:r>
                        <a:rPr sz="1800" b="1">
                          <a:solidFill>
                            <a:srgbClr val="203333"/>
                          </a:solidFill>
                          <a:latin typeface="Arial"/>
                          <a:ea typeface="Arial"/>
                          <a:cs typeface="Arial"/>
                        </a:rPr>
                        <a:t>Evidence and serial custody</a:t>
                      </a:r>
                    </a:p>
                  </a:txBody>
                  <a:tcPr marL="91440" marR="91440" marT="45720" marB="45720">
                    <a:solidFill>
                      <a:srgbClr val="FFFFFF"/>
                    </a:solidFill>
                  </a:tcPr>
                </a:tc>
                <a:tc>
                  <a:txBody>
                    <a:bodyPr>
                      <a:noAutofit/>
                    </a:bodyPr>
                    <a:lstStyle/>
                    <a:p>
                      <a:r>
                        <a:rPr sz="1800" b="0">
                          <a:solidFill>
                            <a:srgbClr val="203333"/>
                          </a:solidFill>
                          <a:latin typeface="Arial"/>
                          <a:ea typeface="Arial"/>
                          <a:cs typeface="Arial"/>
                        </a:rPr>
                        <a:t>Source records, decision history and serialized unit positions stay inspectable.</a:t>
                      </a:r>
                    </a:p>
                  </a:txBody>
                  <a:tcPr marL="91440" marR="91440" marT="45720" marB="45720">
                    <a:solidFill>
                      <a:srgbClr val="FFFFFF"/>
                    </a:solidFill>
                  </a:tcPr>
                </a:tc>
              </a:tr>
            </a:tbl>
          </a:graphicData>
        </a:graphic>
      </p:graphicFrame>
      <p:sp>
        <p:nvSpPr>
          <p:cNvPr id="4" name="Software verification uses synthetic records and">
            <a:extLst xmlns:a="http://schemas.openxmlformats.org/drawingml/2006/main">
              <a:ext uri="{FF2B5EF4-FFF2-40B4-BE49-F238E27FC236}">
                <a16:creationId xmlns:a16="http://schemas.microsoft.com/office/drawing/2014/main" id="{C4D07538-7238-4A0D-90C8-8535F13F08A0}"/>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D7E7D5"/>
                </a:solidFill>
                <a:latin typeface="Arial"/>
                <a:ea typeface="Arial"/>
                <a:cs typeface="Arial"/>
              </a:defRPr>
            </a:defPPr>
          </a:lstStyle>
          <a:p xmlns:a="http://schemas.openxmlformats.org/drawingml/2006/main">
            <a:pPr algn="l">
              <a:defRPr sz="1200" b="0">
                <a:solidFill>
                  <a:srgbClr val="D7E7D5"/>
                </a:solidFill>
                <a:latin typeface="Arial"/>
                <a:ea typeface="Arial"/>
                <a:cs typeface="Arial"/>
              </a:defRPr>
            </a:pPr>
            <a:r>
              <a:rPr sz="1200" b="0">
                <a:solidFill>
                  <a:srgbClr val="D7E7D5"/>
                </a:solidFill>
                <a:latin typeface="Arial"/>
                <a:ea typeface="Arial"/>
                <a:cs typeface="Arial"/>
              </a:rPr>
              <a:t>Software verification uses synthetic records and reproducible checks</a:t>
            </a:r>
          </a:p>
        </p:txBody>
      </p:sp>
      <p:sp>
        <p:nvSpPr>
          <p:cNvPr id="5" name="06">
            <a:extLst xmlns:a="http://schemas.openxmlformats.org/drawingml/2006/main">
              <a:ext uri="{FF2B5EF4-FFF2-40B4-BE49-F238E27FC236}">
                <a16:creationId xmlns:a16="http://schemas.microsoft.com/office/drawing/2014/main" id="{A97195C4-15EC-49E1-BF44-879503CD73A4}"/>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D7E7D5"/>
                </a:solidFill>
                <a:latin typeface="Arial"/>
                <a:ea typeface="Arial"/>
                <a:cs typeface="Arial"/>
              </a:defRPr>
            </a:defPPr>
          </a:lstStyle>
          <a:p xmlns:a="http://schemas.openxmlformats.org/drawingml/2006/main">
            <a:pPr algn="l">
              <a:defRPr sz="1200" b="0">
                <a:solidFill>
                  <a:srgbClr val="D7E7D5"/>
                </a:solidFill>
                <a:latin typeface="Arial"/>
                <a:ea typeface="Arial"/>
                <a:cs typeface="Arial"/>
              </a:defRPr>
            </a:pPr>
            <a:r>
              <a:rPr sz="1200" b="0">
                <a:solidFill>
                  <a:srgbClr val="D7E7D5"/>
                </a:solidFill>
                <a:latin typeface="Arial"/>
                <a:ea typeface="Arial"/>
                <a:cs typeface="Arial"/>
              </a:rPr>
              <a:t>06</a:t>
            </a:r>
          </a:p>
        </p:txBody>
      </p:sp>
    </p:spTree>
    <p:extLst>
      <p:ext uri="{BB962C8B-B14F-4D97-AF65-F5344CB8AC3E}">
        <p14:creationId xmlns:p14="http://schemas.microsoft.com/office/powerpoint/2010/main" val="257842788"/>
      </p:ext>
    </p:extLst>
  </p:cSld>
</p:sld>
</file>

<file path=ppt/slides/slide7.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8" name="A focused entry into an established market">
            <a:extLst xmlns:a="http://schemas.openxmlformats.org/drawingml/2006/main">
              <a:ext uri="{FF2B5EF4-FFF2-40B4-BE49-F238E27FC236}">
                <a16:creationId xmlns:a16="http://schemas.microsoft.com/office/drawing/2014/main" id="{57AE2D67-AF8D-427F-9EE2-02EAFE1590BC}"/>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A focused entry into an established market</a:t>
            </a:r>
          </a:p>
        </p:txBody>
      </p:sp>
      <p:graphicFrame>
        <p:nvGraphicFramePr>
          <p:cNvPr id="2" name="">
            <a:extLst xmlns:a="http://schemas.openxmlformats.org/drawingml/2006/main">
              <a:ext uri="{FF2B5EF4-FFF2-40B4-BE49-F238E27FC236}">
                <a16:creationId xmlns:a16="http://schemas.microsoft.com/office/drawing/2014/main" id="{29F89FAA-587B-41E4-948E-88F638B68CC7}"/>
              </a:ext>
            </a:extLst>
          </p:cNvPr>
          <p:cNvGraphicFramePr/>
          <p:nvPr/>
        </p:nvGraphicFramePr>
        <p:xfrm>
          <a:off xmlns:a="http://schemas.openxmlformats.org/drawingml/2006/main" x="590550" y="1428750"/>
          <a:ext xmlns:a="http://schemas.openxmlformats.org/drawingml/2006/main" cx="11010900" cy="2552700"/>
        </p:xfrm>
        <a:graphic xmlns:a="http://schemas.openxmlformats.org/drawingml/2006/main">
          <a:graphicData uri="http://schemas.openxmlformats.org/drawingml/2006/table">
            <a:tbl>
              <a:tblPr firstRow="1" bandRow="0"/>
              <a:tblGrid>
                <a:gridCol w="4191000"/>
                <a:gridCol w="6819900"/>
              </a:tblGrid>
              <a:tr h="638175">
                <a:tc>
                  <a:txBody>
                    <a:bodyPr>
                      <a:noAutofit/>
                    </a:bodyPr>
                    <a:lstStyle/>
                    <a:p>
                      <a:r>
                        <a:rPr sz="1725" b="1">
                          <a:solidFill>
                            <a:srgbClr val="FFFFFF"/>
                          </a:solidFill>
                          <a:latin typeface="Arial"/>
                          <a:ea typeface="Arial"/>
                          <a:cs typeface="Arial"/>
                        </a:rPr>
                        <a:t>Established alternative</a:t>
                      </a:r>
                    </a:p>
                  </a:txBody>
                  <a:tcPr marL="91440" marR="91440" marT="45720" marB="45720">
                    <a:solidFill>
                      <a:srgbClr val="1E3535"/>
                    </a:solidFill>
                  </a:tcPr>
                </a:tc>
                <a:tc>
                  <a:txBody>
                    <a:bodyPr>
                      <a:noAutofit/>
                    </a:bodyPr>
                    <a:lstStyle/>
                    <a:p>
                      <a:r>
                        <a:rPr sz="1725" b="1">
                          <a:solidFill>
                            <a:srgbClr val="FFFFFF"/>
                          </a:solidFill>
                          <a:latin typeface="Arial"/>
                          <a:ea typeface="Arial"/>
                          <a:cs typeface="Arial"/>
                        </a:rPr>
                        <a:t>Documented focus</a:t>
                      </a:r>
                    </a:p>
                  </a:txBody>
                  <a:tcPr marL="91440" marR="91440" marT="45720" marB="45720">
                    <a:solidFill>
                      <a:srgbClr val="1E3535"/>
                    </a:solidFill>
                  </a:tcPr>
                </a:tc>
              </a:tr>
              <a:tr h="638175">
                <a:tc>
                  <a:txBody>
                    <a:bodyPr>
                      <a:noAutofit/>
                    </a:bodyPr>
                    <a:lstStyle/>
                    <a:p>
                      <a:r>
                        <a:rPr sz="1725" b="1">
                          <a:solidFill>
                            <a:srgbClr val="203333"/>
                          </a:solidFill>
                          <a:latin typeface="Arial"/>
                          <a:ea typeface="Arial"/>
                          <a:cs typeface="Arial"/>
                        </a:rPr>
                        <a:t>TraceLink Targeted Recalls</a:t>
                      </a:r>
                    </a:p>
                  </a:txBody>
                  <a:tcPr marL="91440" marR="91440" marT="45720" marB="45720">
                    <a:solidFill>
                      <a:srgbClr val="FFFFFF"/>
                    </a:solidFill>
                  </a:tcPr>
                </a:tc>
                <a:tc>
                  <a:txBody>
                    <a:bodyPr>
                      <a:noAutofit/>
                    </a:bodyPr>
                    <a:lstStyle/>
                    <a:p>
                      <a:r>
                        <a:rPr sz="1725" b="0">
                          <a:solidFill>
                            <a:srgbClr val="203333"/>
                          </a:solidFill>
                          <a:latin typeface="Arial"/>
                          <a:ea typeface="Arial"/>
                          <a:cs typeface="Arial"/>
                        </a:rPr>
                        <a:t>Recall communication, affected sites and reporting</a:t>
                      </a:r>
                    </a:p>
                  </a:txBody>
                  <a:tcPr marL="91440" marR="91440" marT="45720" marB="45720">
                    <a:solidFill>
                      <a:srgbClr val="FFFFFF"/>
                    </a:solidFill>
                  </a:tcPr>
                </a:tc>
              </a:tr>
              <a:tr h="638175">
                <a:tc>
                  <a:txBody>
                    <a:bodyPr>
                      <a:noAutofit/>
                    </a:bodyPr>
                    <a:lstStyle/>
                    <a:p>
                      <a:r>
                        <a:rPr sz="1725" b="1">
                          <a:solidFill>
                            <a:srgbClr val="203333"/>
                          </a:solidFill>
                          <a:latin typeface="Arial"/>
                          <a:ea typeface="Arial"/>
                          <a:cs typeface="Arial"/>
                        </a:rPr>
                        <a:t>SAP ATTP</a:t>
                      </a:r>
                    </a:p>
                  </a:txBody>
                  <a:tcPr marL="91440" marR="91440" marT="45720" marB="45720">
                    <a:solidFill>
                      <a:srgbClr val="FFFFFF"/>
                    </a:solidFill>
                  </a:tcPr>
                </a:tc>
                <a:tc>
                  <a:txBody>
                    <a:bodyPr>
                      <a:noAutofit/>
                    </a:bodyPr>
                    <a:lstStyle/>
                    <a:p>
                      <a:r>
                        <a:rPr sz="1725" b="0">
                          <a:solidFill>
                            <a:srgbClr val="203333"/>
                          </a:solidFill>
                          <a:latin typeface="Arial"/>
                          <a:ea typeface="Arial"/>
                          <a:cs typeface="Arial"/>
                        </a:rPr>
                        <a:t>Pharmaceutical serialization, aggregation and integrations</a:t>
                      </a:r>
                    </a:p>
                  </a:txBody>
                  <a:tcPr marL="91440" marR="91440" marT="45720" marB="45720">
                    <a:solidFill>
                      <a:srgbClr val="FFFFFF"/>
                    </a:solidFill>
                  </a:tcPr>
                </a:tc>
              </a:tr>
              <a:tr h="638175">
                <a:tc>
                  <a:txBody>
                    <a:bodyPr>
                      <a:noAutofit/>
                    </a:bodyPr>
                    <a:lstStyle/>
                    <a:p>
                      <a:r>
                        <a:rPr sz="1725" b="1">
                          <a:solidFill>
                            <a:srgbClr val="203333"/>
                          </a:solidFill>
                          <a:latin typeface="Arial"/>
                          <a:ea typeface="Arial"/>
                          <a:cs typeface="Arial"/>
                        </a:rPr>
                        <a:t>Odoo Inventory</a:t>
                      </a:r>
                    </a:p>
                  </a:txBody>
                  <a:tcPr marL="91440" marR="91440" marT="45720" marB="45720">
                    <a:solidFill>
                      <a:srgbClr val="FFFFFF"/>
                    </a:solidFill>
                  </a:tcPr>
                </a:tc>
                <a:tc>
                  <a:txBody>
                    <a:bodyPr>
                      <a:noAutofit/>
                    </a:bodyPr>
                    <a:lstStyle/>
                    <a:p>
                      <a:r>
                        <a:rPr sz="1725" b="0">
                          <a:solidFill>
                            <a:srgbClr val="203333"/>
                          </a:solidFill>
                          <a:latin typeface="Arial"/>
                          <a:ea typeface="Arial"/>
                          <a:cs typeface="Arial"/>
                        </a:rPr>
                        <a:t>Lot and serial tracking, expiry and FEFO allocation</a:t>
                      </a:r>
                    </a:p>
                  </a:txBody>
                  <a:tcPr marL="91440" marR="91440" marT="45720" marB="45720">
                    <a:solidFill>
                      <a:srgbClr val="FFFFFF"/>
                    </a:solidFill>
                  </a:tcPr>
                </a:tc>
              </a:tr>
            </a:tbl>
          </a:graphicData>
        </a:graphic>
      </p:graphicFrame>
      <p:sp>
        <p:nvSpPr>
          <p:cNvPr id="3" name="RecallScope’s proposed position">
            <a:extLst xmlns:a="http://schemas.openxmlformats.org/drawingml/2006/main">
              <a:ext uri="{FF2B5EF4-FFF2-40B4-BE49-F238E27FC236}">
                <a16:creationId xmlns:a16="http://schemas.microsoft.com/office/drawing/2014/main" id="{845CBF97-E61F-4B9F-A572-9A30B7E10180}"/>
              </a:ext>
            </a:extLst>
          </p:cNvPr>
          <p:cNvSpPr>
            <a:spLocks xmlns:a="http://schemas.openxmlformats.org/drawingml/2006/main" noGrp="1"/>
          </p:cNvSpPr>
          <p:nvPr/>
        </p:nvSpPr>
        <p:spPr>
          <a:xfrm xmlns:a="http://schemas.openxmlformats.org/drawingml/2006/main">
            <a:off x="590550" y="4314825"/>
            <a:ext cx="108394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1">
                <a:solidFill>
                  <a:srgbClr val="17645B"/>
                </a:solidFill>
                <a:latin typeface="Arial"/>
                <a:ea typeface="Arial"/>
                <a:cs typeface="Arial"/>
              </a:defRPr>
            </a:defPPr>
          </a:lstStyle>
          <a:p xmlns:a="http://schemas.openxmlformats.org/drawingml/2006/main">
            <a:pPr algn="l">
              <a:defRPr sz="2100" b="1">
                <a:solidFill>
                  <a:srgbClr val="17645B"/>
                </a:solidFill>
                <a:latin typeface="Arial"/>
                <a:ea typeface="Arial"/>
                <a:cs typeface="Arial"/>
              </a:defRPr>
            </a:pPr>
            <a:r>
              <a:rPr sz="2100" b="1">
                <a:solidFill>
                  <a:srgbClr val="17645B"/>
                </a:solidFill>
                <a:latin typeface="Arial"/>
                <a:ea typeface="Arial"/>
                <a:cs typeface="Arial"/>
              </a:rPr>
              <a:t>RecallScope’s proposed position</a:t>
            </a:r>
          </a:p>
        </p:txBody>
      </p:sp>
      <p:sp>
        <p:nvSpPr>
          <p:cNvPr id="4" name="Document-to-recall accounting for distributor te">
            <a:extLst xmlns:a="http://schemas.openxmlformats.org/drawingml/2006/main">
              <a:ext uri="{FF2B5EF4-FFF2-40B4-BE49-F238E27FC236}">
                <a16:creationId xmlns:a16="http://schemas.microsoft.com/office/drawing/2014/main" id="{A865D907-9701-400A-BFE2-383252C33B48}"/>
              </a:ext>
            </a:extLst>
          </p:cNvPr>
          <p:cNvSpPr>
            <a:spLocks xmlns:a="http://schemas.openxmlformats.org/drawingml/2006/main" noGrp="1"/>
          </p:cNvSpPr>
          <p:nvPr/>
        </p:nvSpPr>
        <p:spPr>
          <a:xfrm xmlns:a="http://schemas.openxmlformats.org/drawingml/2006/main">
            <a:off x="590550" y="4810125"/>
            <a:ext cx="109347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100" b="0">
                <a:solidFill>
                  <a:srgbClr val="203333"/>
                </a:solidFill>
                <a:latin typeface="Arial"/>
                <a:ea typeface="Arial"/>
                <a:cs typeface="Arial"/>
              </a:defRPr>
            </a:defPPr>
          </a:lstStyle>
          <a:p xmlns:a="http://schemas.openxmlformats.org/drawingml/2006/main">
            <a:pPr algn="l">
              <a:defRPr sz="2100" b="0">
                <a:solidFill>
                  <a:srgbClr val="203333"/>
                </a:solidFill>
                <a:latin typeface="Arial"/>
                <a:ea typeface="Arial"/>
                <a:cs typeface="Arial"/>
              </a:defRPr>
            </a:pPr>
            <a:r>
              <a:rPr sz="2100" b="0">
                <a:solidFill>
                  <a:srgbClr val="203333"/>
                </a:solidFill>
                <a:latin typeface="Arial"/>
                <a:ea typeface="Arial"/>
                <a:cs typeface="Arial"/>
              </a:rPr>
              <a:t>Document-to-recall accounting for distributor teams, with an inspectable source behind each decision.</a:t>
            </a:r>
          </a:p>
        </p:txBody>
      </p:sp>
      <p:sp>
        <p:nvSpPr>
          <p:cNvPr id="5" name="Commercial hypothesis: an organisation subscript">
            <a:extLst xmlns:a="http://schemas.openxmlformats.org/drawingml/2006/main">
              <a:ext uri="{FF2B5EF4-FFF2-40B4-BE49-F238E27FC236}">
                <a16:creationId xmlns:a16="http://schemas.microsoft.com/office/drawing/2014/main" id="{5B659F50-3F10-4996-A4E6-9BF78DBA51D8}"/>
              </a:ext>
            </a:extLst>
          </p:cNvPr>
          <p:cNvSpPr>
            <a:spLocks xmlns:a="http://schemas.openxmlformats.org/drawingml/2006/main" noGrp="1"/>
          </p:cNvSpPr>
          <p:nvPr/>
        </p:nvSpPr>
        <p:spPr>
          <a:xfrm xmlns:a="http://schemas.openxmlformats.org/drawingml/2006/main">
            <a:off x="590550" y="5734050"/>
            <a:ext cx="109347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650" b="0">
                <a:solidFill>
                  <a:srgbClr val="65766F"/>
                </a:solidFill>
                <a:latin typeface="Arial"/>
                <a:ea typeface="Arial"/>
                <a:cs typeface="Arial"/>
              </a:defRPr>
            </a:defPPr>
          </a:lstStyle>
          <a:p xmlns:a="http://schemas.openxmlformats.org/drawingml/2006/main">
            <a:pPr algn="l">
              <a:defRPr sz="1650" b="0">
                <a:solidFill>
                  <a:srgbClr val="65766F"/>
                </a:solidFill>
                <a:latin typeface="Arial"/>
                <a:ea typeface="Arial"/>
                <a:cs typeface="Arial"/>
              </a:defRPr>
            </a:pPr>
            <a:r>
              <a:rPr sz="1650" b="0">
                <a:solidFill>
                  <a:srgbClr val="65766F"/>
                </a:solidFill>
                <a:latin typeface="Arial"/>
                <a:ea typeface="Arial"/>
                <a:cs typeface="Arial"/>
              </a:rPr>
              <a:t>Commercial hypothesis: an organisation subscription with warehouse allowances and optional metered extraction.</a:t>
            </a:r>
          </a:p>
        </p:txBody>
      </p:sp>
      <p:sp>
        <p:nvSpPr>
          <p:cNvPr id="6" name="RecallScope / Pharmaceutical distribution">
            <a:extLst xmlns:a="http://schemas.openxmlformats.org/drawingml/2006/main">
              <a:ext uri="{FF2B5EF4-FFF2-40B4-BE49-F238E27FC236}">
                <a16:creationId xmlns:a16="http://schemas.microsoft.com/office/drawing/2014/main" id="{C653F84D-DD78-48B5-9025-305B603D56E2}"/>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RecallScope / Pharmaceutical distribution</a:t>
            </a:r>
          </a:p>
        </p:txBody>
      </p:sp>
      <p:sp>
        <p:nvSpPr>
          <p:cNvPr id="7" name="07">
            <a:extLst xmlns:a="http://schemas.openxmlformats.org/drawingml/2006/main">
              <a:ext uri="{FF2B5EF4-FFF2-40B4-BE49-F238E27FC236}">
                <a16:creationId xmlns:a16="http://schemas.microsoft.com/office/drawing/2014/main" id="{4C22A0B5-7ED4-4A95-B64B-1FBCDC06983D}"/>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07</a:t>
            </a:r>
          </a:p>
        </p:txBody>
      </p:sp>
    </p:spTree>
    <p:extLst>
      <p:ext uri="{BB962C8B-B14F-4D97-AF65-F5344CB8AC3E}">
        <p14:creationId xmlns:p14="http://schemas.microsoft.com/office/powerpoint/2010/main" val="1125972832"/>
      </p:ext>
    </p:extLst>
  </p:cSld>
</p:sld>
</file>

<file path=ppt/slides/slide8.xml><?xml version="1.0" encoding="utf-8"?>
<p:sld xmlns:p="http://schemas.openxmlformats.org/presentationml/2006/main">
  <p:cSld>
    <p:bg>
      <p:bgPr>
        <a:solidFill xmlns:a="http://schemas.openxmlformats.org/drawingml/2006/main">
          <a:srgbClr val="F4F5F2"/>
        </a:solidFill>
      </p:bgPr>
    </p:bg>
    <p:spTree>
      <p:nvGrpSpPr>
        <p:cNvPr id="1" name=""/>
        <p:cNvGrpSpPr/>
        <p:nvPr/>
      </p:nvGrpSpPr>
      <p:grpSpPr>
        <a:xfrm xmlns:a="http://schemas.openxmlformats.org/drawingml/2006/main"/>
      </p:grpSpPr>
      <p:sp>
        <p:nvSpPr>
          <p:cNvPr id="9" name="The demonstration">
            <a:extLst xmlns:a="http://schemas.openxmlformats.org/drawingml/2006/main">
              <a:ext uri="{FF2B5EF4-FFF2-40B4-BE49-F238E27FC236}">
                <a16:creationId xmlns:a16="http://schemas.microsoft.com/office/drawing/2014/main" id="{659D9C66-5872-409C-9683-4101E96A7FCF}"/>
              </a:ext>
            </a:extLst>
          </p:cNvPr>
          <p:cNvSpPr>
            <a:spLocks xmlns:a="http://schemas.openxmlformats.org/drawingml/2006/main" noGrp="1"/>
          </p:cNvSpPr>
          <p:nvPr/>
        </p:nvSpPr>
        <p:spPr>
          <a:xfrm xmlns:a="http://schemas.openxmlformats.org/drawingml/2006/main">
            <a:off x="590550" y="447675"/>
            <a:ext cx="110109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3300" b="1">
                <a:solidFill>
                  <a:srgbClr val="203333"/>
                </a:solidFill>
                <a:latin typeface="Arial"/>
                <a:ea typeface="Arial"/>
                <a:cs typeface="Arial"/>
              </a:defRPr>
            </a:defPPr>
          </a:lstStyle>
          <a:p xmlns:a="http://schemas.openxmlformats.org/drawingml/2006/main">
            <a:pPr algn="l">
              <a:defRPr sz="3300" b="1">
                <a:solidFill>
                  <a:srgbClr val="203333"/>
                </a:solidFill>
                <a:latin typeface="Arial"/>
                <a:ea typeface="Arial"/>
                <a:cs typeface="Arial"/>
              </a:defRPr>
            </a:pPr>
            <a:r>
              <a:rPr sz="3300" b="1">
                <a:solidFill>
                  <a:srgbClr val="203333"/>
                </a:solidFill>
                <a:latin typeface="Arial"/>
                <a:ea typeface="Arial"/>
                <a:cs typeface="Arial"/>
              </a:rPr>
              <a:t>The demonstration</a:t>
            </a:r>
          </a:p>
        </p:txBody>
      </p:sp>
      <p:sp>
        <p:nvSpPr>
          <p:cNvPr id="2" name="A judge can review a source record, post it, tra">
            <a:extLst xmlns:a="http://schemas.openxmlformats.org/drawingml/2006/main">
              <a:ext uri="{FF2B5EF4-FFF2-40B4-BE49-F238E27FC236}">
                <a16:creationId xmlns:a16="http://schemas.microsoft.com/office/drawing/2014/main" id="{E38623FC-811D-4926-B13F-7168683B1D0B}"/>
              </a:ext>
            </a:extLst>
          </p:cNvPr>
          <p:cNvSpPr>
            <a:spLocks xmlns:a="http://schemas.openxmlformats.org/drawingml/2006/main" noGrp="1"/>
          </p:cNvSpPr>
          <p:nvPr/>
        </p:nvSpPr>
        <p:spPr>
          <a:xfrm xmlns:a="http://schemas.openxmlformats.org/drawingml/2006/main">
            <a:off x="590550" y="1495425"/>
            <a:ext cx="4352925" cy="1685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325" b="0">
                <a:solidFill>
                  <a:srgbClr val="203333"/>
                </a:solidFill>
                <a:latin typeface="Arial"/>
                <a:ea typeface="Arial"/>
                <a:cs typeface="Arial"/>
              </a:defRPr>
            </a:defPPr>
          </a:lstStyle>
          <a:p xmlns:a="http://schemas.openxmlformats.org/drawingml/2006/main">
            <a:pPr algn="l">
              <a:defRPr sz="2325" b="0">
                <a:solidFill>
                  <a:srgbClr val="203333"/>
                </a:solidFill>
                <a:latin typeface="Arial"/>
                <a:ea typeface="Arial"/>
                <a:cs typeface="Arial"/>
              </a:defRPr>
            </a:pPr>
            <a:r>
              <a:rPr sz="2325" b="0">
                <a:solidFill>
                  <a:srgbClr val="203333"/>
                </a:solidFill>
                <a:latin typeface="Arial"/>
                <a:ea typeface="Arial"/>
                <a:cs typeface="Arial"/>
              </a:rPr>
              <a:t>A judge can review a source record, post it, trace a batch and export the evidence without an API key.</a:t>
            </a:r>
          </a:p>
        </p:txBody>
      </p:sp>
      <p:sp>
        <p:nvSpPr>
          <p:cNvPr id="3" name="The product pairs a clear distributor workflow w">
            <a:extLst xmlns:a="http://schemas.openxmlformats.org/drawingml/2006/main">
              <a:ext uri="{FF2B5EF4-FFF2-40B4-BE49-F238E27FC236}">
                <a16:creationId xmlns:a16="http://schemas.microsoft.com/office/drawing/2014/main" id="{0C6B7A76-FBB6-46E8-87BD-2122B24EC2D3}"/>
              </a:ext>
            </a:extLst>
          </p:cNvPr>
          <p:cNvSpPr>
            <a:spLocks xmlns:a="http://schemas.openxmlformats.org/drawingml/2006/main" noGrp="1"/>
          </p:cNvSpPr>
          <p:nvPr/>
        </p:nvSpPr>
        <p:spPr>
          <a:xfrm xmlns:a="http://schemas.openxmlformats.org/drawingml/2006/main">
            <a:off x="590550" y="3629025"/>
            <a:ext cx="4352925" cy="1257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025" b="0">
                <a:solidFill>
                  <a:srgbClr val="65766F"/>
                </a:solidFill>
                <a:latin typeface="Arial"/>
                <a:ea typeface="Arial"/>
                <a:cs typeface="Arial"/>
              </a:defRPr>
            </a:defPPr>
          </a:lstStyle>
          <a:p xmlns:a="http://schemas.openxmlformats.org/drawingml/2006/main">
            <a:pPr algn="l">
              <a:defRPr sz="2025" b="0">
                <a:solidFill>
                  <a:srgbClr val="65766F"/>
                </a:solidFill>
                <a:latin typeface="Arial"/>
                <a:ea typeface="Arial"/>
                <a:cs typeface="Arial"/>
              </a:defRPr>
            </a:pPr>
            <a:r>
              <a:rPr sz="2025" b="0">
                <a:solidFill>
                  <a:srgbClr val="65766F"/>
                </a:solidFill>
                <a:latin typeface="Arial"/>
                <a:ea typeface="Arial"/>
                <a:cs typeface="Arial"/>
              </a:rPr>
              <a:t>The product pairs a clear distributor workflow with visible accounting and recoverable decisions.</a:t>
            </a:r>
          </a:p>
        </p:txBody>
      </p:sp>
      <p:sp>
        <p:nvSpPr>
          <p:cNvPr id="4" name="RecallScope">
            <a:extLst xmlns:a="http://schemas.openxmlformats.org/drawingml/2006/main">
              <a:ext uri="{FF2B5EF4-FFF2-40B4-BE49-F238E27FC236}">
                <a16:creationId xmlns:a16="http://schemas.microsoft.com/office/drawing/2014/main" id="{33670B76-A4BC-408B-B523-6EC3868C4A72}"/>
              </a:ext>
            </a:extLst>
          </p:cNvPr>
          <p:cNvSpPr>
            <a:spLocks xmlns:a="http://schemas.openxmlformats.org/drawingml/2006/main" noGrp="1"/>
          </p:cNvSpPr>
          <p:nvPr/>
        </p:nvSpPr>
        <p:spPr>
          <a:xfrm xmlns:a="http://schemas.openxmlformats.org/drawingml/2006/main">
            <a:off x="590550" y="5314950"/>
            <a:ext cx="43529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2850" b="1">
                <a:solidFill>
                  <a:srgbClr val="17645B"/>
                </a:solidFill>
                <a:latin typeface="Arial"/>
                <a:ea typeface="Arial"/>
                <a:cs typeface="Arial"/>
              </a:defRPr>
            </a:defPPr>
          </a:lstStyle>
          <a:p xmlns:a="http://schemas.openxmlformats.org/drawingml/2006/main">
            <a:pPr algn="l">
              <a:defRPr sz="2850" b="1">
                <a:solidFill>
                  <a:srgbClr val="17645B"/>
                </a:solidFill>
                <a:latin typeface="Arial"/>
                <a:ea typeface="Arial"/>
                <a:cs typeface="Arial"/>
              </a:defRPr>
            </a:pPr>
            <a:r>
              <a:rPr sz="2850" b="1">
                <a:solidFill>
                  <a:srgbClr val="17645B"/>
                </a:solidFill>
                <a:latin typeface="Arial"/>
                <a:ea typeface="Arial"/>
                <a:cs typeface="Arial"/>
              </a:rPr>
              <a:t>RecallScope</a:t>
            </a:r>
          </a:p>
        </p:txBody>
      </p:sp>
      <p:sp>
        <p:nvSpPr>
          <p:cNvPr id="5" name="recallscope.console3096.chatgpt.site">
            <a:extLst xmlns:a="http://schemas.openxmlformats.org/drawingml/2006/main">
              <a:ext uri="{FF2B5EF4-FFF2-40B4-BE49-F238E27FC236}">
                <a16:creationId xmlns:a16="http://schemas.microsoft.com/office/drawing/2014/main" id="{A13E18CD-52C2-4F89-A58D-1C7700119704}"/>
              </a:ext>
            </a:extLst>
          </p:cNvPr>
          <p:cNvSpPr>
            <a:spLocks xmlns:a="http://schemas.openxmlformats.org/drawingml/2006/main" noGrp="1"/>
          </p:cNvSpPr>
          <p:nvPr/>
        </p:nvSpPr>
        <p:spPr>
          <a:xfrm xmlns:a="http://schemas.openxmlformats.org/drawingml/2006/main">
            <a:off x="590550" y="5915025"/>
            <a:ext cx="5238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500" b="0">
                <a:solidFill>
                  <a:srgbClr val="65766F"/>
                </a:solidFill>
                <a:latin typeface="Arial"/>
                <a:ea typeface="Arial"/>
                <a:cs typeface="Arial"/>
              </a:defRPr>
            </a:defPPr>
          </a:lstStyle>
          <a:p xmlns:a="http://schemas.openxmlformats.org/drawingml/2006/main">
            <a:pPr algn="l">
              <a:defRPr sz="1500" b="0">
                <a:solidFill>
                  <a:srgbClr val="65766F"/>
                </a:solidFill>
                <a:latin typeface="Arial"/>
                <a:ea typeface="Arial"/>
                <a:cs typeface="Arial"/>
              </a:defRPr>
            </a:pPr>
            <a:r>
              <a:rPr sz="1500" b="0">
                <a:solidFill>
                  <a:srgbClr val="65766F"/>
                </a:solidFill>
                <a:latin typeface="Arial"/>
                <a:ea typeface="Arial"/>
                <a:cs typeface="Arial"/>
              </a:rPr>
              <a:t>recallscope.console3096.chatgpt.site</a:t>
            </a:r>
          </a:p>
        </p:txBody>
      </p:sp>
      <p:pic>
        <p:nvPicPr>
          <p:cNvPr id="6" name="">
            <a:extLst xmlns:a="http://schemas.openxmlformats.org/drawingml/2006/main">
              <a:ext uri="{FF2B5EF4-FFF2-40B4-BE49-F238E27FC236}">
                <a16:creationId xmlns:a16="http://schemas.microsoft.com/office/drawing/2014/main" id="{BD080683-0CD5-428A-8E48-C86A9B60433C}"/>
              </a:ext>
            </a:extLst>
          </p:cNvPr>
          <p:cNvPicPr>
            <a:picLocks xmlns:a="http://schemas.openxmlformats.org/drawingml/2006/main" noChangeAspect="1"/>
          </p:cNvPicPr>
          <p:nvPr/>
        </p:nvPicPr>
        <p:blipFill>
          <a:blip xmlns:r="http://schemas.openxmlformats.org/officeDocument/2006/relationships" xmlns:a="http://schemas.openxmlformats.org/drawingml/2006/main" r:embed="R6b7b49d9f0a04b76"/>
          <a:srcRect xmlns:a="http://schemas.openxmlformats.org/drawingml/2006/main" l="17300" t="28800" r="2500" b="10500"/>
          <a:stretch xmlns:a="http://schemas.openxmlformats.org/drawingml/2006/main"/>
        </p:blipFill>
        <p:spPr>
          <a:xfrm xmlns:a="http://schemas.openxmlformats.org/drawingml/2006/main">
            <a:off x="5295900" y="2261473"/>
            <a:ext cx="6305550" cy="2982753"/>
          </a:xfrm>
          <a:prstGeom xmlns:a="http://schemas.openxmlformats.org/drawingml/2006/main" prst="rect">
            <a:avLst/>
          </a:prstGeom>
        </p:spPr>
      </p:pic>
      <p:sp>
        <p:nvSpPr>
          <p:cNvPr id="7" name="Team Console">
            <a:extLst xmlns:a="http://schemas.openxmlformats.org/drawingml/2006/main">
              <a:ext uri="{FF2B5EF4-FFF2-40B4-BE49-F238E27FC236}">
                <a16:creationId xmlns:a16="http://schemas.microsoft.com/office/drawing/2014/main" id="{7A712EAC-95F6-43B2-8887-C9DBF71EF3F4}"/>
              </a:ext>
            </a:extLst>
          </p:cNvPr>
          <p:cNvSpPr>
            <a:spLocks xmlns:a="http://schemas.openxmlformats.org/drawingml/2006/main" noGrp="1"/>
          </p:cNvSpPr>
          <p:nvPr/>
        </p:nvSpPr>
        <p:spPr>
          <a:xfrm xmlns:a="http://schemas.openxmlformats.org/drawingml/2006/main">
            <a:off x="590550" y="6362700"/>
            <a:ext cx="1009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Team Console</a:t>
            </a:r>
          </a:p>
        </p:txBody>
      </p:sp>
      <p:sp>
        <p:nvSpPr>
          <p:cNvPr id="8" name="08">
            <a:extLst xmlns:a="http://schemas.openxmlformats.org/drawingml/2006/main">
              <a:ext uri="{FF2B5EF4-FFF2-40B4-BE49-F238E27FC236}">
                <a16:creationId xmlns:a16="http://schemas.microsoft.com/office/drawing/2014/main" id="{61CC5AD4-6206-4834-BBA4-70675944BB79}"/>
              </a:ext>
            </a:extLst>
          </p:cNvPr>
          <p:cNvSpPr>
            <a:spLocks xmlns:a="http://schemas.openxmlformats.org/drawingml/2006/main" noGrp="1"/>
          </p:cNvSpPr>
          <p:nvPr/>
        </p:nvSpPr>
        <p:spPr>
          <a:xfrm xmlns:a="http://schemas.openxmlformats.org/drawingml/2006/main">
            <a:off x="11191875" y="6362700"/>
            <a:ext cx="476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defPPr algn="l">
              <a:defRPr sz="1200" b="0">
                <a:solidFill>
                  <a:srgbClr val="65766F"/>
                </a:solidFill>
                <a:latin typeface="Arial"/>
                <a:ea typeface="Arial"/>
                <a:cs typeface="Arial"/>
              </a:defRPr>
            </a:defPPr>
          </a:lstStyle>
          <a:p xmlns:a="http://schemas.openxmlformats.org/drawingml/2006/main">
            <a:pPr algn="l">
              <a:defRPr sz="1200" b="0">
                <a:solidFill>
                  <a:srgbClr val="65766F"/>
                </a:solidFill>
                <a:latin typeface="Arial"/>
                <a:ea typeface="Arial"/>
                <a:cs typeface="Arial"/>
              </a:defRPr>
            </a:pPr>
            <a:r>
              <a:rPr sz="1200" b="0">
                <a:solidFill>
                  <a:srgbClr val="65766F"/>
                </a:solidFill>
                <a:latin typeface="Arial"/>
                <a:ea typeface="Arial"/>
                <a:cs typeface="Arial"/>
              </a:rPr>
              <a:t>08</a:t>
            </a:r>
          </a:p>
        </p:txBody>
      </p:sp>
    </p:spTree>
    <p:extLst>
      <p:ext uri="{BB962C8B-B14F-4D97-AF65-F5344CB8AC3E}">
        <p14:creationId xmlns:p14="http://schemas.microsoft.com/office/powerpoint/2010/main" val="123538689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2026-10-03T16:04:40.3950000Z</dcterms:created>
  <dcterms:modified xsi:type="dcterms:W3CDTF">2026-10-03T16:04:40.3960000Z</dcterms:modified>
</coreProperties>
</file>
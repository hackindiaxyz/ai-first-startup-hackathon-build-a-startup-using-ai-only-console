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2bab085fc3479b" /><Relationship Type="http://schemas.openxmlformats.org/officeDocument/2006/relationships/extended-properties" Target="/docProps/app.xml" Id="R605343f2f85849bc" /><Relationship Type="http://schemas.openxmlformats.org/officeDocument/2006/relationships/officeDocument" Target="/ppt/presentation.xml" Id="Ra96834f9912a4cb2" /></Relationships>
</file>

<file path=ppt/presentation.xml><?xml version="1.0" encoding="utf-8"?>
<p:presentation xmlns:p="http://schemas.openxmlformats.org/presentationml/2006/main">
  <p:sldMasterIdLst>
    <p:sldMasterId xmlns:r="http://schemas.openxmlformats.org/officeDocument/2006/relationships" id="2147483648" r:id="Rbcc37f0656e34445"/>
  </p:sldMasterIdLst>
  <p:notesMasterIdLst>
    <p:notesMasterId xmlns:r="http://schemas.openxmlformats.org/officeDocument/2006/relationships" r:id="R8cf77ce91ac44459"/>
  </p:notesMasterIdLst>
  <p:sldIdLst>
    <p:sldId xmlns:r="http://schemas.openxmlformats.org/officeDocument/2006/relationships" id="256" r:id="Rc772c537102e48c9"/>
    <p:sldId xmlns:r="http://schemas.openxmlformats.org/officeDocument/2006/relationships" id="257" r:id="Rf36cd725e80e4031"/>
    <p:sldId xmlns:r="http://schemas.openxmlformats.org/officeDocument/2006/relationships" id="258" r:id="R82081370e2b24968"/>
    <p:sldId xmlns:r="http://schemas.openxmlformats.org/officeDocument/2006/relationships" id="259" r:id="R7999a9e01ea54bb7"/>
    <p:sldId xmlns:r="http://schemas.openxmlformats.org/officeDocument/2006/relationships" id="260" r:id="Rfe4fa005202c414a"/>
    <p:sldId xmlns:r="http://schemas.openxmlformats.org/officeDocument/2006/relationships" id="261" r:id="R44c16012d8ae4e61"/>
    <p:sldId xmlns:r="http://schemas.openxmlformats.org/officeDocument/2006/relationships" id="262" r:id="R26d5f2d159c540c8"/>
    <p:sldId xmlns:r="http://schemas.openxmlformats.org/officeDocument/2006/relationships" id="263" r:id="Rac24887e0da141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48455c3edc34246" /><Relationship Type="http://schemas.openxmlformats.org/officeDocument/2006/relationships/slideMaster" Target="/ppt/slideMasters/slideMaster1.xml" Id="Rbcc37f0656e34445" /><Relationship Type="http://schemas.openxmlformats.org/officeDocument/2006/relationships/notesMaster" Target="/ppt/notesMasters/notesMaster1.xml" Id="R8cf77ce91ac44459" /><Relationship Type="http://schemas.openxmlformats.org/officeDocument/2006/relationships/presProps" Target="/ppt/presProps.xml" Id="Rcc89dfdd3a434469" /><Relationship Type="http://schemas.openxmlformats.org/officeDocument/2006/relationships/tableStyles" Target="/ppt/tableStyles.xml" Id="R09f6df5f2e85468c" /><Relationship Type="http://schemas.openxmlformats.org/officeDocument/2006/relationships/slide" Target="/ppt/slides/slide1.xml" Id="Rc772c537102e48c9" /><Relationship Type="http://schemas.openxmlformats.org/officeDocument/2006/relationships/slide" Target="/ppt/slides/slide2.xml" Id="Rf36cd725e80e4031" /><Relationship Type="http://schemas.openxmlformats.org/officeDocument/2006/relationships/slide" Target="/ppt/slides/slide3.xml" Id="R82081370e2b24968" /><Relationship Type="http://schemas.openxmlformats.org/officeDocument/2006/relationships/slide" Target="/ppt/slides/slide4.xml" Id="R7999a9e01ea54bb7" /><Relationship Type="http://schemas.openxmlformats.org/officeDocument/2006/relationships/slide" Target="/ppt/slides/slide5.xml" Id="Rfe4fa005202c414a" /><Relationship Type="http://schemas.openxmlformats.org/officeDocument/2006/relationships/slide" Target="/ppt/slides/slide6.xml" Id="R44c16012d8ae4e61" /><Relationship Type="http://schemas.openxmlformats.org/officeDocument/2006/relationships/slide" Target="/ppt/slides/slide7.xml" Id="R26d5f2d159c540c8" /><Relationship Type="http://schemas.openxmlformats.org/officeDocument/2006/relationships/slide" Target="/ppt/slides/slide8.xml" Id="Rac24887e0da141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1b438c905a42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ac49756a364144" /><Relationship Type="http://schemas.openxmlformats.org/officeDocument/2006/relationships/notesMaster" Target="/ppt/notesMasters/notesMaster1.xml" Id="Ra40f3571ec2a4e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8cc8a2c6204707" /><Relationship Type="http://schemas.openxmlformats.org/officeDocument/2006/relationships/notesMaster" Target="/ppt/notesMasters/notesMaster1.xml" Id="R294eabb634db49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2ad2a5be8f4df6" /><Relationship Type="http://schemas.openxmlformats.org/officeDocument/2006/relationships/notesMaster" Target="/ppt/notesMasters/notesMaster1.xml" Id="Rf2b4611f5cb24f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e7f36ae53d47be" /><Relationship Type="http://schemas.openxmlformats.org/officeDocument/2006/relationships/notesMaster" Target="/ppt/notesMasters/notesMaster1.xml" Id="R5bc34e89d5c147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f3a5e5eda645e6" /><Relationship Type="http://schemas.openxmlformats.org/officeDocument/2006/relationships/notesMaster" Target="/ppt/notesMasters/notesMaster1.xml" Id="R8b2cfc9be2844b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3c2c999b1f4aef" /><Relationship Type="http://schemas.openxmlformats.org/officeDocument/2006/relationships/notesMaster" Target="/ppt/notesMasters/notesMaster1.xml" Id="R152823630c0645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4b0026a1144414" /><Relationship Type="http://schemas.openxmlformats.org/officeDocument/2006/relationships/notesMaster" Target="/ppt/notesMasters/notesMaster1.xml" Id="Rab73220ad3b947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7d4a607fc94b18" /><Relationship Type="http://schemas.openxmlformats.org/officeDocument/2006/relationships/notesMaster" Target="/ppt/notesMasters/notesMaster1.xml" Id="Rc16fc04c340d40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RecallScope is a working workspace for pharmaceutical distributors and wholesalers. The deck follows the current product, using native editable PowerPoint text, tables, and diagrams instead of screenshots. All shown organisations and operational records are fictional. Product source: https://github.com/HackIndiaXYZ/ai-first-startup-hackathon-build-a-startup-using-ai-only-console . Live product: https://recallscope.console3096.chatgpt.site/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definition: docs/SUBMISSION.md and product/lib/pharma/seed.ts. The 1,000-box receipt and 600-box delivered total belong to PAR-500-100 / PCR-260901. Four recipients: Aster Pharmacy, Brook Clinic, Cedar Hospital, Delta Distribution. No rate of errors or time savings is claimed. The slide demonstrates an operational record relationship, not an actual recall event.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Product-inspired native vector excerpt, not a screenshot and not an additional interactive UI. The app uses Segoe UI / Segoe UI Variable and the palette from product/app/pharma.css. Source facts: product/lib/pharma/seed.ts. PAR-500-100 / PCR-260901 receives 1,000 boxes. AMX-500-100 / PCR-260901 receives 300 boxes. The matching printed batch text does not merge stock. The displayed Received column reflects original receipt amounts, not the current stock status. No production application font or layout has been changed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live extraction paths: README.md and product/lib/pharma/intake.ts, with Fireworks and OpenAI adapters for text, images and PDF-derived inputs. Deterministic code validates source identity, units, dates, review fields and posting. Guided examples use pre-filled proposals and do not make an AI request. The shown 40-box receipt is the guided receipt example, not a claim of live model output. Recorded browser result: PCR-261001 increases from 400 to 440 boxes after operator review. Repeat posting is blocked. Server-side secrets and request budgets apply to live extraction. Source: docs/PHARMA-VALIDATION.md and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Authored complete recall scenario, PAR-500-100 / PCR-260901. All quantities are boxes. Source: product/lib/pharma/seed.ts and docs/PHARMA-VALIDATION.md. Receipt = 1,000. Historical dispatch = 250 + 150 + 100 + 100 = 600. Before returns, stock = 1,000 - 600 = 400. Partial returns = 100, current stock = 400 + 100 = 500, outstanding = 600 - 100 = 500. All returned = 600, current stock = 400 + 600 = 1,000, outstanding = 0. Returned quantities are not added again to current stock. Accounting closure leaves medicine in quarantine and does not authorize disposal, release, or use. These are authored records, not industrial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143/143 whole-project unit tests passed in the final integrated release and the 4 October interface follow-up. This count includes retained historical functionality alongside pharma domain, intake, store, exports and interoperability tests. Types and production build also passed, with browser evidence in docs/PHARMA-VALIDATION.md. This is a recorded software verification result, not industrial acceptance, live extraction accuracy, or regulatory certification. Sources and hashes remain inspectable, and fixed snapshots do not change when later returns arrive. Evidence: docs/PHARMA-VALIDATION.md, product/verification/pharma-evaluation.json and product/tests/.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hypothesis from docs/PHARMA-ALTERNATIVES.md, current desk research checked 3 October 2026. No current revenue, paying customers, market share, savings or price superiority is asserted. Primary sources: TraceLink Targeted Recalls, https://www.tracelink.com/products/product-orchestration/targeted-recalls ; SAP Advanced Track and Trace for Pharmaceuticals, https://www.sap.com/uk/products/scm/track-trace-pharmaceuticals.html ; Odoo expiration and FEFO, https://www.odoo.com/documentation/19.0/applications/inventory_and_mrp/inventory/product_management/product_tracking/expiration_dates.html and https://www.odoo.com/documentation/19.0/applications/inventory_and_mrp/inventory/shipping_receiving/removal_strategies/fefo.html . These sources establish the category and documented features. They do not prove competitor feature absence or RecallScope demand.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authorship record: docs/AI-USAGE.md. Codex agents performed product framing and market research, architecture, UI/UX design, custom frontend/backend coding, deterministic test work, deployment preparation and project materials under human direction. This is a description of documented work, not a measured authorship percentage. Live product: https://recallscope.console3096.chatgpt.site/ . Public custom code and evidence: https://github.com/HackIndiaXYZ/ai-first-startup-hackathon-build-a-startup-using-ai-only-console . A judge can explore the complete guided document, review, stock, trace, recall and export workflow without providing an API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dc1541b47b44b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42f3eaaf4d4fc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47f7780c2ba45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cf6d8dfdceb4b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605c16406ba4c8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c229fbcdfcb45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15C369-3AC7-4E6A-9721-765064992AA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0349EE1-A7B7-4CBC-95CF-915D552A88E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E895FA3-99B4-48D8-9476-74F5884F813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78E7C9-803A-4ED4-AE61-4F4649BCB3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4B2771A-73BA-4B02-A3F2-0D1127E1F93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838031-471F-42D0-A3A8-A3F21FC62B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B9711F-9835-4897-9011-24AC057EF2C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9DBE56-5659-4B23-9E70-B16EAAA61B5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DD7050-C650-463B-9BD7-58A7700FA4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AF9DBA-A8A7-47A6-9AE5-FF9F39B2F9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963a2691fac4929" /><Relationship Type="http://schemas.openxmlformats.org/officeDocument/2006/relationships/slideLayout" Target="/ppt/slideLayouts/slideLayout1.xml" Id="R6b22b88092a3414f" /><Relationship Type="http://schemas.openxmlformats.org/officeDocument/2006/relationships/slideLayout" Target="/ppt/slideLayouts/slideLayout2.xml" Id="R8706a24ddd164457" /><Relationship Type="http://schemas.openxmlformats.org/officeDocument/2006/relationships/slideLayout" Target="/ppt/slideLayouts/slideLayout3.xml" Id="R29c10090ee5346a5" /><Relationship Type="http://schemas.openxmlformats.org/officeDocument/2006/relationships/slideLayout" Target="/ppt/slideLayouts/slideLayout4.xml" Id="R7853082ee35249bb" /><Relationship Type="http://schemas.openxmlformats.org/officeDocument/2006/relationships/slideLayout" Target="/ppt/slideLayouts/slideLayout5.xml" Id="Raab26f4e8257498f" /><Relationship Type="http://schemas.openxmlformats.org/officeDocument/2006/relationships/slideLayout" Target="/ppt/slideLayouts/slideLayout6.xml" Id="R7a4cf145dd0640f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22b88092a3414f"/>
    <p:sldLayoutId xmlns:r="http://schemas.openxmlformats.org/officeDocument/2006/relationships" id="2147483650" r:id="R8706a24ddd164457"/>
    <p:sldLayoutId xmlns:r="http://schemas.openxmlformats.org/officeDocument/2006/relationships" id="2147483651" r:id="R29c10090ee5346a5"/>
    <p:sldLayoutId xmlns:r="http://schemas.openxmlformats.org/officeDocument/2006/relationships" id="2147483652" r:id="R7853082ee35249bb"/>
    <p:sldLayoutId xmlns:r="http://schemas.openxmlformats.org/officeDocument/2006/relationships" id="2147483653" r:id="Raab26f4e8257498f"/>
    <p:sldLayoutId xmlns:r="http://schemas.openxmlformats.org/officeDocument/2006/relationships" id="2147483654" r:id="R7a4cf145dd0640f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380a5bc5c1e4cb2" /><Relationship Type="http://schemas.openxmlformats.org/officeDocument/2006/relationships/notesSlide" Target="/ppt/notesSlides/notesSlide1.xml" Id="R71443eea2c154e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e69c14667b421d" /><Relationship Type="http://schemas.openxmlformats.org/officeDocument/2006/relationships/notesSlide" Target="/ppt/notesSlides/notesSlide2.xml" Id="R9d6b8a887cce40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735fefbd67b4b7b" /><Relationship Type="http://schemas.openxmlformats.org/officeDocument/2006/relationships/notesSlide" Target="/ppt/notesSlides/notesSlide3.xml" Id="Raddc32bbf55d4f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23c08fc81db41fb" /><Relationship Type="http://schemas.openxmlformats.org/officeDocument/2006/relationships/notesSlide" Target="/ppt/notesSlides/notesSlide4.xml" Id="R23ec5d65d3dc48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ffc32f6a736460e" /><Relationship Type="http://schemas.openxmlformats.org/officeDocument/2006/relationships/notesSlide" Target="/ppt/notesSlides/notesSlide5.xml" Id="R16b97ca1cac746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634bd5cfbbd44c0" /><Relationship Type="http://schemas.openxmlformats.org/officeDocument/2006/relationships/notesSlide" Target="/ppt/notesSlides/notesSlide6.xml" Id="R8959a1f9da8e47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63bbfd4c0ad4e81" /><Relationship Type="http://schemas.openxmlformats.org/officeDocument/2006/relationships/notesSlide" Target="/ppt/notesSlides/notesSlide7.xml" Id="R8ccce424ad884b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851e5e7951240dc" /><Relationship Type="http://schemas.openxmlformats.org/officeDocument/2006/relationships/notesSlide" Target="/ppt/notesSlides/notesSlide8.xml" Id="R829dab2b84fc4664" /></Relationships>
</file>

<file path=ppt/slides/slide1.xml><?xml version="1.0" encoding="utf-8"?>
<p:sld xmlns:p="http://schemas.openxmlformats.org/presentationml/2006/main">
  <p:cSld>
    <p:bg>
      <p:bgPr>
        <a:solidFill xmlns:a="http://schemas.openxmlformats.org/drawingml/2006/main">
          <a:srgbClr val="1E3535"/>
        </a:solidFill>
      </p:bgPr>
    </p:bg>
    <p:spTree>
      <p:nvGrpSpPr>
        <p:cNvPr id="1" name=""/>
        <p:cNvGrpSpPr/>
        <p:nvPr/>
      </p:nvGrpSpPr>
      <p:grpSpPr>
        <a:xfrm xmlns:a="http://schemas.openxmlformats.org/drawingml/2006/main"/>
      </p:grpSpPr>
      <p:sp>
        <p:nvSpPr>
          <p:cNvPr id="15" name="RecallScope">
            <a:extLst xmlns:a="http://schemas.openxmlformats.org/drawingml/2006/main">
              <a:ext uri="{FF2B5EF4-FFF2-40B4-BE49-F238E27FC236}">
                <a16:creationId xmlns:a16="http://schemas.microsoft.com/office/drawing/2014/main" id="{5D3F0B63-ACA0-4E27-9E6E-E5A6B93FCA56}"/>
              </a:ext>
            </a:extLst>
          </p:cNvPr>
          <p:cNvSpPr>
            <a:spLocks xmlns:a="http://schemas.openxmlformats.org/drawingml/2006/main" noGrp="1"/>
          </p:cNvSpPr>
          <p:nvPr/>
        </p:nvSpPr>
        <p:spPr>
          <a:xfrm xmlns:a="http://schemas.openxmlformats.org/drawingml/2006/main">
            <a:off x="609600" y="885825"/>
            <a:ext cx="11049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00" b="1">
                <a:solidFill>
                  <a:srgbClr val="FFFFFF"/>
                </a:solidFill>
                <a:latin typeface="Segoe UI"/>
                <a:ea typeface="Segoe UI"/>
                <a:cs typeface="Segoe UI"/>
              </a:defRPr>
            </a:defPPr>
          </a:lstStyle>
          <a:p xmlns:a="http://schemas.openxmlformats.org/drawingml/2006/main">
            <a:pPr algn="l">
              <a:defRPr sz="6900" b="1">
                <a:solidFill>
                  <a:srgbClr val="FFFFFF"/>
                </a:solidFill>
                <a:latin typeface="Segoe UI"/>
                <a:ea typeface="Segoe UI"/>
                <a:cs typeface="Segoe UI"/>
              </a:defRPr>
            </a:pPr>
            <a:r>
              <a:rPr sz="6900" b="1">
                <a:solidFill>
                  <a:srgbClr val="FFFFFF"/>
                </a:solidFill>
                <a:latin typeface="Segoe UI"/>
                <a:ea typeface="Segoe UI"/>
                <a:cs typeface="Segoe UI"/>
              </a:rPr>
              <a:t>RecallScope</a:t>
            </a:r>
          </a:p>
        </p:txBody>
      </p:sp>
      <p:sp>
        <p:nvSpPr>
          <p:cNvPr id="2" name="Pharmaceutical distribution">
            <a:extLst xmlns:a="http://schemas.openxmlformats.org/drawingml/2006/main">
              <a:ext uri="{FF2B5EF4-FFF2-40B4-BE49-F238E27FC236}">
                <a16:creationId xmlns:a16="http://schemas.microsoft.com/office/drawing/2014/main" id="{26EC8829-D642-4700-85C4-B5267FC54FE2}"/>
              </a:ext>
            </a:extLst>
          </p:cNvPr>
          <p:cNvSpPr>
            <a:spLocks xmlns:a="http://schemas.openxmlformats.org/drawingml/2006/main" noGrp="1"/>
          </p:cNvSpPr>
          <p:nvPr/>
        </p:nvSpPr>
        <p:spPr>
          <a:xfrm xmlns:a="http://schemas.openxmlformats.org/drawingml/2006/main">
            <a:off x="657225" y="2114550"/>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92D0B4"/>
                </a:solidFill>
                <a:latin typeface="Segoe UI"/>
                <a:ea typeface="Segoe UI"/>
                <a:cs typeface="Segoe UI"/>
              </a:defRPr>
            </a:defPPr>
          </a:lstStyle>
          <a:p xmlns:a="http://schemas.openxmlformats.org/drawingml/2006/main">
            <a:pPr algn="l">
              <a:defRPr sz="2175" b="0">
                <a:solidFill>
                  <a:srgbClr val="92D0B4"/>
                </a:solidFill>
                <a:latin typeface="Segoe UI"/>
                <a:ea typeface="Segoe UI"/>
                <a:cs typeface="Segoe UI"/>
              </a:defRPr>
            </a:pPr>
            <a:r>
              <a:rPr sz="2175" b="0">
                <a:solidFill>
                  <a:srgbClr val="92D0B4"/>
                </a:solidFill>
                <a:latin typeface="Segoe UI"/>
                <a:ea typeface="Segoe UI"/>
                <a:cs typeface="Segoe UI"/>
              </a:rPr>
              <a:t>Pharmaceutical distribution</a:t>
            </a:r>
          </a:p>
        </p:txBody>
      </p:sp>
      <p:sp>
        <p:nvSpPr>
          <p:cNvPr id="3" name="Know where every affected batch went.&#10;Account for what comes">
            <a:extLst xmlns:a="http://schemas.openxmlformats.org/drawingml/2006/main">
              <a:ext uri="{FF2B5EF4-FFF2-40B4-BE49-F238E27FC236}">
                <a16:creationId xmlns:a16="http://schemas.microsoft.com/office/drawing/2014/main" id="{8F387E1B-85E7-4E2C-B85E-99C3729E64C6}"/>
              </a:ext>
            </a:extLst>
          </p:cNvPr>
          <p:cNvSpPr>
            <a:spLocks xmlns:a="http://schemas.openxmlformats.org/drawingml/2006/main" noGrp="1"/>
          </p:cNvSpPr>
          <p:nvPr/>
        </p:nvSpPr>
        <p:spPr>
          <a:xfrm xmlns:a="http://schemas.openxmlformats.org/drawingml/2006/main">
            <a:off x="647700" y="3171825"/>
            <a:ext cx="9144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FFFFFF"/>
                </a:solidFill>
                <a:latin typeface="Georgia"/>
                <a:ea typeface="Georgia"/>
                <a:cs typeface="Georgia"/>
              </a:defRPr>
            </a:defPPr>
          </a:lstStyle>
          <a:p xmlns:a="http://schemas.openxmlformats.org/drawingml/2006/main">
            <a:pPr algn="l">
              <a:defRPr sz="2850" b="0">
                <a:solidFill>
                  <a:srgbClr val="FFFFFF"/>
                </a:solidFill>
                <a:latin typeface="Georgia"/>
                <a:ea typeface="Georgia"/>
                <a:cs typeface="Georgia"/>
              </a:defRPr>
            </a:pPr>
            <a:r>
              <a:rPr sz="2850" b="0">
                <a:solidFill>
                  <a:srgbClr val="FFFFFF"/>
                </a:solidFill>
                <a:latin typeface="Georgia"/>
                <a:ea typeface="Georgia"/>
                <a:cs typeface="Georgia"/>
              </a:rPr>
              <a:t>Know where every affected batch went.</a:t>
            </a:r>
          </a:p>
          <a:p xmlns:a="http://schemas.openxmlformats.org/drawingml/2006/main">
            <a:pPr algn="l">
              <a:defRPr sz="2850" b="0">
                <a:solidFill>
                  <a:srgbClr val="FFFFFF"/>
                </a:solidFill>
                <a:latin typeface="Georgia"/>
                <a:ea typeface="Georgia"/>
                <a:cs typeface="Georgia"/>
              </a:defRPr>
            </a:pPr>
            <a:r>
              <a:rPr sz="2850" b="0">
                <a:solidFill>
                  <a:srgbClr val="FFFFFF"/>
                </a:solidFill>
                <a:latin typeface="Georgia"/>
                <a:ea typeface="Georgia"/>
                <a:cs typeface="Georgia"/>
              </a:rPr>
              <a:t>Account for what comes back.</a:t>
            </a:r>
          </a:p>
        </p:txBody>
      </p:sp>
      <p:sp>
        <p:nvSpPr>
          <p:cNvPr id="4" name="rule">
            <a:extLst xmlns:a="http://schemas.openxmlformats.org/drawingml/2006/main">
              <a:ext uri="{FF2B5EF4-FFF2-40B4-BE49-F238E27FC236}">
                <a16:creationId xmlns:a16="http://schemas.microsoft.com/office/drawing/2014/main" id="{2F6CBEBE-E6EB-4A06-9E36-2790030DF41D}"/>
              </a:ext>
            </a:extLst>
          </p:cNvPr>
          <p:cNvSpPr>
            <a:spLocks xmlns:a="http://schemas.openxmlformats.org/drawingml/2006/main" noGrp="1"/>
          </p:cNvSpPr>
          <p:nvPr/>
        </p:nvSpPr>
        <p:spPr>
          <a:xfrm xmlns:a="http://schemas.openxmlformats.org/drawingml/2006/main">
            <a:off x="771525" y="5267325"/>
            <a:ext cx="9906000" cy="28575"/>
          </a:xfrm>
          <a:prstGeom xmlns:a="http://schemas.openxmlformats.org/drawingml/2006/main" prst="rect">
            <a:avLst/>
          </a:prstGeom>
          <a:solidFill xmlns:a="http://schemas.openxmlformats.org/drawingml/2006/main">
            <a:srgbClr val="3C5651"/>
          </a:solidFill>
          <a:ln xmlns:a="http://schemas.openxmlformats.org/drawingml/2006/main" w="0">
            <a:noFill/>
          </a:ln>
        </p:spPr>
      </p:sp>
      <p:sp>
        <p:nvSpPr>
          <p:cNvPr id="5" name="trace node">
            <a:extLst xmlns:a="http://schemas.openxmlformats.org/drawingml/2006/main">
              <a:ext uri="{FF2B5EF4-FFF2-40B4-BE49-F238E27FC236}">
                <a16:creationId xmlns:a16="http://schemas.microsoft.com/office/drawing/2014/main" id="{B82EB55B-1A8C-470F-9945-7628703861B0}"/>
              </a:ext>
            </a:extLst>
          </p:cNvPr>
          <p:cNvSpPr>
            <a:spLocks xmlns:a="http://schemas.openxmlformats.org/drawingml/2006/main" noGrp="1"/>
          </p:cNvSpPr>
          <p:nvPr/>
        </p:nvSpPr>
        <p:spPr>
          <a:xfrm xmlns:a="http://schemas.openxmlformats.org/drawingml/2006/main">
            <a:off x="695325" y="5200650"/>
            <a:ext cx="152400" cy="152400"/>
          </a:xfrm>
          <a:prstGeom xmlns:a="http://schemas.openxmlformats.org/drawingml/2006/main" prst="ellipse">
            <a:avLst/>
          </a:prstGeom>
          <a:solidFill xmlns:a="http://schemas.openxmlformats.org/drawingml/2006/main">
            <a:srgbClr val="92D0B4"/>
          </a:solidFill>
          <a:ln xmlns:a="http://schemas.openxmlformats.org/drawingml/2006/main" w="0">
            <a:noFill/>
          </a:ln>
        </p:spPr>
      </p:sp>
      <p:sp>
        <p:nvSpPr>
          <p:cNvPr id="6" name="Receipt">
            <a:extLst xmlns:a="http://schemas.openxmlformats.org/drawingml/2006/main">
              <a:ext uri="{FF2B5EF4-FFF2-40B4-BE49-F238E27FC236}">
                <a16:creationId xmlns:a16="http://schemas.microsoft.com/office/drawing/2014/main" id="{6BF09346-FDE0-451D-925B-0DB55E314B6A}"/>
              </a:ext>
            </a:extLst>
          </p:cNvPr>
          <p:cNvSpPr>
            <a:spLocks xmlns:a="http://schemas.openxmlformats.org/drawingml/2006/main" noGrp="1"/>
          </p:cNvSpPr>
          <p:nvPr/>
        </p:nvSpPr>
        <p:spPr>
          <a:xfrm xmlns:a="http://schemas.openxmlformats.org/drawingml/2006/main">
            <a:off x="733425" y="5514975"/>
            <a:ext cx="171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7E7D5"/>
                </a:solidFill>
                <a:latin typeface="Segoe UI"/>
                <a:ea typeface="Segoe UI"/>
                <a:cs typeface="Segoe UI"/>
              </a:defRPr>
            </a:defPPr>
          </a:lstStyle>
          <a:p xmlns:a="http://schemas.openxmlformats.org/drawingml/2006/main">
            <a:pPr algn="l">
              <a:defRPr sz="1800" b="0">
                <a:solidFill>
                  <a:srgbClr val="D7E7D5"/>
                </a:solidFill>
                <a:latin typeface="Segoe UI"/>
                <a:ea typeface="Segoe UI"/>
                <a:cs typeface="Segoe UI"/>
              </a:defRPr>
            </a:pPr>
            <a:r>
              <a:rPr sz="1800" b="0">
                <a:solidFill>
                  <a:srgbClr val="D7E7D5"/>
                </a:solidFill>
                <a:latin typeface="Segoe UI"/>
                <a:ea typeface="Segoe UI"/>
                <a:cs typeface="Segoe UI"/>
              </a:rPr>
              <a:t>Receipt</a:t>
            </a:r>
          </a:p>
        </p:txBody>
      </p:sp>
      <p:sp>
        <p:nvSpPr>
          <p:cNvPr id="7" name="trace node">
            <a:extLst xmlns:a="http://schemas.openxmlformats.org/drawingml/2006/main">
              <a:ext uri="{FF2B5EF4-FFF2-40B4-BE49-F238E27FC236}">
                <a16:creationId xmlns:a16="http://schemas.microsoft.com/office/drawing/2014/main" id="{641B0E25-4E4B-4897-9FBF-C9BE09E8B152}"/>
              </a:ext>
            </a:extLst>
          </p:cNvPr>
          <p:cNvSpPr>
            <a:spLocks xmlns:a="http://schemas.openxmlformats.org/drawingml/2006/main" noGrp="1"/>
          </p:cNvSpPr>
          <p:nvPr/>
        </p:nvSpPr>
        <p:spPr>
          <a:xfrm xmlns:a="http://schemas.openxmlformats.org/drawingml/2006/main">
            <a:off x="3867150" y="5200650"/>
            <a:ext cx="152400" cy="152400"/>
          </a:xfrm>
          <a:prstGeom xmlns:a="http://schemas.openxmlformats.org/drawingml/2006/main" prst="ellipse">
            <a:avLst/>
          </a:prstGeom>
          <a:solidFill xmlns:a="http://schemas.openxmlformats.org/drawingml/2006/main">
            <a:srgbClr val="92D0B4"/>
          </a:solidFill>
          <a:ln xmlns:a="http://schemas.openxmlformats.org/drawingml/2006/main" w="0">
            <a:noFill/>
          </a:ln>
        </p:spPr>
      </p:sp>
      <p:sp>
        <p:nvSpPr>
          <p:cNvPr id="8" name="Batch">
            <a:extLst xmlns:a="http://schemas.openxmlformats.org/drawingml/2006/main">
              <a:ext uri="{FF2B5EF4-FFF2-40B4-BE49-F238E27FC236}">
                <a16:creationId xmlns:a16="http://schemas.microsoft.com/office/drawing/2014/main" id="{EE87F8E5-89A2-420A-925A-0F23ECBA95AA}"/>
              </a:ext>
            </a:extLst>
          </p:cNvPr>
          <p:cNvSpPr>
            <a:spLocks xmlns:a="http://schemas.openxmlformats.org/drawingml/2006/main" noGrp="1"/>
          </p:cNvSpPr>
          <p:nvPr/>
        </p:nvSpPr>
        <p:spPr>
          <a:xfrm xmlns:a="http://schemas.openxmlformats.org/drawingml/2006/main">
            <a:off x="3905250" y="5514975"/>
            <a:ext cx="171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7E7D5"/>
                </a:solidFill>
                <a:latin typeface="Segoe UI"/>
                <a:ea typeface="Segoe UI"/>
                <a:cs typeface="Segoe UI"/>
              </a:defRPr>
            </a:defPPr>
          </a:lstStyle>
          <a:p xmlns:a="http://schemas.openxmlformats.org/drawingml/2006/main">
            <a:pPr algn="l">
              <a:defRPr sz="1800" b="0">
                <a:solidFill>
                  <a:srgbClr val="D7E7D5"/>
                </a:solidFill>
                <a:latin typeface="Segoe UI"/>
                <a:ea typeface="Segoe UI"/>
                <a:cs typeface="Segoe UI"/>
              </a:defRPr>
            </a:pPr>
            <a:r>
              <a:rPr sz="1800" b="0">
                <a:solidFill>
                  <a:srgbClr val="D7E7D5"/>
                </a:solidFill>
                <a:latin typeface="Segoe UI"/>
                <a:ea typeface="Segoe UI"/>
                <a:cs typeface="Segoe UI"/>
              </a:rPr>
              <a:t>Batch</a:t>
            </a:r>
          </a:p>
        </p:txBody>
      </p:sp>
      <p:sp>
        <p:nvSpPr>
          <p:cNvPr id="9" name="trace node">
            <a:extLst xmlns:a="http://schemas.openxmlformats.org/drawingml/2006/main">
              <a:ext uri="{FF2B5EF4-FFF2-40B4-BE49-F238E27FC236}">
                <a16:creationId xmlns:a16="http://schemas.microsoft.com/office/drawing/2014/main" id="{4B63D8F2-5125-4C27-9A5E-0FFD18C9387D}"/>
              </a:ext>
            </a:extLst>
          </p:cNvPr>
          <p:cNvSpPr>
            <a:spLocks xmlns:a="http://schemas.openxmlformats.org/drawingml/2006/main" noGrp="1"/>
          </p:cNvSpPr>
          <p:nvPr/>
        </p:nvSpPr>
        <p:spPr>
          <a:xfrm xmlns:a="http://schemas.openxmlformats.org/drawingml/2006/main">
            <a:off x="7038975" y="5200650"/>
            <a:ext cx="152400" cy="152400"/>
          </a:xfrm>
          <a:prstGeom xmlns:a="http://schemas.openxmlformats.org/drawingml/2006/main" prst="ellipse">
            <a:avLst/>
          </a:prstGeom>
          <a:solidFill xmlns:a="http://schemas.openxmlformats.org/drawingml/2006/main">
            <a:srgbClr val="92D0B4"/>
          </a:solidFill>
          <a:ln xmlns:a="http://schemas.openxmlformats.org/drawingml/2006/main" w="0">
            <a:noFill/>
          </a:ln>
        </p:spPr>
      </p:sp>
      <p:sp>
        <p:nvSpPr>
          <p:cNvPr id="10" name="Recipient">
            <a:extLst xmlns:a="http://schemas.openxmlformats.org/drawingml/2006/main">
              <a:ext uri="{FF2B5EF4-FFF2-40B4-BE49-F238E27FC236}">
                <a16:creationId xmlns:a16="http://schemas.microsoft.com/office/drawing/2014/main" id="{35C08C57-F50C-4631-9E1B-9B69CEF9EE4A}"/>
              </a:ext>
            </a:extLst>
          </p:cNvPr>
          <p:cNvSpPr>
            <a:spLocks xmlns:a="http://schemas.openxmlformats.org/drawingml/2006/main" noGrp="1"/>
          </p:cNvSpPr>
          <p:nvPr/>
        </p:nvSpPr>
        <p:spPr>
          <a:xfrm xmlns:a="http://schemas.openxmlformats.org/drawingml/2006/main">
            <a:off x="7077075" y="5514975"/>
            <a:ext cx="171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7E7D5"/>
                </a:solidFill>
                <a:latin typeface="Segoe UI"/>
                <a:ea typeface="Segoe UI"/>
                <a:cs typeface="Segoe UI"/>
              </a:defRPr>
            </a:defPPr>
          </a:lstStyle>
          <a:p xmlns:a="http://schemas.openxmlformats.org/drawingml/2006/main">
            <a:pPr algn="l">
              <a:defRPr sz="1800" b="0">
                <a:solidFill>
                  <a:srgbClr val="D7E7D5"/>
                </a:solidFill>
                <a:latin typeface="Segoe UI"/>
                <a:ea typeface="Segoe UI"/>
                <a:cs typeface="Segoe UI"/>
              </a:defRPr>
            </a:pPr>
            <a:r>
              <a:rPr sz="1800" b="0">
                <a:solidFill>
                  <a:srgbClr val="D7E7D5"/>
                </a:solidFill>
                <a:latin typeface="Segoe UI"/>
                <a:ea typeface="Segoe UI"/>
                <a:cs typeface="Segoe UI"/>
              </a:rPr>
              <a:t>Recipient</a:t>
            </a:r>
          </a:p>
        </p:txBody>
      </p:sp>
      <p:sp>
        <p:nvSpPr>
          <p:cNvPr id="11" name="trace node">
            <a:extLst xmlns:a="http://schemas.openxmlformats.org/drawingml/2006/main">
              <a:ext uri="{FF2B5EF4-FFF2-40B4-BE49-F238E27FC236}">
                <a16:creationId xmlns:a16="http://schemas.microsoft.com/office/drawing/2014/main" id="{338211DD-428C-427C-A5F1-3B914D13C79B}"/>
              </a:ext>
            </a:extLst>
          </p:cNvPr>
          <p:cNvSpPr>
            <a:spLocks xmlns:a="http://schemas.openxmlformats.org/drawingml/2006/main" noGrp="1"/>
          </p:cNvSpPr>
          <p:nvPr/>
        </p:nvSpPr>
        <p:spPr>
          <a:xfrm xmlns:a="http://schemas.openxmlformats.org/drawingml/2006/main">
            <a:off x="10601325" y="5200650"/>
            <a:ext cx="152400" cy="152400"/>
          </a:xfrm>
          <a:prstGeom xmlns:a="http://schemas.openxmlformats.org/drawingml/2006/main" prst="ellipse">
            <a:avLst/>
          </a:prstGeom>
          <a:solidFill xmlns:a="http://schemas.openxmlformats.org/drawingml/2006/main">
            <a:srgbClr val="92D0B4"/>
          </a:solidFill>
          <a:ln xmlns:a="http://schemas.openxmlformats.org/drawingml/2006/main" w="0">
            <a:noFill/>
          </a:ln>
        </p:spPr>
      </p:sp>
      <p:sp>
        <p:nvSpPr>
          <p:cNvPr id="12" name="Return">
            <a:extLst xmlns:a="http://schemas.openxmlformats.org/drawingml/2006/main">
              <a:ext uri="{FF2B5EF4-FFF2-40B4-BE49-F238E27FC236}">
                <a16:creationId xmlns:a16="http://schemas.microsoft.com/office/drawing/2014/main" id="{BB43958E-666B-431B-AC92-0DA1EAFD60F4}"/>
              </a:ext>
            </a:extLst>
          </p:cNvPr>
          <p:cNvSpPr>
            <a:spLocks xmlns:a="http://schemas.openxmlformats.org/drawingml/2006/main" noGrp="1"/>
          </p:cNvSpPr>
          <p:nvPr/>
        </p:nvSpPr>
        <p:spPr>
          <a:xfrm xmlns:a="http://schemas.openxmlformats.org/drawingml/2006/main">
            <a:off x="10001250" y="5514975"/>
            <a:ext cx="171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7E7D5"/>
                </a:solidFill>
                <a:latin typeface="Segoe UI"/>
                <a:ea typeface="Segoe UI"/>
                <a:cs typeface="Segoe UI"/>
              </a:defRPr>
            </a:defPPr>
          </a:lstStyle>
          <a:p xmlns:a="http://schemas.openxmlformats.org/drawingml/2006/main">
            <a:pPr algn="l">
              <a:defRPr sz="1800" b="0">
                <a:solidFill>
                  <a:srgbClr val="D7E7D5"/>
                </a:solidFill>
                <a:latin typeface="Segoe UI"/>
                <a:ea typeface="Segoe UI"/>
                <a:cs typeface="Segoe UI"/>
              </a:defRPr>
            </a:pPr>
            <a:r>
              <a:rPr sz="1800" b="0">
                <a:solidFill>
                  <a:srgbClr val="D7E7D5"/>
                </a:solidFill>
                <a:latin typeface="Segoe UI"/>
                <a:ea typeface="Segoe UI"/>
                <a:cs typeface="Segoe UI"/>
              </a:rPr>
              <a:t>Return</a:t>
            </a:r>
          </a:p>
        </p:txBody>
      </p:sp>
      <p:sp>
        <p:nvSpPr>
          <p:cNvPr id="13" name="Team Console">
            <a:extLst xmlns:a="http://schemas.openxmlformats.org/drawingml/2006/main">
              <a:ext uri="{FF2B5EF4-FFF2-40B4-BE49-F238E27FC236}">
                <a16:creationId xmlns:a16="http://schemas.microsoft.com/office/drawing/2014/main" id="{7748FD27-DA6D-4E89-BDB9-C3045F2DF30F}"/>
              </a:ext>
            </a:extLst>
          </p:cNvPr>
          <p:cNvSpPr>
            <a:spLocks xmlns:a="http://schemas.openxmlformats.org/drawingml/2006/main" noGrp="1"/>
          </p:cNvSpPr>
          <p:nvPr/>
        </p:nvSpPr>
        <p:spPr>
          <a:xfrm xmlns:a="http://schemas.openxmlformats.org/drawingml/2006/main">
            <a:off x="647700" y="63531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D7E7D5"/>
                </a:solidFill>
                <a:latin typeface="Segoe UI"/>
                <a:ea typeface="Segoe UI"/>
                <a:cs typeface="Segoe UI"/>
              </a:defRPr>
            </a:defPPr>
          </a:lstStyle>
          <a:p xmlns:a="http://schemas.openxmlformats.org/drawingml/2006/main">
            <a:pPr algn="l">
              <a:defRPr sz="1425" b="0">
                <a:solidFill>
                  <a:srgbClr val="D7E7D5"/>
                </a:solidFill>
                <a:latin typeface="Segoe UI"/>
                <a:ea typeface="Segoe UI"/>
                <a:cs typeface="Segoe UI"/>
              </a:defRPr>
            </a:pPr>
            <a:r>
              <a:rPr sz="1425" b="0">
                <a:solidFill>
                  <a:srgbClr val="D7E7D5"/>
                </a:solidFill>
                <a:latin typeface="Segoe UI"/>
                <a:ea typeface="Segoe UI"/>
                <a:cs typeface="Segoe UI"/>
              </a:rPr>
              <a:t>Team Console</a:t>
            </a:r>
          </a:p>
        </p:txBody>
      </p:sp>
      <p:sp>
        <p:nvSpPr>
          <p:cNvPr id="14" name="October 2026">
            <a:extLst xmlns:a="http://schemas.openxmlformats.org/drawingml/2006/main">
              <a:ext uri="{FF2B5EF4-FFF2-40B4-BE49-F238E27FC236}">
                <a16:creationId xmlns:a16="http://schemas.microsoft.com/office/drawing/2014/main" id="{EC94D89B-85D6-4853-90EA-B6A2CE48F06C}"/>
              </a:ext>
            </a:extLst>
          </p:cNvPr>
          <p:cNvSpPr>
            <a:spLocks xmlns:a="http://schemas.openxmlformats.org/drawingml/2006/main" noGrp="1"/>
          </p:cNvSpPr>
          <p:nvPr/>
        </p:nvSpPr>
        <p:spPr>
          <a:xfrm xmlns:a="http://schemas.openxmlformats.org/drawingml/2006/main">
            <a:off x="9382125" y="6353175"/>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D7E7D5"/>
                </a:solidFill>
                <a:latin typeface="Segoe UI"/>
                <a:ea typeface="Segoe UI"/>
                <a:cs typeface="Segoe UI"/>
              </a:defRPr>
            </a:defPPr>
          </a:lstStyle>
          <a:p xmlns:a="http://schemas.openxmlformats.org/drawingml/2006/main">
            <a:pPr algn="r">
              <a:defRPr sz="1425" b="0">
                <a:solidFill>
                  <a:srgbClr val="D7E7D5"/>
                </a:solidFill>
                <a:latin typeface="Segoe UI"/>
                <a:ea typeface="Segoe UI"/>
                <a:cs typeface="Segoe UI"/>
              </a:defRPr>
            </a:pPr>
            <a:r>
              <a:rPr sz="1425" b="0">
                <a:solidFill>
                  <a:srgbClr val="D7E7D5"/>
                </a:solidFill>
                <a:latin typeface="Segoe UI"/>
                <a:ea typeface="Segoe UI"/>
                <a:cs typeface="Segoe UI"/>
              </a:rPr>
              <a:t>October 2026</a:t>
            </a:r>
          </a:p>
        </p:txBody>
      </p:sp>
    </p:spTree>
    <p:extLst>
      <p:ext uri="{BB962C8B-B14F-4D97-AF65-F5344CB8AC3E}">
        <p14:creationId xmlns:p14="http://schemas.microsoft.com/office/powerpoint/2010/main" val="2028146233"/>
      </p:ext>
    </p:extLst>
  </p:cSld>
</p:sld>
</file>

<file path=ppt/slides/slide2.xml><?xml version="1.0" encoding="utf-8"?>
<p:sld xmlns:p="http://schemas.openxmlformats.org/presentationml/2006/main">
  <p:cSld>
    <p:bg>
      <p:bgPr>
        <a:solidFill xmlns:a="http://schemas.openxmlformats.org/drawingml/2006/main">
          <a:srgbClr val="F4F5F2"/>
        </a:solidFill>
      </p:bgPr>
    </p:bg>
    <p:spTree>
      <p:nvGrpSpPr>
        <p:cNvPr id="1" name=""/>
        <p:cNvGrpSpPr/>
        <p:nvPr/>
      </p:nvGrpSpPr>
      <p:grpSpPr>
        <a:xfrm xmlns:a="http://schemas.openxmlformats.org/drawingml/2006/main"/>
      </p:grpSpPr>
      <p:sp>
        <p:nvSpPr>
          <p:cNvPr id="27" name="The recall evidence gap">
            <a:extLst xmlns:a="http://schemas.openxmlformats.org/drawingml/2006/main">
              <a:ext uri="{FF2B5EF4-FFF2-40B4-BE49-F238E27FC236}">
                <a16:creationId xmlns:a16="http://schemas.microsoft.com/office/drawing/2014/main" id="{168A226E-2225-4511-B4AA-D23C79A31879}"/>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203333"/>
                </a:solidFill>
                <a:latin typeface="Georgia"/>
                <a:ea typeface="Georgia"/>
                <a:cs typeface="Georgia"/>
              </a:defRPr>
            </a:defPPr>
          </a:lstStyle>
          <a:p xmlns:a="http://schemas.openxmlformats.org/drawingml/2006/main">
            <a:pPr algn="l">
              <a:defRPr sz="3450" b="0">
                <a:solidFill>
                  <a:srgbClr val="203333"/>
                </a:solidFill>
                <a:latin typeface="Georgia"/>
                <a:ea typeface="Georgia"/>
                <a:cs typeface="Georgia"/>
              </a:defRPr>
            </a:pPr>
            <a:r>
              <a:rPr sz="3450" b="0">
                <a:solidFill>
                  <a:srgbClr val="203333"/>
                </a:solidFill>
                <a:latin typeface="Georgia"/>
                <a:ea typeface="Georgia"/>
                <a:cs typeface="Georgia"/>
              </a:rPr>
              <a:t>The recall evidence gap</a:t>
            </a:r>
          </a:p>
        </p:txBody>
      </p:sp>
      <p:sp>
        <p:nvSpPr>
          <p:cNvPr id="2" name="RecallScope">
            <a:extLst xmlns:a="http://schemas.openxmlformats.org/drawingml/2006/main">
              <a:ext uri="{FF2B5EF4-FFF2-40B4-BE49-F238E27FC236}">
                <a16:creationId xmlns:a16="http://schemas.microsoft.com/office/drawing/2014/main" id="{5833BF0C-54D0-4155-9940-5D1E70F0F643}"/>
              </a:ext>
            </a:extLst>
          </p:cNvPr>
          <p:cNvSpPr>
            <a:spLocks xmlns:a="http://schemas.openxmlformats.org/drawingml/2006/main" noGrp="1"/>
          </p:cNvSpPr>
          <p:nvPr/>
        </p:nvSpPr>
        <p:spPr>
          <a:xfrm xmlns:a="http://schemas.openxmlformats.org/drawingml/2006/main">
            <a:off x="609600" y="6438900"/>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667873"/>
                </a:solidFill>
                <a:latin typeface="Segoe UI"/>
                <a:ea typeface="Segoe UI"/>
                <a:cs typeface="Segoe UI"/>
              </a:defRPr>
            </a:defPPr>
          </a:lstStyle>
          <a:p xmlns:a="http://schemas.openxmlformats.org/drawingml/2006/main">
            <a:pPr algn="l">
              <a:defRPr sz="1125" b="1">
                <a:solidFill>
                  <a:srgbClr val="667873"/>
                </a:solidFill>
                <a:latin typeface="Segoe UI"/>
                <a:ea typeface="Segoe UI"/>
                <a:cs typeface="Segoe UI"/>
              </a:defRPr>
            </a:pPr>
            <a:r>
              <a:rPr sz="1125" b="1">
                <a:solidFill>
                  <a:srgbClr val="667873"/>
                </a:solidFill>
                <a:latin typeface="Segoe UI"/>
                <a:ea typeface="Segoe UI"/>
                <a:cs typeface="Segoe UI"/>
              </a:rPr>
              <a:t>RecallScope</a:t>
            </a:r>
          </a:p>
        </p:txBody>
      </p:sp>
      <p:sp>
        <p:nvSpPr>
          <p:cNvPr id="3" name="02">
            <a:extLst xmlns:a="http://schemas.openxmlformats.org/drawingml/2006/main">
              <a:ext uri="{FF2B5EF4-FFF2-40B4-BE49-F238E27FC236}">
                <a16:creationId xmlns:a16="http://schemas.microsoft.com/office/drawing/2014/main" id="{0DF0A30A-5D4D-4C2E-84A5-BE5ED3F91FAE}"/>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67873"/>
                </a:solidFill>
                <a:latin typeface="Segoe UI"/>
                <a:ea typeface="Segoe UI"/>
                <a:cs typeface="Segoe UI"/>
              </a:defRPr>
            </a:defPPr>
          </a:lstStyle>
          <a:p xmlns:a="http://schemas.openxmlformats.org/drawingml/2006/main">
            <a:pPr algn="r">
              <a:defRPr sz="1125" b="0">
                <a:solidFill>
                  <a:srgbClr val="667873"/>
                </a:solidFill>
                <a:latin typeface="Segoe UI"/>
                <a:ea typeface="Segoe UI"/>
                <a:cs typeface="Segoe UI"/>
              </a:defRPr>
            </a:pPr>
            <a:r>
              <a:rPr sz="1125" b="0">
                <a:solidFill>
                  <a:srgbClr val="667873"/>
                </a:solidFill>
                <a:latin typeface="Segoe UI"/>
                <a:ea typeface="Segoe UI"/>
                <a:cs typeface="Segoe UI"/>
              </a:rPr>
              <a:t>02</a:t>
            </a:r>
          </a:p>
        </p:txBody>
      </p:sp>
      <p:sp>
        <p:nvSpPr>
          <p:cNvPr id="4" name="A recall must connect the right medicine and batch&#10;to every ">
            <a:extLst xmlns:a="http://schemas.openxmlformats.org/drawingml/2006/main">
              <a:ext uri="{FF2B5EF4-FFF2-40B4-BE49-F238E27FC236}">
                <a16:creationId xmlns:a16="http://schemas.microsoft.com/office/drawing/2014/main" id="{98BB7CFC-7B80-4FBE-BBDF-91D940DF0D23}"/>
              </a:ext>
            </a:extLst>
          </p:cNvPr>
          <p:cNvSpPr>
            <a:spLocks xmlns:a="http://schemas.openxmlformats.org/drawingml/2006/main" noGrp="1"/>
          </p:cNvSpPr>
          <p:nvPr/>
        </p:nvSpPr>
        <p:spPr>
          <a:xfrm xmlns:a="http://schemas.openxmlformats.org/drawingml/2006/main">
            <a:off x="609600" y="14382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03333"/>
                </a:solidFill>
                <a:latin typeface="Segoe UI"/>
                <a:ea typeface="Segoe UI"/>
                <a:cs typeface="Segoe UI"/>
              </a:defRPr>
            </a:defPPr>
          </a:lstStyle>
          <a:p xmlns:a="http://schemas.openxmlformats.org/drawingml/2006/main">
            <a:pPr algn="l">
              <a:defRPr sz="2325" b="0">
                <a:solidFill>
                  <a:srgbClr val="203333"/>
                </a:solidFill>
                <a:latin typeface="Segoe UI"/>
                <a:ea typeface="Segoe UI"/>
                <a:cs typeface="Segoe UI"/>
              </a:defRPr>
            </a:pPr>
            <a:r>
              <a:rPr sz="2325" b="0">
                <a:solidFill>
                  <a:srgbClr val="203333"/>
                </a:solidFill>
                <a:latin typeface="Segoe UI"/>
                <a:ea typeface="Segoe UI"/>
                <a:cs typeface="Segoe UI"/>
              </a:rPr>
              <a:t>A recall must connect the right medicine and batch</a:t>
            </a:r>
          </a:p>
          <a:p xmlns:a="http://schemas.openxmlformats.org/drawingml/2006/main">
            <a:pPr algn="l">
              <a:defRPr sz="2325" b="0">
                <a:solidFill>
                  <a:srgbClr val="203333"/>
                </a:solidFill>
                <a:latin typeface="Segoe UI"/>
                <a:ea typeface="Segoe UI"/>
                <a:cs typeface="Segoe UI"/>
              </a:defRPr>
            </a:pPr>
            <a:r>
              <a:rPr sz="2325" b="0">
                <a:solidFill>
                  <a:srgbClr val="203333"/>
                </a:solidFill>
                <a:latin typeface="Segoe UI"/>
                <a:ea typeface="Segoe UI"/>
                <a:cs typeface="Segoe UI"/>
              </a:rPr>
              <a:t>to every recorded destination and return.</a:t>
            </a:r>
          </a:p>
        </p:txBody>
      </p:sp>
      <p:sp>
        <p:nvSpPr>
          <p:cNvPr id="5" name="Goods received">
            <a:extLst xmlns:a="http://schemas.openxmlformats.org/drawingml/2006/main">
              <a:ext uri="{FF2B5EF4-FFF2-40B4-BE49-F238E27FC236}">
                <a16:creationId xmlns:a16="http://schemas.microsoft.com/office/drawing/2014/main" id="{4E758DA0-A174-495D-9262-3FB278FA884F}"/>
              </a:ext>
            </a:extLst>
          </p:cNvPr>
          <p:cNvSpPr>
            <a:spLocks xmlns:a="http://schemas.openxmlformats.org/drawingml/2006/main" noGrp="1"/>
          </p:cNvSpPr>
          <p:nvPr/>
        </p:nvSpPr>
        <p:spPr>
          <a:xfrm xmlns:a="http://schemas.openxmlformats.org/drawingml/2006/main">
            <a:off x="609600" y="2743200"/>
            <a:ext cx="3267075" cy="2200275"/>
          </a:xfrm>
          <a:prstGeom xmlns:a="http://schemas.openxmlformats.org/drawingml/2006/main" prst="roundRect">
            <a:avLst>
              <a:gd name="adj" fmla="val 2165"/>
            </a:avLst>
          </a:prstGeom>
          <a:solidFill xmlns:a="http://schemas.openxmlformats.org/drawingml/2006/main">
            <a:srgbClr val="FFFFFF"/>
          </a:solidFill>
          <a:ln xmlns:a="http://schemas.openxmlformats.org/drawingml/2006/main" w="13335">
            <a:solidFill>
              <a:srgbClr val="DDE4DD"/>
            </a:solidFill>
          </a:ln>
        </p:spPr>
      </p:sp>
      <p:sp>
        <p:nvSpPr>
          <p:cNvPr id="6" name="Goods received">
            <a:extLst xmlns:a="http://schemas.openxmlformats.org/drawingml/2006/main">
              <a:ext uri="{FF2B5EF4-FFF2-40B4-BE49-F238E27FC236}">
                <a16:creationId xmlns:a16="http://schemas.microsoft.com/office/drawing/2014/main" id="{E987FBDD-D95F-4503-9335-51941451AC65}"/>
              </a:ext>
            </a:extLst>
          </p:cNvPr>
          <p:cNvSpPr>
            <a:spLocks xmlns:a="http://schemas.openxmlformats.org/drawingml/2006/main" noGrp="1"/>
          </p:cNvSpPr>
          <p:nvPr/>
        </p:nvSpPr>
        <p:spPr>
          <a:xfrm xmlns:a="http://schemas.openxmlformats.org/drawingml/2006/main">
            <a:off x="819150" y="2933700"/>
            <a:ext cx="28479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7645B"/>
                </a:solidFill>
                <a:latin typeface="Segoe UI"/>
                <a:ea typeface="Segoe UI"/>
                <a:cs typeface="Segoe UI"/>
              </a:defRPr>
            </a:defPPr>
          </a:lstStyle>
          <a:p xmlns:a="http://schemas.openxmlformats.org/drawingml/2006/main">
            <a:pPr algn="l">
              <a:defRPr sz="1800" b="1">
                <a:solidFill>
                  <a:srgbClr val="17645B"/>
                </a:solidFill>
                <a:latin typeface="Segoe UI"/>
                <a:ea typeface="Segoe UI"/>
                <a:cs typeface="Segoe UI"/>
              </a:defRPr>
            </a:pPr>
            <a:r>
              <a:rPr sz="1800" b="1">
                <a:solidFill>
                  <a:srgbClr val="17645B"/>
                </a:solidFill>
                <a:latin typeface="Segoe UI"/>
                <a:ea typeface="Segoe UI"/>
                <a:cs typeface="Segoe UI"/>
              </a:rPr>
              <a:t>Goods received</a:t>
            </a:r>
          </a:p>
        </p:txBody>
      </p:sp>
      <p:sp>
        <p:nvSpPr>
          <p:cNvPr id="7" name="rule">
            <a:extLst xmlns:a="http://schemas.openxmlformats.org/drawingml/2006/main">
              <a:ext uri="{FF2B5EF4-FFF2-40B4-BE49-F238E27FC236}">
                <a16:creationId xmlns:a16="http://schemas.microsoft.com/office/drawing/2014/main" id="{3B9E1221-D634-4C99-9158-298FA3D61DA9}"/>
              </a:ext>
            </a:extLst>
          </p:cNvPr>
          <p:cNvSpPr>
            <a:spLocks xmlns:a="http://schemas.openxmlformats.org/drawingml/2006/main" noGrp="1"/>
          </p:cNvSpPr>
          <p:nvPr/>
        </p:nvSpPr>
        <p:spPr>
          <a:xfrm xmlns:a="http://schemas.openxmlformats.org/drawingml/2006/main">
            <a:off x="819150" y="3371850"/>
            <a:ext cx="2847975" cy="13335"/>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8" name="PAR-500-100">
            <a:extLst xmlns:a="http://schemas.openxmlformats.org/drawingml/2006/main">
              <a:ext uri="{FF2B5EF4-FFF2-40B4-BE49-F238E27FC236}">
                <a16:creationId xmlns:a16="http://schemas.microsoft.com/office/drawing/2014/main" id="{6596AD58-4131-43B9-83FD-5DAA5B490D27}"/>
              </a:ext>
            </a:extLst>
          </p:cNvPr>
          <p:cNvSpPr>
            <a:spLocks xmlns:a="http://schemas.openxmlformats.org/drawingml/2006/main" noGrp="1"/>
          </p:cNvSpPr>
          <p:nvPr/>
        </p:nvSpPr>
        <p:spPr>
          <a:xfrm xmlns:a="http://schemas.openxmlformats.org/drawingml/2006/main">
            <a:off x="819150" y="3562350"/>
            <a:ext cx="2847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PAR-500-100</a:t>
            </a:r>
          </a:p>
        </p:txBody>
      </p:sp>
      <p:sp>
        <p:nvSpPr>
          <p:cNvPr id="9" name="PCR-260901">
            <a:extLst xmlns:a="http://schemas.openxmlformats.org/drawingml/2006/main">
              <a:ext uri="{FF2B5EF4-FFF2-40B4-BE49-F238E27FC236}">
                <a16:creationId xmlns:a16="http://schemas.microsoft.com/office/drawing/2014/main" id="{8174E782-07D3-49F2-B4E0-C37714CB7508}"/>
              </a:ext>
            </a:extLst>
          </p:cNvPr>
          <p:cNvSpPr>
            <a:spLocks xmlns:a="http://schemas.openxmlformats.org/drawingml/2006/main" noGrp="1"/>
          </p:cNvSpPr>
          <p:nvPr/>
        </p:nvSpPr>
        <p:spPr>
          <a:xfrm xmlns:a="http://schemas.openxmlformats.org/drawingml/2006/main">
            <a:off x="819150" y="3943350"/>
            <a:ext cx="2847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PCR-260901</a:t>
            </a:r>
          </a:p>
        </p:txBody>
      </p:sp>
      <p:sp>
        <p:nvSpPr>
          <p:cNvPr id="10" name="1,000 boxes">
            <a:extLst xmlns:a="http://schemas.openxmlformats.org/drawingml/2006/main">
              <a:ext uri="{FF2B5EF4-FFF2-40B4-BE49-F238E27FC236}">
                <a16:creationId xmlns:a16="http://schemas.microsoft.com/office/drawing/2014/main" id="{734A7754-B034-4BC8-9470-7CDBBA022735}"/>
              </a:ext>
            </a:extLst>
          </p:cNvPr>
          <p:cNvSpPr>
            <a:spLocks xmlns:a="http://schemas.openxmlformats.org/drawingml/2006/main" noGrp="1"/>
          </p:cNvSpPr>
          <p:nvPr/>
        </p:nvSpPr>
        <p:spPr>
          <a:xfrm xmlns:a="http://schemas.openxmlformats.org/drawingml/2006/main">
            <a:off x="819150" y="4324350"/>
            <a:ext cx="2847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1,000 boxes</a:t>
            </a:r>
          </a:p>
        </p:txBody>
      </p:sp>
      <p:sp>
        <p:nvSpPr>
          <p:cNvPr id="11" name="Dispatch records">
            <a:extLst xmlns:a="http://schemas.openxmlformats.org/drawingml/2006/main">
              <a:ext uri="{FF2B5EF4-FFF2-40B4-BE49-F238E27FC236}">
                <a16:creationId xmlns:a16="http://schemas.microsoft.com/office/drawing/2014/main" id="{11D853BD-9DFA-46D3-BA3D-81D94B7019B0}"/>
              </a:ext>
            </a:extLst>
          </p:cNvPr>
          <p:cNvSpPr>
            <a:spLocks xmlns:a="http://schemas.openxmlformats.org/drawingml/2006/main" noGrp="1"/>
          </p:cNvSpPr>
          <p:nvPr/>
        </p:nvSpPr>
        <p:spPr>
          <a:xfrm xmlns:a="http://schemas.openxmlformats.org/drawingml/2006/main">
            <a:off x="4467225" y="2743200"/>
            <a:ext cx="3267075" cy="2200275"/>
          </a:xfrm>
          <a:prstGeom xmlns:a="http://schemas.openxmlformats.org/drawingml/2006/main" prst="roundRect">
            <a:avLst>
              <a:gd name="adj" fmla="val 2165"/>
            </a:avLst>
          </a:prstGeom>
          <a:solidFill xmlns:a="http://schemas.openxmlformats.org/drawingml/2006/main">
            <a:srgbClr val="FFFFFF"/>
          </a:solidFill>
          <a:ln xmlns:a="http://schemas.openxmlformats.org/drawingml/2006/main" w="13335">
            <a:solidFill>
              <a:srgbClr val="DDE4DD"/>
            </a:solidFill>
          </a:ln>
        </p:spPr>
      </p:sp>
      <p:sp>
        <p:nvSpPr>
          <p:cNvPr id="12" name="Dispatch records">
            <a:extLst xmlns:a="http://schemas.openxmlformats.org/drawingml/2006/main">
              <a:ext uri="{FF2B5EF4-FFF2-40B4-BE49-F238E27FC236}">
                <a16:creationId xmlns:a16="http://schemas.microsoft.com/office/drawing/2014/main" id="{CF946AB3-B688-49D6-8746-3E451B3654C6}"/>
              </a:ext>
            </a:extLst>
          </p:cNvPr>
          <p:cNvSpPr>
            <a:spLocks xmlns:a="http://schemas.openxmlformats.org/drawingml/2006/main" noGrp="1"/>
          </p:cNvSpPr>
          <p:nvPr/>
        </p:nvSpPr>
        <p:spPr>
          <a:xfrm xmlns:a="http://schemas.openxmlformats.org/drawingml/2006/main">
            <a:off x="4676775" y="2933700"/>
            <a:ext cx="28479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7645B"/>
                </a:solidFill>
                <a:latin typeface="Segoe UI"/>
                <a:ea typeface="Segoe UI"/>
                <a:cs typeface="Segoe UI"/>
              </a:defRPr>
            </a:defPPr>
          </a:lstStyle>
          <a:p xmlns:a="http://schemas.openxmlformats.org/drawingml/2006/main">
            <a:pPr algn="l">
              <a:defRPr sz="1800" b="1">
                <a:solidFill>
                  <a:srgbClr val="17645B"/>
                </a:solidFill>
                <a:latin typeface="Segoe UI"/>
                <a:ea typeface="Segoe UI"/>
                <a:cs typeface="Segoe UI"/>
              </a:defRPr>
            </a:pPr>
            <a:r>
              <a:rPr sz="1800" b="1">
                <a:solidFill>
                  <a:srgbClr val="17645B"/>
                </a:solidFill>
                <a:latin typeface="Segoe UI"/>
                <a:ea typeface="Segoe UI"/>
                <a:cs typeface="Segoe UI"/>
              </a:rPr>
              <a:t>Dispatch records</a:t>
            </a:r>
          </a:p>
        </p:txBody>
      </p:sp>
      <p:sp>
        <p:nvSpPr>
          <p:cNvPr id="13" name="rule">
            <a:extLst xmlns:a="http://schemas.openxmlformats.org/drawingml/2006/main">
              <a:ext uri="{FF2B5EF4-FFF2-40B4-BE49-F238E27FC236}">
                <a16:creationId xmlns:a16="http://schemas.microsoft.com/office/drawing/2014/main" id="{C33BA3F4-FB23-4CA9-96A6-3896AEBF79EE}"/>
              </a:ext>
            </a:extLst>
          </p:cNvPr>
          <p:cNvSpPr>
            <a:spLocks xmlns:a="http://schemas.openxmlformats.org/drawingml/2006/main" noGrp="1"/>
          </p:cNvSpPr>
          <p:nvPr/>
        </p:nvSpPr>
        <p:spPr>
          <a:xfrm xmlns:a="http://schemas.openxmlformats.org/drawingml/2006/main">
            <a:off x="4676775" y="3371850"/>
            <a:ext cx="2847975" cy="13335"/>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14" name="Same product and batch">
            <a:extLst xmlns:a="http://schemas.openxmlformats.org/drawingml/2006/main">
              <a:ext uri="{FF2B5EF4-FFF2-40B4-BE49-F238E27FC236}">
                <a16:creationId xmlns:a16="http://schemas.microsoft.com/office/drawing/2014/main" id="{24426770-CAFF-4195-AF7D-6FD4E5501911}"/>
              </a:ext>
            </a:extLst>
          </p:cNvPr>
          <p:cNvSpPr>
            <a:spLocks xmlns:a="http://schemas.openxmlformats.org/drawingml/2006/main" noGrp="1"/>
          </p:cNvSpPr>
          <p:nvPr/>
        </p:nvSpPr>
        <p:spPr>
          <a:xfrm xmlns:a="http://schemas.openxmlformats.org/drawingml/2006/main">
            <a:off x="4676775" y="3562350"/>
            <a:ext cx="2847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Same product and batch</a:t>
            </a:r>
          </a:p>
        </p:txBody>
      </p:sp>
      <p:sp>
        <p:nvSpPr>
          <p:cNvPr id="15" name="4 recipient sites">
            <a:extLst xmlns:a="http://schemas.openxmlformats.org/drawingml/2006/main">
              <a:ext uri="{FF2B5EF4-FFF2-40B4-BE49-F238E27FC236}">
                <a16:creationId xmlns:a16="http://schemas.microsoft.com/office/drawing/2014/main" id="{4D3987A2-14F0-4008-9213-5CAAADFE20D4}"/>
              </a:ext>
            </a:extLst>
          </p:cNvPr>
          <p:cNvSpPr>
            <a:spLocks xmlns:a="http://schemas.openxmlformats.org/drawingml/2006/main" noGrp="1"/>
          </p:cNvSpPr>
          <p:nvPr/>
        </p:nvSpPr>
        <p:spPr>
          <a:xfrm xmlns:a="http://schemas.openxmlformats.org/drawingml/2006/main">
            <a:off x="4676775" y="3943350"/>
            <a:ext cx="2847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4 recipient sites</a:t>
            </a:r>
          </a:p>
        </p:txBody>
      </p:sp>
      <p:sp>
        <p:nvSpPr>
          <p:cNvPr id="16" name="600 boxes delivered">
            <a:extLst xmlns:a="http://schemas.openxmlformats.org/drawingml/2006/main">
              <a:ext uri="{FF2B5EF4-FFF2-40B4-BE49-F238E27FC236}">
                <a16:creationId xmlns:a16="http://schemas.microsoft.com/office/drawing/2014/main" id="{1D740340-8FF0-4E26-85C0-3D8A26031C99}"/>
              </a:ext>
            </a:extLst>
          </p:cNvPr>
          <p:cNvSpPr>
            <a:spLocks xmlns:a="http://schemas.openxmlformats.org/drawingml/2006/main" noGrp="1"/>
          </p:cNvSpPr>
          <p:nvPr/>
        </p:nvSpPr>
        <p:spPr>
          <a:xfrm xmlns:a="http://schemas.openxmlformats.org/drawingml/2006/main">
            <a:off x="4676775" y="4324350"/>
            <a:ext cx="2847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600 boxes delivered</a:t>
            </a:r>
          </a:p>
        </p:txBody>
      </p:sp>
      <p:sp>
        <p:nvSpPr>
          <p:cNvPr id="17" name="Returns">
            <a:extLst xmlns:a="http://schemas.openxmlformats.org/drawingml/2006/main">
              <a:ext uri="{FF2B5EF4-FFF2-40B4-BE49-F238E27FC236}">
                <a16:creationId xmlns:a16="http://schemas.microsoft.com/office/drawing/2014/main" id="{6A5996D2-CD78-484F-A880-A67EB18B78B6}"/>
              </a:ext>
            </a:extLst>
          </p:cNvPr>
          <p:cNvSpPr>
            <a:spLocks xmlns:a="http://schemas.openxmlformats.org/drawingml/2006/main" noGrp="1"/>
          </p:cNvSpPr>
          <p:nvPr/>
        </p:nvSpPr>
        <p:spPr>
          <a:xfrm xmlns:a="http://schemas.openxmlformats.org/drawingml/2006/main">
            <a:off x="8324850" y="2743200"/>
            <a:ext cx="3257550" cy="2200275"/>
          </a:xfrm>
          <a:prstGeom xmlns:a="http://schemas.openxmlformats.org/drawingml/2006/main" prst="roundRect">
            <a:avLst>
              <a:gd name="adj" fmla="val 2165"/>
            </a:avLst>
          </a:prstGeom>
          <a:solidFill xmlns:a="http://schemas.openxmlformats.org/drawingml/2006/main">
            <a:srgbClr val="FFFFFF"/>
          </a:solidFill>
          <a:ln xmlns:a="http://schemas.openxmlformats.org/drawingml/2006/main" w="13335">
            <a:solidFill>
              <a:srgbClr val="DDE4DD"/>
            </a:solidFill>
          </a:ln>
        </p:spPr>
      </p:sp>
      <p:sp>
        <p:nvSpPr>
          <p:cNvPr id="18" name="Returns">
            <a:extLst xmlns:a="http://schemas.openxmlformats.org/drawingml/2006/main">
              <a:ext uri="{FF2B5EF4-FFF2-40B4-BE49-F238E27FC236}">
                <a16:creationId xmlns:a16="http://schemas.microsoft.com/office/drawing/2014/main" id="{7EB020B0-509C-471A-BB95-894D7A02C0EB}"/>
              </a:ext>
            </a:extLst>
          </p:cNvPr>
          <p:cNvSpPr>
            <a:spLocks xmlns:a="http://schemas.openxmlformats.org/drawingml/2006/main" noGrp="1"/>
          </p:cNvSpPr>
          <p:nvPr/>
        </p:nvSpPr>
        <p:spPr>
          <a:xfrm xmlns:a="http://schemas.openxmlformats.org/drawingml/2006/main">
            <a:off x="8534400" y="29337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7645B"/>
                </a:solidFill>
                <a:latin typeface="Segoe UI"/>
                <a:ea typeface="Segoe UI"/>
                <a:cs typeface="Segoe UI"/>
              </a:defRPr>
            </a:defPPr>
          </a:lstStyle>
          <a:p xmlns:a="http://schemas.openxmlformats.org/drawingml/2006/main">
            <a:pPr algn="l">
              <a:defRPr sz="1800" b="1">
                <a:solidFill>
                  <a:srgbClr val="17645B"/>
                </a:solidFill>
                <a:latin typeface="Segoe UI"/>
                <a:ea typeface="Segoe UI"/>
                <a:cs typeface="Segoe UI"/>
              </a:defRPr>
            </a:pPr>
            <a:r>
              <a:rPr sz="1800" b="1">
                <a:solidFill>
                  <a:srgbClr val="17645B"/>
                </a:solidFill>
                <a:latin typeface="Segoe UI"/>
                <a:ea typeface="Segoe UI"/>
                <a:cs typeface="Segoe UI"/>
              </a:rPr>
              <a:t>Returns</a:t>
            </a:r>
          </a:p>
        </p:txBody>
      </p:sp>
      <p:sp>
        <p:nvSpPr>
          <p:cNvPr id="19" name="rule">
            <a:extLst xmlns:a="http://schemas.openxmlformats.org/drawingml/2006/main">
              <a:ext uri="{FF2B5EF4-FFF2-40B4-BE49-F238E27FC236}">
                <a16:creationId xmlns:a16="http://schemas.microsoft.com/office/drawing/2014/main" id="{3D517156-5D59-483E-B55B-F06E7A9E8B95}"/>
              </a:ext>
            </a:extLst>
          </p:cNvPr>
          <p:cNvSpPr>
            <a:spLocks xmlns:a="http://schemas.openxmlformats.org/drawingml/2006/main" noGrp="1"/>
          </p:cNvSpPr>
          <p:nvPr/>
        </p:nvSpPr>
        <p:spPr>
          <a:xfrm xmlns:a="http://schemas.openxmlformats.org/drawingml/2006/main">
            <a:off x="8534400" y="3371850"/>
            <a:ext cx="2838450" cy="13335"/>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20" name="Original dispatch reference">
            <a:extLst xmlns:a="http://schemas.openxmlformats.org/drawingml/2006/main">
              <a:ext uri="{FF2B5EF4-FFF2-40B4-BE49-F238E27FC236}">
                <a16:creationId xmlns:a16="http://schemas.microsoft.com/office/drawing/2014/main" id="{2C79F6F9-3EDF-46BA-906E-5B653B08F990}"/>
              </a:ext>
            </a:extLst>
          </p:cNvPr>
          <p:cNvSpPr>
            <a:spLocks xmlns:a="http://schemas.openxmlformats.org/drawingml/2006/main" noGrp="1"/>
          </p:cNvSpPr>
          <p:nvPr/>
        </p:nvSpPr>
        <p:spPr>
          <a:xfrm xmlns:a="http://schemas.openxmlformats.org/drawingml/2006/main">
            <a:off x="8534400" y="3562350"/>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Original dispatch reference</a:t>
            </a:r>
          </a:p>
        </p:txBody>
      </p:sp>
      <p:sp>
        <p:nvSpPr>
          <p:cNvPr id="21" name="Quantity received back">
            <a:extLst xmlns:a="http://schemas.openxmlformats.org/drawingml/2006/main">
              <a:ext uri="{FF2B5EF4-FFF2-40B4-BE49-F238E27FC236}">
                <a16:creationId xmlns:a16="http://schemas.microsoft.com/office/drawing/2014/main" id="{D605B16F-D456-4BB2-B898-08C924443A3F}"/>
              </a:ext>
            </a:extLst>
          </p:cNvPr>
          <p:cNvSpPr>
            <a:spLocks xmlns:a="http://schemas.openxmlformats.org/drawingml/2006/main" noGrp="1"/>
          </p:cNvSpPr>
          <p:nvPr/>
        </p:nvSpPr>
        <p:spPr>
          <a:xfrm xmlns:a="http://schemas.openxmlformats.org/drawingml/2006/main">
            <a:off x="8534400" y="3943350"/>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Quantity received back</a:t>
            </a:r>
          </a:p>
        </p:txBody>
      </p:sp>
      <p:sp>
        <p:nvSpPr>
          <p:cNvPr id="22" name="Quarantine location">
            <a:extLst xmlns:a="http://schemas.openxmlformats.org/drawingml/2006/main">
              <a:ext uri="{FF2B5EF4-FFF2-40B4-BE49-F238E27FC236}">
                <a16:creationId xmlns:a16="http://schemas.microsoft.com/office/drawing/2014/main" id="{4F806FCA-926C-4FBB-BDDE-8F78E7CECAD1}"/>
              </a:ext>
            </a:extLst>
          </p:cNvPr>
          <p:cNvSpPr>
            <a:spLocks xmlns:a="http://schemas.openxmlformats.org/drawingml/2006/main" noGrp="1"/>
          </p:cNvSpPr>
          <p:nvPr/>
        </p:nvSpPr>
        <p:spPr>
          <a:xfrm xmlns:a="http://schemas.openxmlformats.org/drawingml/2006/main">
            <a:off x="8534400" y="4324350"/>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03333"/>
                </a:solidFill>
                <a:latin typeface="Segoe UI"/>
                <a:ea typeface="Segoe UI"/>
                <a:cs typeface="Segoe UI"/>
              </a:defRPr>
            </a:defPPr>
          </a:lstStyle>
          <a:p xmlns:a="http://schemas.openxmlformats.org/drawingml/2006/main">
            <a:pPr algn="l">
              <a:defRPr sz="1650" b="0">
                <a:solidFill>
                  <a:srgbClr val="203333"/>
                </a:solidFill>
                <a:latin typeface="Segoe UI"/>
                <a:ea typeface="Segoe UI"/>
                <a:cs typeface="Segoe UI"/>
              </a:defRPr>
            </a:pPr>
            <a:r>
              <a:rPr sz="1650" b="0">
                <a:solidFill>
                  <a:srgbClr val="203333"/>
                </a:solidFill>
                <a:latin typeface="Segoe UI"/>
                <a:ea typeface="Segoe UI"/>
                <a:cs typeface="Segoe UI"/>
              </a:rPr>
              <a:t>Quarantine location</a:t>
            </a:r>
          </a:p>
        </p:txBody>
      </p:sp>
      <p:sp>
        <p:nvSpPr>
          <p:cNvPr id="23" name="rule">
            <a:extLst xmlns:a="http://schemas.openxmlformats.org/drawingml/2006/main">
              <a:ext uri="{FF2B5EF4-FFF2-40B4-BE49-F238E27FC236}">
                <a16:creationId xmlns:a16="http://schemas.microsoft.com/office/drawing/2014/main" id="{3DBF4390-6855-4B89-BA90-786D11330C35}"/>
              </a:ext>
            </a:extLst>
          </p:cNvPr>
          <p:cNvSpPr>
            <a:spLocks xmlns:a="http://schemas.openxmlformats.org/drawingml/2006/main" noGrp="1"/>
          </p:cNvSpPr>
          <p:nvPr/>
        </p:nvSpPr>
        <p:spPr>
          <a:xfrm xmlns:a="http://schemas.openxmlformats.org/drawingml/2006/main">
            <a:off x="3876675" y="3819525"/>
            <a:ext cx="590550" cy="28575"/>
          </a:xfrm>
          <a:prstGeom xmlns:a="http://schemas.openxmlformats.org/drawingml/2006/main" prst="rect">
            <a:avLst/>
          </a:prstGeom>
          <a:solidFill xmlns:a="http://schemas.openxmlformats.org/drawingml/2006/main">
            <a:srgbClr val="17645B"/>
          </a:solidFill>
          <a:ln xmlns:a="http://schemas.openxmlformats.org/drawingml/2006/main" w="0">
            <a:noFill/>
          </a:ln>
        </p:spPr>
      </p:sp>
      <p:sp>
        <p:nvSpPr>
          <p:cNvPr id="24" name="rule">
            <a:extLst xmlns:a="http://schemas.openxmlformats.org/drawingml/2006/main">
              <a:ext uri="{FF2B5EF4-FFF2-40B4-BE49-F238E27FC236}">
                <a16:creationId xmlns:a16="http://schemas.microsoft.com/office/drawing/2014/main" id="{0ADB9788-FA40-4333-80E9-2BCF3E373D40}"/>
              </a:ext>
            </a:extLst>
          </p:cNvPr>
          <p:cNvSpPr>
            <a:spLocks xmlns:a="http://schemas.openxmlformats.org/drawingml/2006/main" noGrp="1"/>
          </p:cNvSpPr>
          <p:nvPr/>
        </p:nvSpPr>
        <p:spPr>
          <a:xfrm xmlns:a="http://schemas.openxmlformats.org/drawingml/2006/main">
            <a:off x="7734300" y="3819525"/>
            <a:ext cx="590550" cy="28575"/>
          </a:xfrm>
          <a:prstGeom xmlns:a="http://schemas.openxmlformats.org/drawingml/2006/main" prst="rect">
            <a:avLst/>
          </a:prstGeom>
          <a:solidFill xmlns:a="http://schemas.openxmlformats.org/drawingml/2006/main">
            <a:srgbClr val="17645B"/>
          </a:solidFill>
          <a:ln xmlns:a="http://schemas.openxmlformats.org/drawingml/2006/main" w="0">
            <a:noFill/>
          </a:ln>
        </p:spPr>
      </p:sp>
      <p:sp>
        <p:nvSpPr>
          <p:cNvPr id="25" name="Every return must match the correct product, batch and dispa">
            <a:extLst xmlns:a="http://schemas.openxmlformats.org/drawingml/2006/main">
              <a:ext uri="{FF2B5EF4-FFF2-40B4-BE49-F238E27FC236}">
                <a16:creationId xmlns:a16="http://schemas.microsoft.com/office/drawing/2014/main" id="{B77CF830-8843-47F2-916E-ED2D1734E97A}"/>
              </a:ext>
            </a:extLst>
          </p:cNvPr>
          <p:cNvSpPr>
            <a:spLocks xmlns:a="http://schemas.openxmlformats.org/drawingml/2006/main" noGrp="1"/>
          </p:cNvSpPr>
          <p:nvPr/>
        </p:nvSpPr>
        <p:spPr>
          <a:xfrm xmlns:a="http://schemas.openxmlformats.org/drawingml/2006/main">
            <a:off x="609600" y="54292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645B"/>
                </a:solidFill>
                <a:latin typeface="Segoe UI"/>
                <a:ea typeface="Segoe UI"/>
                <a:cs typeface="Segoe UI"/>
              </a:defRPr>
            </a:defPPr>
          </a:lstStyle>
          <a:p xmlns:a="http://schemas.openxmlformats.org/drawingml/2006/main">
            <a:pPr algn="l">
              <a:defRPr sz="2100" b="1">
                <a:solidFill>
                  <a:srgbClr val="17645B"/>
                </a:solidFill>
                <a:latin typeface="Segoe UI"/>
                <a:ea typeface="Segoe UI"/>
                <a:cs typeface="Segoe UI"/>
              </a:defRPr>
            </a:pPr>
            <a:r>
              <a:rPr sz="2100" b="1">
                <a:solidFill>
                  <a:srgbClr val="17645B"/>
                </a:solidFill>
                <a:latin typeface="Segoe UI"/>
                <a:ea typeface="Segoe UI"/>
                <a:cs typeface="Segoe UI"/>
              </a:rPr>
              <a:t>Every return must match the correct product, batch and dispatch.</a:t>
            </a:r>
          </a:p>
        </p:txBody>
      </p:sp>
      <p:sp>
        <p:nvSpPr>
          <p:cNvPr id="26" name="Authored pharmaceutical example">
            <a:extLst xmlns:a="http://schemas.openxmlformats.org/drawingml/2006/main">
              <a:ext uri="{FF2B5EF4-FFF2-40B4-BE49-F238E27FC236}">
                <a16:creationId xmlns:a16="http://schemas.microsoft.com/office/drawing/2014/main" id="{2A913A66-80CC-4B58-B2EF-532AB6DB6235}"/>
              </a:ext>
            </a:extLst>
          </p:cNvPr>
          <p:cNvSpPr>
            <a:spLocks xmlns:a="http://schemas.openxmlformats.org/drawingml/2006/main" noGrp="1"/>
          </p:cNvSpPr>
          <p:nvPr/>
        </p:nvSpPr>
        <p:spPr>
          <a:xfrm xmlns:a="http://schemas.openxmlformats.org/drawingml/2006/main">
            <a:off x="609600" y="6067425"/>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67873"/>
                </a:solidFill>
                <a:latin typeface="Segoe UI"/>
                <a:ea typeface="Segoe UI"/>
                <a:cs typeface="Segoe UI"/>
              </a:defRPr>
            </a:defPPr>
          </a:lstStyle>
          <a:p xmlns:a="http://schemas.openxmlformats.org/drawingml/2006/main">
            <a:pPr algn="l">
              <a:defRPr sz="1200" b="0">
                <a:solidFill>
                  <a:srgbClr val="667873"/>
                </a:solidFill>
                <a:latin typeface="Segoe UI"/>
                <a:ea typeface="Segoe UI"/>
                <a:cs typeface="Segoe UI"/>
              </a:defRPr>
            </a:pPr>
            <a:r>
              <a:rPr sz="1200" b="0">
                <a:solidFill>
                  <a:srgbClr val="667873"/>
                </a:solidFill>
                <a:latin typeface="Segoe UI"/>
                <a:ea typeface="Segoe UI"/>
                <a:cs typeface="Segoe UI"/>
              </a:rPr>
              <a:t>Authored pharmaceutical example</a:t>
            </a:r>
          </a:p>
        </p:txBody>
      </p:sp>
    </p:spTree>
    <p:extLst>
      <p:ext uri="{BB962C8B-B14F-4D97-AF65-F5344CB8AC3E}">
        <p14:creationId xmlns:p14="http://schemas.microsoft.com/office/powerpoint/2010/main" val="236922637"/>
      </p:ext>
    </p:extLst>
  </p:cSld>
</p:sld>
</file>

<file path=ppt/slides/slide3.xml><?xml version="1.0" encoding="utf-8"?>
<p:sld xmlns:p="http://schemas.openxmlformats.org/presentationml/2006/main">
  <p:cSld>
    <p:bg>
      <p:bgPr>
        <a:solidFill xmlns:a="http://schemas.openxmlformats.org/drawingml/2006/main">
          <a:srgbClr val="F4F5F2"/>
        </a:solidFill>
      </p:bgPr>
    </p:bg>
    <p:spTree>
      <p:nvGrpSpPr>
        <p:cNvPr id="1" name=""/>
        <p:cNvGrpSpPr/>
        <p:nvPr/>
      </p:nvGrpSpPr>
      <p:grpSpPr>
        <a:xfrm xmlns:a="http://schemas.openxmlformats.org/drawingml/2006/main"/>
      </p:grpSpPr>
      <p:sp>
        <p:nvSpPr>
          <p:cNvPr id="23" name="A distributor’s working record">
            <a:extLst xmlns:a="http://schemas.openxmlformats.org/drawingml/2006/main">
              <a:ext uri="{FF2B5EF4-FFF2-40B4-BE49-F238E27FC236}">
                <a16:creationId xmlns:a16="http://schemas.microsoft.com/office/drawing/2014/main" id="{0CDF7E33-57F1-48AF-8426-39AB9A7848F0}"/>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203333"/>
                </a:solidFill>
                <a:latin typeface="Georgia"/>
                <a:ea typeface="Georgia"/>
                <a:cs typeface="Georgia"/>
              </a:defRPr>
            </a:defPPr>
          </a:lstStyle>
          <a:p xmlns:a="http://schemas.openxmlformats.org/drawingml/2006/main">
            <a:pPr algn="l">
              <a:defRPr sz="3450" b="0">
                <a:solidFill>
                  <a:srgbClr val="203333"/>
                </a:solidFill>
                <a:latin typeface="Georgia"/>
                <a:ea typeface="Georgia"/>
                <a:cs typeface="Georgia"/>
              </a:defRPr>
            </a:pPr>
            <a:r>
              <a:rPr sz="3450" b="0">
                <a:solidFill>
                  <a:srgbClr val="203333"/>
                </a:solidFill>
                <a:latin typeface="Georgia"/>
                <a:ea typeface="Georgia"/>
                <a:cs typeface="Georgia"/>
              </a:rPr>
              <a:t>A distributor’s working record</a:t>
            </a:r>
          </a:p>
        </p:txBody>
      </p:sp>
      <p:sp>
        <p:nvSpPr>
          <p:cNvPr id="2" name="RecallScope">
            <a:extLst xmlns:a="http://schemas.openxmlformats.org/drawingml/2006/main">
              <a:ext uri="{FF2B5EF4-FFF2-40B4-BE49-F238E27FC236}">
                <a16:creationId xmlns:a16="http://schemas.microsoft.com/office/drawing/2014/main" id="{F00B0900-DD76-4214-B10D-BCEFB69618DD}"/>
              </a:ext>
            </a:extLst>
          </p:cNvPr>
          <p:cNvSpPr>
            <a:spLocks xmlns:a="http://schemas.openxmlformats.org/drawingml/2006/main" noGrp="1"/>
          </p:cNvSpPr>
          <p:nvPr/>
        </p:nvSpPr>
        <p:spPr>
          <a:xfrm xmlns:a="http://schemas.openxmlformats.org/drawingml/2006/main">
            <a:off x="609600" y="6438900"/>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667873"/>
                </a:solidFill>
                <a:latin typeface="Segoe UI"/>
                <a:ea typeface="Segoe UI"/>
                <a:cs typeface="Segoe UI"/>
              </a:defRPr>
            </a:defPPr>
          </a:lstStyle>
          <a:p xmlns:a="http://schemas.openxmlformats.org/drawingml/2006/main">
            <a:pPr algn="l">
              <a:defRPr sz="1125" b="1">
                <a:solidFill>
                  <a:srgbClr val="667873"/>
                </a:solidFill>
                <a:latin typeface="Segoe UI"/>
                <a:ea typeface="Segoe UI"/>
                <a:cs typeface="Segoe UI"/>
              </a:defRPr>
            </a:pPr>
            <a:r>
              <a:rPr sz="1125" b="1">
                <a:solidFill>
                  <a:srgbClr val="667873"/>
                </a:solidFill>
                <a:latin typeface="Segoe UI"/>
                <a:ea typeface="Segoe UI"/>
                <a:cs typeface="Segoe UI"/>
              </a:rPr>
              <a:t>RecallScope</a:t>
            </a:r>
          </a:p>
        </p:txBody>
      </p:sp>
      <p:sp>
        <p:nvSpPr>
          <p:cNvPr id="3" name="03">
            <a:extLst xmlns:a="http://schemas.openxmlformats.org/drawingml/2006/main">
              <a:ext uri="{FF2B5EF4-FFF2-40B4-BE49-F238E27FC236}">
                <a16:creationId xmlns:a16="http://schemas.microsoft.com/office/drawing/2014/main" id="{FF23CC51-5953-432D-9D76-A41DA81C326B}"/>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67873"/>
                </a:solidFill>
                <a:latin typeface="Segoe UI"/>
                <a:ea typeface="Segoe UI"/>
                <a:cs typeface="Segoe UI"/>
              </a:defRPr>
            </a:defPPr>
          </a:lstStyle>
          <a:p xmlns:a="http://schemas.openxmlformats.org/drawingml/2006/main">
            <a:pPr algn="r">
              <a:defRPr sz="1125" b="0">
                <a:solidFill>
                  <a:srgbClr val="667873"/>
                </a:solidFill>
                <a:latin typeface="Segoe UI"/>
                <a:ea typeface="Segoe UI"/>
                <a:cs typeface="Segoe UI"/>
              </a:defRPr>
            </a:pPr>
            <a:r>
              <a:rPr sz="1125" b="0">
                <a:solidFill>
                  <a:srgbClr val="667873"/>
                </a:solidFill>
                <a:latin typeface="Segoe UI"/>
                <a:ea typeface="Segoe UI"/>
                <a:cs typeface="Segoe UI"/>
              </a:rPr>
              <a:t>03</a:t>
            </a:r>
          </a:p>
        </p:txBody>
      </p:sp>
      <p:sp>
        <p:nvSpPr>
          <p:cNvPr id="4" name="Product identity stays attached to the batch, location and d">
            <a:extLst xmlns:a="http://schemas.openxmlformats.org/drawingml/2006/main">
              <a:ext uri="{FF2B5EF4-FFF2-40B4-BE49-F238E27FC236}">
                <a16:creationId xmlns:a16="http://schemas.microsoft.com/office/drawing/2014/main" id="{D04B46FD-CF50-4115-AC9C-E3BFE34AAC71}"/>
              </a:ext>
            </a:extLst>
          </p:cNvPr>
          <p:cNvSpPr>
            <a:spLocks xmlns:a="http://schemas.openxmlformats.org/drawingml/2006/main" noGrp="1"/>
          </p:cNvSpPr>
          <p:nvPr/>
        </p:nvSpPr>
        <p:spPr>
          <a:xfrm xmlns:a="http://schemas.openxmlformats.org/drawingml/2006/main">
            <a:off x="609600" y="135255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67873"/>
                </a:solidFill>
                <a:latin typeface="Segoe UI"/>
                <a:ea typeface="Segoe UI"/>
                <a:cs typeface="Segoe UI"/>
              </a:defRPr>
            </a:defPPr>
          </a:lstStyle>
          <a:p xmlns:a="http://schemas.openxmlformats.org/drawingml/2006/main">
            <a:pPr algn="l">
              <a:defRPr sz="2025" b="0">
                <a:solidFill>
                  <a:srgbClr val="667873"/>
                </a:solidFill>
                <a:latin typeface="Segoe UI"/>
                <a:ea typeface="Segoe UI"/>
                <a:cs typeface="Segoe UI"/>
              </a:defRPr>
            </a:pPr>
            <a:r>
              <a:rPr sz="2025" b="0">
                <a:solidFill>
                  <a:srgbClr val="667873"/>
                </a:solidFill>
                <a:latin typeface="Segoe UI"/>
                <a:ea typeface="Segoe UI"/>
                <a:cs typeface="Segoe UI"/>
              </a:rPr>
              <a:t>Product identity stays attached to the batch, location and destination.</a:t>
            </a:r>
          </a:p>
        </p:txBody>
      </p:sp>
      <p:sp>
        <p:nvSpPr>
          <p:cNvPr id="5" name="workspace frame">
            <a:extLst xmlns:a="http://schemas.openxmlformats.org/drawingml/2006/main">
              <a:ext uri="{FF2B5EF4-FFF2-40B4-BE49-F238E27FC236}">
                <a16:creationId xmlns:a16="http://schemas.microsoft.com/office/drawing/2014/main" id="{53713274-1197-4516-AACE-F0E9BED9CA5D}"/>
              </a:ext>
            </a:extLst>
          </p:cNvPr>
          <p:cNvSpPr>
            <a:spLocks xmlns:a="http://schemas.openxmlformats.org/drawingml/2006/main" noGrp="1"/>
          </p:cNvSpPr>
          <p:nvPr/>
        </p:nvSpPr>
        <p:spPr>
          <a:xfrm xmlns:a="http://schemas.openxmlformats.org/drawingml/2006/main">
            <a:off x="609600" y="2076450"/>
            <a:ext cx="10972800" cy="3924300"/>
          </a:xfrm>
          <a:prstGeom xmlns:a="http://schemas.openxmlformats.org/drawingml/2006/main" prst="roundRect">
            <a:avLst>
              <a:gd name="adj" fmla="val 2184"/>
            </a:avLst>
          </a:prstGeom>
          <a:solidFill xmlns:a="http://schemas.openxmlformats.org/drawingml/2006/main">
            <a:srgbClr val="FFFFFF"/>
          </a:solidFill>
          <a:ln xmlns:a="http://schemas.openxmlformats.org/drawingml/2006/main" w="13335">
            <a:solidFill>
              <a:srgbClr val="DDE4DD"/>
            </a:solidFill>
          </a:ln>
        </p:spPr>
      </p:sp>
      <p:sp>
        <p:nvSpPr>
          <p:cNvPr id="6" name="product navigation">
            <a:extLst xmlns:a="http://schemas.openxmlformats.org/drawingml/2006/main">
              <a:ext uri="{FF2B5EF4-FFF2-40B4-BE49-F238E27FC236}">
                <a16:creationId xmlns:a16="http://schemas.microsoft.com/office/drawing/2014/main" id="{7676F396-6855-4297-863F-0E1A6E7CF1EE}"/>
              </a:ext>
            </a:extLst>
          </p:cNvPr>
          <p:cNvSpPr>
            <a:spLocks xmlns:a="http://schemas.openxmlformats.org/drawingml/2006/main" noGrp="1"/>
          </p:cNvSpPr>
          <p:nvPr/>
        </p:nvSpPr>
        <p:spPr>
          <a:xfrm xmlns:a="http://schemas.openxmlformats.org/drawingml/2006/main">
            <a:off x="609600" y="2076450"/>
            <a:ext cx="1924050" cy="3924300"/>
          </a:xfrm>
          <a:prstGeom xmlns:a="http://schemas.openxmlformats.org/drawingml/2006/main" prst="roundRect">
            <a:avLst>
              <a:gd name="adj" fmla="val 3960"/>
            </a:avLst>
          </a:prstGeom>
          <a:solidFill xmlns:a="http://schemas.openxmlformats.org/drawingml/2006/main">
            <a:srgbClr val="1E3535"/>
          </a:solidFill>
          <a:ln xmlns:a="http://schemas.openxmlformats.org/drawingml/2006/main" w="0">
            <a:noFill/>
          </a:ln>
        </p:spPr>
      </p:sp>
      <p:sp>
        <p:nvSpPr>
          <p:cNvPr id="7" name="RecallScope">
            <a:extLst xmlns:a="http://schemas.openxmlformats.org/drawingml/2006/main">
              <a:ext uri="{FF2B5EF4-FFF2-40B4-BE49-F238E27FC236}">
                <a16:creationId xmlns:a16="http://schemas.microsoft.com/office/drawing/2014/main" id="{6C6B2841-0636-4BD1-B305-1268BD801DFE}"/>
              </a:ext>
            </a:extLst>
          </p:cNvPr>
          <p:cNvSpPr>
            <a:spLocks xmlns:a="http://schemas.openxmlformats.org/drawingml/2006/main" noGrp="1"/>
          </p:cNvSpPr>
          <p:nvPr/>
        </p:nvSpPr>
        <p:spPr>
          <a:xfrm xmlns:a="http://schemas.openxmlformats.org/drawingml/2006/main">
            <a:off x="790575" y="2314575"/>
            <a:ext cx="16478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FFFFFF"/>
                </a:solidFill>
                <a:latin typeface="Segoe UI"/>
                <a:ea typeface="Segoe UI"/>
                <a:cs typeface="Segoe UI"/>
              </a:defRPr>
            </a:defPPr>
          </a:lstStyle>
          <a:p xmlns:a="http://schemas.openxmlformats.org/drawingml/2006/main">
            <a:pPr algn="l">
              <a:defRPr sz="1875" b="1">
                <a:solidFill>
                  <a:srgbClr val="FFFFFF"/>
                </a:solidFill>
                <a:latin typeface="Segoe UI"/>
                <a:ea typeface="Segoe UI"/>
                <a:cs typeface="Segoe UI"/>
              </a:defRPr>
            </a:pPr>
            <a:r>
              <a:rPr sz="1875" b="1">
                <a:solidFill>
                  <a:srgbClr val="FFFFFF"/>
                </a:solidFill>
                <a:latin typeface="Segoe UI"/>
                <a:ea typeface="Segoe UI"/>
                <a:cs typeface="Segoe UI"/>
              </a:rPr>
              <a:t>RecallScope</a:t>
            </a:r>
          </a:p>
        </p:txBody>
      </p:sp>
      <p:sp>
        <p:nvSpPr>
          <p:cNvPr id="8" name="Asterbridge">
            <a:extLst xmlns:a="http://schemas.openxmlformats.org/drawingml/2006/main">
              <a:ext uri="{FF2B5EF4-FFF2-40B4-BE49-F238E27FC236}">
                <a16:creationId xmlns:a16="http://schemas.microsoft.com/office/drawing/2014/main" id="{FD38487C-26FF-4739-B187-82C4F0835EFF}"/>
              </a:ext>
            </a:extLst>
          </p:cNvPr>
          <p:cNvSpPr>
            <a:spLocks xmlns:a="http://schemas.openxmlformats.org/drawingml/2006/main" noGrp="1"/>
          </p:cNvSpPr>
          <p:nvPr/>
        </p:nvSpPr>
        <p:spPr>
          <a:xfrm xmlns:a="http://schemas.openxmlformats.org/drawingml/2006/main">
            <a:off x="800100" y="2876550"/>
            <a:ext cx="1600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D7E7D5"/>
                </a:solidFill>
                <a:latin typeface="Segoe UI"/>
                <a:ea typeface="Segoe UI"/>
                <a:cs typeface="Segoe UI"/>
              </a:defRPr>
            </a:defPPr>
          </a:lstStyle>
          <a:p xmlns:a="http://schemas.openxmlformats.org/drawingml/2006/main">
            <a:pPr algn="l">
              <a:defRPr sz="1425" b="1">
                <a:solidFill>
                  <a:srgbClr val="D7E7D5"/>
                </a:solidFill>
                <a:latin typeface="Segoe UI"/>
                <a:ea typeface="Segoe UI"/>
                <a:cs typeface="Segoe UI"/>
              </a:defRPr>
            </a:pPr>
            <a:r>
              <a:rPr sz="1425" b="1">
                <a:solidFill>
                  <a:srgbClr val="D7E7D5"/>
                </a:solidFill>
                <a:latin typeface="Segoe UI"/>
                <a:ea typeface="Segoe UI"/>
                <a:cs typeface="Segoe UI"/>
              </a:rPr>
              <a:t>Asterbridge</a:t>
            </a:r>
          </a:p>
        </p:txBody>
      </p:sp>
      <p:sp>
        <p:nvSpPr>
          <p:cNvPr id="9" name="Distribution">
            <a:extLst xmlns:a="http://schemas.openxmlformats.org/drawingml/2006/main">
              <a:ext uri="{FF2B5EF4-FFF2-40B4-BE49-F238E27FC236}">
                <a16:creationId xmlns:a16="http://schemas.microsoft.com/office/drawing/2014/main" id="{0F556958-2208-41AA-AB0C-8B0703E9F4A8}"/>
              </a:ext>
            </a:extLst>
          </p:cNvPr>
          <p:cNvSpPr>
            <a:spLocks xmlns:a="http://schemas.openxmlformats.org/drawingml/2006/main" noGrp="1"/>
          </p:cNvSpPr>
          <p:nvPr/>
        </p:nvSpPr>
        <p:spPr>
          <a:xfrm xmlns:a="http://schemas.openxmlformats.org/drawingml/2006/main">
            <a:off x="800100" y="3143250"/>
            <a:ext cx="160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7E7D5"/>
                </a:solidFill>
                <a:latin typeface="Segoe UI"/>
                <a:ea typeface="Segoe UI"/>
                <a:cs typeface="Segoe UI"/>
              </a:defRPr>
            </a:defPPr>
          </a:lstStyle>
          <a:p xmlns:a="http://schemas.openxmlformats.org/drawingml/2006/main">
            <a:pPr algn="l">
              <a:defRPr sz="1350" b="0">
                <a:solidFill>
                  <a:srgbClr val="D7E7D5"/>
                </a:solidFill>
                <a:latin typeface="Segoe UI"/>
                <a:ea typeface="Segoe UI"/>
                <a:cs typeface="Segoe UI"/>
              </a:defRPr>
            </a:pPr>
            <a:r>
              <a:rPr sz="1350" b="0">
                <a:solidFill>
                  <a:srgbClr val="D7E7D5"/>
                </a:solidFill>
                <a:latin typeface="Segoe UI"/>
                <a:ea typeface="Segoe UI"/>
                <a:cs typeface="Segoe UI"/>
              </a:rPr>
              <a:t>Distribution</a:t>
            </a:r>
          </a:p>
        </p:txBody>
      </p:sp>
      <p:sp>
        <p:nvSpPr>
          <p:cNvPr id="10" name="Overview">
            <a:extLst xmlns:a="http://schemas.openxmlformats.org/drawingml/2006/main">
              <a:ext uri="{FF2B5EF4-FFF2-40B4-BE49-F238E27FC236}">
                <a16:creationId xmlns:a16="http://schemas.microsoft.com/office/drawing/2014/main" id="{3F042700-1B0C-4BDF-AB7E-BEA725B934EB}"/>
              </a:ext>
            </a:extLst>
          </p:cNvPr>
          <p:cNvSpPr>
            <a:spLocks xmlns:a="http://schemas.openxmlformats.org/drawingml/2006/main" noGrp="1"/>
          </p:cNvSpPr>
          <p:nvPr/>
        </p:nvSpPr>
        <p:spPr>
          <a:xfrm xmlns:a="http://schemas.openxmlformats.org/drawingml/2006/main">
            <a:off x="819150" y="3648075"/>
            <a:ext cx="1581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7E7D5"/>
                </a:solidFill>
                <a:latin typeface="Segoe UI"/>
                <a:ea typeface="Segoe UI"/>
                <a:cs typeface="Segoe UI"/>
              </a:defRPr>
            </a:defPPr>
          </a:lstStyle>
          <a:p xmlns:a="http://schemas.openxmlformats.org/drawingml/2006/main">
            <a:pPr algn="l">
              <a:defRPr sz="1350" b="0">
                <a:solidFill>
                  <a:srgbClr val="D7E7D5"/>
                </a:solidFill>
                <a:latin typeface="Segoe UI"/>
                <a:ea typeface="Segoe UI"/>
                <a:cs typeface="Segoe UI"/>
              </a:defRPr>
            </a:pPr>
            <a:r>
              <a:rPr sz="1350" b="0">
                <a:solidFill>
                  <a:srgbClr val="D7E7D5"/>
                </a:solidFill>
                <a:latin typeface="Segoe UI"/>
                <a:ea typeface="Segoe UI"/>
                <a:cs typeface="Segoe UI"/>
              </a:rPr>
              <a:t>Overview</a:t>
            </a:r>
          </a:p>
        </p:txBody>
      </p:sp>
      <p:sp>
        <p:nvSpPr>
          <p:cNvPr id="11" name="active nav">
            <a:extLst xmlns:a="http://schemas.openxmlformats.org/drawingml/2006/main">
              <a:ext uri="{FF2B5EF4-FFF2-40B4-BE49-F238E27FC236}">
                <a16:creationId xmlns:a16="http://schemas.microsoft.com/office/drawing/2014/main" id="{428395BD-5FB0-4CCD-8FD9-737A3AE62CBC}"/>
              </a:ext>
            </a:extLst>
          </p:cNvPr>
          <p:cNvSpPr>
            <a:spLocks xmlns:a="http://schemas.openxmlformats.org/drawingml/2006/main" noGrp="1"/>
          </p:cNvSpPr>
          <p:nvPr/>
        </p:nvSpPr>
        <p:spPr>
          <a:xfrm xmlns:a="http://schemas.openxmlformats.org/drawingml/2006/main">
            <a:off x="733425" y="3924300"/>
            <a:ext cx="1685925" cy="314325"/>
          </a:xfrm>
          <a:prstGeom xmlns:a="http://schemas.openxmlformats.org/drawingml/2006/main" prst="roundRect">
            <a:avLst>
              <a:gd name="adj" fmla="val 12121"/>
            </a:avLst>
          </a:prstGeom>
          <a:solidFill xmlns:a="http://schemas.openxmlformats.org/drawingml/2006/main">
            <a:srgbClr val="D7E7D5"/>
          </a:solidFill>
          <a:ln xmlns:a="http://schemas.openxmlformats.org/drawingml/2006/main" w="0">
            <a:noFill/>
          </a:ln>
        </p:spPr>
      </p:sp>
      <p:sp>
        <p:nvSpPr>
          <p:cNvPr id="12" name="Products &amp; batches">
            <a:extLst xmlns:a="http://schemas.openxmlformats.org/drawingml/2006/main">
              <a:ext uri="{FF2B5EF4-FFF2-40B4-BE49-F238E27FC236}">
                <a16:creationId xmlns:a16="http://schemas.microsoft.com/office/drawing/2014/main" id="{894B5FAA-39EB-413C-A212-B73D4FC9FEAF}"/>
              </a:ext>
            </a:extLst>
          </p:cNvPr>
          <p:cNvSpPr>
            <a:spLocks xmlns:a="http://schemas.openxmlformats.org/drawingml/2006/main" noGrp="1"/>
          </p:cNvSpPr>
          <p:nvPr/>
        </p:nvSpPr>
        <p:spPr>
          <a:xfrm xmlns:a="http://schemas.openxmlformats.org/drawingml/2006/main">
            <a:off x="819150" y="3962400"/>
            <a:ext cx="1581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203333"/>
                </a:solidFill>
                <a:latin typeface="Segoe UI"/>
                <a:ea typeface="Segoe UI"/>
                <a:cs typeface="Segoe UI"/>
              </a:defRPr>
            </a:defPPr>
          </a:lstStyle>
          <a:p xmlns:a="http://schemas.openxmlformats.org/drawingml/2006/main">
            <a:pPr algn="l">
              <a:defRPr sz="1350" b="1">
                <a:solidFill>
                  <a:srgbClr val="203333"/>
                </a:solidFill>
                <a:latin typeface="Segoe UI"/>
                <a:ea typeface="Segoe UI"/>
                <a:cs typeface="Segoe UI"/>
              </a:defRPr>
            </a:pPr>
            <a:r>
              <a:rPr sz="1350" b="1">
                <a:solidFill>
                  <a:srgbClr val="203333"/>
                </a:solidFill>
                <a:latin typeface="Segoe UI"/>
                <a:ea typeface="Segoe UI"/>
                <a:cs typeface="Segoe UI"/>
              </a:rPr>
              <a:t>Products &amp; batches</a:t>
            </a:r>
          </a:p>
        </p:txBody>
      </p:sp>
      <p:sp>
        <p:nvSpPr>
          <p:cNvPr id="13" name="Stock">
            <a:extLst xmlns:a="http://schemas.openxmlformats.org/drawingml/2006/main">
              <a:ext uri="{FF2B5EF4-FFF2-40B4-BE49-F238E27FC236}">
                <a16:creationId xmlns:a16="http://schemas.microsoft.com/office/drawing/2014/main" id="{B4485DEA-DB07-4AA6-8C79-E96A7175E5D3}"/>
              </a:ext>
            </a:extLst>
          </p:cNvPr>
          <p:cNvSpPr>
            <a:spLocks xmlns:a="http://schemas.openxmlformats.org/drawingml/2006/main" noGrp="1"/>
          </p:cNvSpPr>
          <p:nvPr/>
        </p:nvSpPr>
        <p:spPr>
          <a:xfrm xmlns:a="http://schemas.openxmlformats.org/drawingml/2006/main">
            <a:off x="819150" y="4276725"/>
            <a:ext cx="1581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7E7D5"/>
                </a:solidFill>
                <a:latin typeface="Segoe UI"/>
                <a:ea typeface="Segoe UI"/>
                <a:cs typeface="Segoe UI"/>
              </a:defRPr>
            </a:defPPr>
          </a:lstStyle>
          <a:p xmlns:a="http://schemas.openxmlformats.org/drawingml/2006/main">
            <a:pPr algn="l">
              <a:defRPr sz="1350" b="0">
                <a:solidFill>
                  <a:srgbClr val="D7E7D5"/>
                </a:solidFill>
                <a:latin typeface="Segoe UI"/>
                <a:ea typeface="Segoe UI"/>
                <a:cs typeface="Segoe UI"/>
              </a:defRPr>
            </a:pPr>
            <a:r>
              <a:rPr sz="1350" b="0">
                <a:solidFill>
                  <a:srgbClr val="D7E7D5"/>
                </a:solidFill>
                <a:latin typeface="Segoe UI"/>
                <a:ea typeface="Segoe UI"/>
                <a:cs typeface="Segoe UI"/>
              </a:rPr>
              <a:t>Stock</a:t>
            </a:r>
          </a:p>
        </p:txBody>
      </p:sp>
      <p:sp>
        <p:nvSpPr>
          <p:cNvPr id="14" name="Deliveries">
            <a:extLst xmlns:a="http://schemas.openxmlformats.org/drawingml/2006/main">
              <a:ext uri="{FF2B5EF4-FFF2-40B4-BE49-F238E27FC236}">
                <a16:creationId xmlns:a16="http://schemas.microsoft.com/office/drawing/2014/main" id="{B0BB58BE-E111-4CF3-8162-F98DAB8691B1}"/>
              </a:ext>
            </a:extLst>
          </p:cNvPr>
          <p:cNvSpPr>
            <a:spLocks xmlns:a="http://schemas.openxmlformats.org/drawingml/2006/main" noGrp="1"/>
          </p:cNvSpPr>
          <p:nvPr/>
        </p:nvSpPr>
        <p:spPr>
          <a:xfrm xmlns:a="http://schemas.openxmlformats.org/drawingml/2006/main">
            <a:off x="819150" y="4591050"/>
            <a:ext cx="1581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7E7D5"/>
                </a:solidFill>
                <a:latin typeface="Segoe UI"/>
                <a:ea typeface="Segoe UI"/>
                <a:cs typeface="Segoe UI"/>
              </a:defRPr>
            </a:defPPr>
          </a:lstStyle>
          <a:p xmlns:a="http://schemas.openxmlformats.org/drawingml/2006/main">
            <a:pPr algn="l">
              <a:defRPr sz="1350" b="0">
                <a:solidFill>
                  <a:srgbClr val="D7E7D5"/>
                </a:solidFill>
                <a:latin typeface="Segoe UI"/>
                <a:ea typeface="Segoe UI"/>
                <a:cs typeface="Segoe UI"/>
              </a:defRPr>
            </a:pPr>
            <a:r>
              <a:rPr sz="1350" b="0">
                <a:solidFill>
                  <a:srgbClr val="D7E7D5"/>
                </a:solidFill>
                <a:latin typeface="Segoe UI"/>
                <a:ea typeface="Segoe UI"/>
                <a:cs typeface="Segoe UI"/>
              </a:rPr>
              <a:t>Deliveries</a:t>
            </a:r>
          </a:p>
        </p:txBody>
      </p:sp>
      <p:sp>
        <p:nvSpPr>
          <p:cNvPr id="15" name="Recalls">
            <a:extLst xmlns:a="http://schemas.openxmlformats.org/drawingml/2006/main">
              <a:ext uri="{FF2B5EF4-FFF2-40B4-BE49-F238E27FC236}">
                <a16:creationId xmlns:a16="http://schemas.microsoft.com/office/drawing/2014/main" id="{B6309741-A4E3-4B2C-A898-C27AF2ED9E0F}"/>
              </a:ext>
            </a:extLst>
          </p:cNvPr>
          <p:cNvSpPr>
            <a:spLocks xmlns:a="http://schemas.openxmlformats.org/drawingml/2006/main" noGrp="1"/>
          </p:cNvSpPr>
          <p:nvPr/>
        </p:nvSpPr>
        <p:spPr>
          <a:xfrm xmlns:a="http://schemas.openxmlformats.org/drawingml/2006/main">
            <a:off x="819150" y="4905375"/>
            <a:ext cx="1581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7E7D5"/>
                </a:solidFill>
                <a:latin typeface="Segoe UI"/>
                <a:ea typeface="Segoe UI"/>
                <a:cs typeface="Segoe UI"/>
              </a:defRPr>
            </a:defPPr>
          </a:lstStyle>
          <a:p xmlns:a="http://schemas.openxmlformats.org/drawingml/2006/main">
            <a:pPr algn="l">
              <a:defRPr sz="1350" b="0">
                <a:solidFill>
                  <a:srgbClr val="D7E7D5"/>
                </a:solidFill>
                <a:latin typeface="Segoe UI"/>
                <a:ea typeface="Segoe UI"/>
                <a:cs typeface="Segoe UI"/>
              </a:defRPr>
            </a:pPr>
            <a:r>
              <a:rPr sz="1350" b="0">
                <a:solidFill>
                  <a:srgbClr val="D7E7D5"/>
                </a:solidFill>
                <a:latin typeface="Segoe UI"/>
                <a:ea typeface="Segoe UI"/>
                <a:cs typeface="Segoe UI"/>
              </a:rPr>
              <a:t>Recalls</a:t>
            </a:r>
          </a:p>
        </p:txBody>
      </p:sp>
      <p:sp>
        <p:nvSpPr>
          <p:cNvPr id="16" name="Reports">
            <a:extLst xmlns:a="http://schemas.openxmlformats.org/drawingml/2006/main">
              <a:ext uri="{FF2B5EF4-FFF2-40B4-BE49-F238E27FC236}">
                <a16:creationId xmlns:a16="http://schemas.microsoft.com/office/drawing/2014/main" id="{BE61E3CD-7642-4F32-9F5F-F99144E161FA}"/>
              </a:ext>
            </a:extLst>
          </p:cNvPr>
          <p:cNvSpPr>
            <a:spLocks xmlns:a="http://schemas.openxmlformats.org/drawingml/2006/main" noGrp="1"/>
          </p:cNvSpPr>
          <p:nvPr/>
        </p:nvSpPr>
        <p:spPr>
          <a:xfrm xmlns:a="http://schemas.openxmlformats.org/drawingml/2006/main">
            <a:off x="819150" y="5219700"/>
            <a:ext cx="1581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7E7D5"/>
                </a:solidFill>
                <a:latin typeface="Segoe UI"/>
                <a:ea typeface="Segoe UI"/>
                <a:cs typeface="Segoe UI"/>
              </a:defRPr>
            </a:defPPr>
          </a:lstStyle>
          <a:p xmlns:a="http://schemas.openxmlformats.org/drawingml/2006/main">
            <a:pPr algn="l">
              <a:defRPr sz="1350" b="0">
                <a:solidFill>
                  <a:srgbClr val="D7E7D5"/>
                </a:solidFill>
                <a:latin typeface="Segoe UI"/>
                <a:ea typeface="Segoe UI"/>
                <a:cs typeface="Segoe UI"/>
              </a:defRPr>
            </a:pPr>
            <a:r>
              <a:rPr sz="1350" b="0">
                <a:solidFill>
                  <a:srgbClr val="D7E7D5"/>
                </a:solidFill>
                <a:latin typeface="Segoe UI"/>
                <a:ea typeface="Segoe UI"/>
                <a:cs typeface="Segoe UI"/>
              </a:rPr>
              <a:t>Reports</a:t>
            </a:r>
          </a:p>
        </p:txBody>
      </p:sp>
      <p:sp>
        <p:nvSpPr>
          <p:cNvPr id="17" name="Products &amp; batches">
            <a:extLst xmlns:a="http://schemas.openxmlformats.org/drawingml/2006/main">
              <a:ext uri="{FF2B5EF4-FFF2-40B4-BE49-F238E27FC236}">
                <a16:creationId xmlns:a16="http://schemas.microsoft.com/office/drawing/2014/main" id="{ACE23C16-23E9-4BE3-B106-86BAB5795E16}"/>
              </a:ext>
            </a:extLst>
          </p:cNvPr>
          <p:cNvSpPr>
            <a:spLocks xmlns:a="http://schemas.openxmlformats.org/drawingml/2006/main" noGrp="1"/>
          </p:cNvSpPr>
          <p:nvPr/>
        </p:nvSpPr>
        <p:spPr>
          <a:xfrm xmlns:a="http://schemas.openxmlformats.org/drawingml/2006/main">
            <a:off x="2790825" y="2333625"/>
            <a:ext cx="647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03333"/>
                </a:solidFill>
                <a:latin typeface="Segoe UI"/>
                <a:ea typeface="Segoe UI"/>
                <a:cs typeface="Segoe UI"/>
              </a:defRPr>
            </a:defPPr>
          </a:lstStyle>
          <a:p xmlns:a="http://schemas.openxmlformats.org/drawingml/2006/main">
            <a:pPr algn="l">
              <a:defRPr sz="2175" b="1">
                <a:solidFill>
                  <a:srgbClr val="203333"/>
                </a:solidFill>
                <a:latin typeface="Segoe UI"/>
                <a:ea typeface="Segoe UI"/>
                <a:cs typeface="Segoe UI"/>
              </a:defRPr>
            </a:pPr>
            <a:r>
              <a:rPr sz="2175" b="1">
                <a:solidFill>
                  <a:srgbClr val="203333"/>
                </a:solidFill>
                <a:latin typeface="Segoe UI"/>
                <a:ea typeface="Segoe UI"/>
                <a:cs typeface="Segoe UI"/>
              </a:rPr>
              <a:t>Products &amp; batches</a:t>
            </a:r>
          </a:p>
        </p:txBody>
      </p:sp>
      <p:sp>
        <p:nvSpPr>
          <p:cNvPr id="18" name="Product identity includes strength, presentation and batch.">
            <a:extLst xmlns:a="http://schemas.openxmlformats.org/drawingml/2006/main">
              <a:ext uri="{FF2B5EF4-FFF2-40B4-BE49-F238E27FC236}">
                <a16:creationId xmlns:a16="http://schemas.microsoft.com/office/drawing/2014/main" id="{9AC1A37C-3157-4328-B9E7-E2C9A9A6D2C9}"/>
              </a:ext>
            </a:extLst>
          </p:cNvPr>
          <p:cNvSpPr>
            <a:spLocks xmlns:a="http://schemas.openxmlformats.org/drawingml/2006/main" noGrp="1"/>
          </p:cNvSpPr>
          <p:nvPr/>
        </p:nvSpPr>
        <p:spPr>
          <a:xfrm xmlns:a="http://schemas.openxmlformats.org/drawingml/2006/main">
            <a:off x="2790825" y="2800350"/>
            <a:ext cx="82581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67873"/>
                </a:solidFill>
                <a:latin typeface="Segoe UI"/>
                <a:ea typeface="Segoe UI"/>
                <a:cs typeface="Segoe UI"/>
              </a:defRPr>
            </a:defPPr>
          </a:lstStyle>
          <a:p xmlns:a="http://schemas.openxmlformats.org/drawingml/2006/main">
            <a:pPr algn="l">
              <a:defRPr sz="1575" b="0">
                <a:solidFill>
                  <a:srgbClr val="667873"/>
                </a:solidFill>
                <a:latin typeface="Segoe UI"/>
                <a:ea typeface="Segoe UI"/>
                <a:cs typeface="Segoe UI"/>
              </a:defRPr>
            </a:pPr>
            <a:r>
              <a:rPr sz="1575" b="0">
                <a:solidFill>
                  <a:srgbClr val="667873"/>
                </a:solidFill>
                <a:latin typeface="Segoe UI"/>
                <a:ea typeface="Segoe UI"/>
                <a:cs typeface="Segoe UI"/>
              </a:rPr>
              <a:t>Product identity includes strength, presentation and batch.</a:t>
            </a:r>
          </a:p>
        </p:txBody>
      </p:sp>
      <p:graphicFrame>
        <p:nvGraphicFramePr>
          <p:cNvPr id="19" name="">
            <a:extLst xmlns:a="http://schemas.openxmlformats.org/drawingml/2006/main">
              <a:ext uri="{FF2B5EF4-FFF2-40B4-BE49-F238E27FC236}">
                <a16:creationId xmlns:a16="http://schemas.microsoft.com/office/drawing/2014/main" id="{126249F6-7583-4BE5-82EE-2157C18E4F7B}"/>
              </a:ext>
            </a:extLst>
          </p:cNvPr>
          <p:cNvGraphicFramePr/>
          <p:nvPr/>
        </p:nvGraphicFramePr>
        <p:xfrm>
          <a:off xmlns:a="http://schemas.openxmlformats.org/drawingml/2006/main" x="2790825" y="3343275"/>
          <a:ext xmlns:a="http://schemas.openxmlformats.org/drawingml/2006/main" cx="8467725" cy="1600200"/>
        </p:xfrm>
        <a:graphic xmlns:a="http://schemas.openxmlformats.org/drawingml/2006/main">
          <a:graphicData uri="http://schemas.openxmlformats.org/drawingml/2006/table">
            <a:tbl>
              <a:tblPr firstRow="1" bandRow="0"/>
              <a:tblGrid>
                <a:gridCol w="3838575"/>
                <a:gridCol w="2428875"/>
                <a:gridCol w="2200275"/>
              </a:tblGrid>
              <a:tr h="533400">
                <a:tc>
                  <a:txBody>
                    <a:bodyPr lIns="152400" tIns="76200" rIns="114300" bIns="76200">
                      <a:noAutofit/>
                    </a:bodyPr>
                    <a:lstStyle/>
                    <a:p>
                      <a:r>
                        <a:rPr sz="1650" b="1">
                          <a:solidFill>
                            <a:srgbClr val="FFFFFF"/>
                          </a:solidFill>
                          <a:latin typeface="Segoe UI"/>
                          <a:ea typeface="Segoe UI"/>
                          <a:cs typeface="Segoe UI"/>
                        </a:rPr>
                        <a:t>Product</a:t>
                      </a:r>
                    </a:p>
                  </a:txBody>
                  <a:tcPr marL="91440" marR="91440" marT="45720" marB="45720" anchor="ctr">
                    <a:solidFill>
                      <a:srgbClr val="1E3535"/>
                    </a:solidFill>
                  </a:tcPr>
                </a:tc>
                <a:tc>
                  <a:txBody>
                    <a:bodyPr lIns="152400" tIns="76200" rIns="114300" bIns="76200">
                      <a:noAutofit/>
                    </a:bodyPr>
                    <a:lstStyle/>
                    <a:p>
                      <a:r>
                        <a:rPr sz="1650" b="1">
                          <a:solidFill>
                            <a:srgbClr val="FFFFFF"/>
                          </a:solidFill>
                          <a:latin typeface="Segoe UI"/>
                          <a:ea typeface="Segoe UI"/>
                          <a:cs typeface="Segoe UI"/>
                        </a:rPr>
                        <a:t>Batch</a:t>
                      </a:r>
                    </a:p>
                  </a:txBody>
                  <a:tcPr marL="91440" marR="91440" marT="45720" marB="45720" anchor="ctr">
                    <a:solidFill>
                      <a:srgbClr val="1E3535"/>
                    </a:solidFill>
                  </a:tcPr>
                </a:tc>
                <a:tc>
                  <a:txBody>
                    <a:bodyPr lIns="152400" tIns="76200" rIns="114300" bIns="76200">
                      <a:noAutofit/>
                    </a:bodyPr>
                    <a:lstStyle/>
                    <a:p>
                      <a:r>
                        <a:rPr sz="1650" b="1">
                          <a:solidFill>
                            <a:srgbClr val="FFFFFF"/>
                          </a:solidFill>
                          <a:latin typeface="Segoe UI"/>
                          <a:ea typeface="Segoe UI"/>
                          <a:cs typeface="Segoe UI"/>
                        </a:rPr>
                        <a:t>Received</a:t>
                      </a:r>
                    </a:p>
                  </a:txBody>
                  <a:tcPr marL="91440" marR="91440" marT="45720" marB="45720" anchor="ctr">
                    <a:solidFill>
                      <a:srgbClr val="1E3535"/>
                    </a:solidFill>
                  </a:tcPr>
                </a:tc>
              </a:tr>
              <a:tr h="533400">
                <a:tc>
                  <a:txBody>
                    <a:bodyPr lIns="152400" tIns="76200" rIns="114300" bIns="76200">
                      <a:noAutofit/>
                    </a:bodyPr>
                    <a:lstStyle/>
                    <a:p>
                      <a:r>
                        <a:rPr sz="1650" b="1">
                          <a:solidFill>
                            <a:srgbClr val="203333"/>
                          </a:solidFill>
                          <a:latin typeface="Segoe UI"/>
                          <a:ea typeface="Segoe UI"/>
                          <a:cs typeface="Segoe UI"/>
                        </a:rPr>
                        <a:t>Paracetamol 500 mg</a:t>
                      </a:r>
                    </a:p>
                  </a:txBody>
                  <a:tcPr marL="91440" marR="91440" marT="45720" marB="45720" anchor="ctr">
                    <a:solidFill>
                      <a:srgbClr val="FFFFFF"/>
                    </a:solidFill>
                  </a:tcPr>
                </a:tc>
                <a:tc>
                  <a:txBody>
                    <a:bodyPr lIns="152400" tIns="76200" rIns="114300" bIns="76200">
                      <a:noAutofit/>
                    </a:bodyPr>
                    <a:lstStyle/>
                    <a:p>
                      <a:r>
                        <a:rPr sz="1650" b="0">
                          <a:solidFill>
                            <a:srgbClr val="203333"/>
                          </a:solidFill>
                          <a:latin typeface="Segoe UI"/>
                          <a:ea typeface="Segoe UI"/>
                          <a:cs typeface="Segoe UI"/>
                        </a:rPr>
                        <a:t>PCR-260901</a:t>
                      </a:r>
                    </a:p>
                  </a:txBody>
                  <a:tcPr marL="91440" marR="91440" marT="45720" marB="45720" anchor="ctr">
                    <a:solidFill>
                      <a:srgbClr val="FFFFFF"/>
                    </a:solidFill>
                  </a:tcPr>
                </a:tc>
                <a:tc>
                  <a:txBody>
                    <a:bodyPr lIns="152400" tIns="76200" rIns="114300" bIns="76200">
                      <a:noAutofit/>
                    </a:bodyPr>
                    <a:lstStyle/>
                    <a:p>
                      <a:r>
                        <a:rPr sz="1650" b="0">
                          <a:solidFill>
                            <a:srgbClr val="203333"/>
                          </a:solidFill>
                          <a:latin typeface="Segoe UI"/>
                          <a:ea typeface="Segoe UI"/>
                          <a:cs typeface="Segoe UI"/>
                        </a:rPr>
                        <a:t>1,000 boxes</a:t>
                      </a:r>
                    </a:p>
                  </a:txBody>
                  <a:tcPr marL="91440" marR="91440" marT="45720" marB="45720" anchor="ctr">
                    <a:solidFill>
                      <a:srgbClr val="FFFFFF"/>
                    </a:solidFill>
                  </a:tcPr>
                </a:tc>
              </a:tr>
              <a:tr h="533400">
                <a:tc>
                  <a:txBody>
                    <a:bodyPr lIns="152400" tIns="76200" rIns="114300" bIns="76200">
                      <a:noAutofit/>
                    </a:bodyPr>
                    <a:lstStyle/>
                    <a:p>
                      <a:r>
                        <a:rPr sz="1650" b="1">
                          <a:solidFill>
                            <a:srgbClr val="203333"/>
                          </a:solidFill>
                          <a:latin typeface="Segoe UI"/>
                          <a:ea typeface="Segoe UI"/>
                          <a:cs typeface="Segoe UI"/>
                        </a:rPr>
                        <a:t>Amoxicillin 500 mg</a:t>
                      </a:r>
                    </a:p>
                  </a:txBody>
                  <a:tcPr marL="91440" marR="91440" marT="45720" marB="45720" anchor="ctr">
                    <a:solidFill>
                      <a:srgbClr val="FFFFFF"/>
                    </a:solidFill>
                  </a:tcPr>
                </a:tc>
                <a:tc>
                  <a:txBody>
                    <a:bodyPr lIns="152400" tIns="76200" rIns="114300" bIns="76200">
                      <a:noAutofit/>
                    </a:bodyPr>
                    <a:lstStyle/>
                    <a:p>
                      <a:r>
                        <a:rPr sz="1650" b="0">
                          <a:solidFill>
                            <a:srgbClr val="203333"/>
                          </a:solidFill>
                          <a:latin typeface="Segoe UI"/>
                          <a:ea typeface="Segoe UI"/>
                          <a:cs typeface="Segoe UI"/>
                        </a:rPr>
                        <a:t>PCR-260901</a:t>
                      </a:r>
                    </a:p>
                  </a:txBody>
                  <a:tcPr marL="91440" marR="91440" marT="45720" marB="45720" anchor="ctr">
                    <a:solidFill>
                      <a:srgbClr val="FFFFFF"/>
                    </a:solidFill>
                  </a:tcPr>
                </a:tc>
                <a:tc>
                  <a:txBody>
                    <a:bodyPr lIns="152400" tIns="76200" rIns="114300" bIns="76200">
                      <a:noAutofit/>
                    </a:bodyPr>
                    <a:lstStyle/>
                    <a:p>
                      <a:r>
                        <a:rPr sz="1650" b="0">
                          <a:solidFill>
                            <a:srgbClr val="203333"/>
                          </a:solidFill>
                          <a:latin typeface="Segoe UI"/>
                          <a:ea typeface="Segoe UI"/>
                          <a:cs typeface="Segoe UI"/>
                        </a:rPr>
                        <a:t>300 boxes</a:t>
                      </a:r>
                    </a:p>
                  </a:txBody>
                  <a:tcPr marL="91440" marR="91440" marT="45720" marB="45720" anchor="ctr">
                    <a:solidFill>
                      <a:srgbClr val="FFFFFF"/>
                    </a:solidFill>
                  </a:tcPr>
                </a:tc>
              </a:tr>
            </a:tbl>
          </a:graphicData>
        </a:graphic>
      </p:graphicFrame>
      <p:sp>
        <p:nvSpPr>
          <p:cNvPr id="20" name="selected identity">
            <a:extLst xmlns:a="http://schemas.openxmlformats.org/drawingml/2006/main">
              <a:ext uri="{FF2B5EF4-FFF2-40B4-BE49-F238E27FC236}">
                <a16:creationId xmlns:a16="http://schemas.microsoft.com/office/drawing/2014/main" id="{35978C2F-4FD8-4F9C-B339-5D309A7E3BB9}"/>
              </a:ext>
            </a:extLst>
          </p:cNvPr>
          <p:cNvSpPr>
            <a:spLocks xmlns:a="http://schemas.openxmlformats.org/drawingml/2006/main" noGrp="1"/>
          </p:cNvSpPr>
          <p:nvPr/>
        </p:nvSpPr>
        <p:spPr>
          <a:xfrm xmlns:a="http://schemas.openxmlformats.org/drawingml/2006/main">
            <a:off x="2790825" y="5181600"/>
            <a:ext cx="8467725" cy="523875"/>
          </a:xfrm>
          <a:prstGeom xmlns:a="http://schemas.openxmlformats.org/drawingml/2006/main" prst="roundRect">
            <a:avLst>
              <a:gd name="adj" fmla="val 9091"/>
            </a:avLst>
          </a:prstGeom>
          <a:solidFill xmlns:a="http://schemas.openxmlformats.org/drawingml/2006/main">
            <a:srgbClr val="E9F3ED"/>
          </a:solidFill>
          <a:ln xmlns:a="http://schemas.openxmlformats.org/drawingml/2006/main" w="0">
            <a:noFill/>
          </a:ln>
        </p:spPr>
      </p:sp>
      <p:sp>
        <p:nvSpPr>
          <p:cNvPr id="21" name="Same printed code. Separate product identity and stock.">
            <a:extLst xmlns:a="http://schemas.openxmlformats.org/drawingml/2006/main">
              <a:ext uri="{FF2B5EF4-FFF2-40B4-BE49-F238E27FC236}">
                <a16:creationId xmlns:a16="http://schemas.microsoft.com/office/drawing/2014/main" id="{61CE1BD2-66CA-4F72-8038-61C85AFBB7CF}"/>
              </a:ext>
            </a:extLst>
          </p:cNvPr>
          <p:cNvSpPr>
            <a:spLocks xmlns:a="http://schemas.openxmlformats.org/drawingml/2006/main" noGrp="1"/>
          </p:cNvSpPr>
          <p:nvPr/>
        </p:nvSpPr>
        <p:spPr>
          <a:xfrm xmlns:a="http://schemas.openxmlformats.org/drawingml/2006/main">
            <a:off x="2943225" y="5324475"/>
            <a:ext cx="814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7645B"/>
                </a:solidFill>
                <a:latin typeface="Segoe UI"/>
                <a:ea typeface="Segoe UI"/>
                <a:cs typeface="Segoe UI"/>
              </a:defRPr>
            </a:defPPr>
          </a:lstStyle>
          <a:p xmlns:a="http://schemas.openxmlformats.org/drawingml/2006/main">
            <a:pPr algn="l">
              <a:defRPr sz="1650" b="1">
                <a:solidFill>
                  <a:srgbClr val="17645B"/>
                </a:solidFill>
                <a:latin typeface="Segoe UI"/>
                <a:ea typeface="Segoe UI"/>
                <a:cs typeface="Segoe UI"/>
              </a:defRPr>
            </a:pPr>
            <a:r>
              <a:rPr sz="1650" b="1">
                <a:solidFill>
                  <a:srgbClr val="17645B"/>
                </a:solidFill>
                <a:latin typeface="Segoe UI"/>
                <a:ea typeface="Segoe UI"/>
                <a:cs typeface="Segoe UI"/>
              </a:rPr>
              <a:t>Same printed code. Separate product identity and stock.</a:t>
            </a:r>
          </a:p>
        </p:txBody>
      </p:sp>
      <p:sp>
        <p:nvSpPr>
          <p:cNvPr id="22" name="Authored product records">
            <a:extLst xmlns:a="http://schemas.openxmlformats.org/drawingml/2006/main">
              <a:ext uri="{FF2B5EF4-FFF2-40B4-BE49-F238E27FC236}">
                <a16:creationId xmlns:a16="http://schemas.microsoft.com/office/drawing/2014/main" id="{ECA8F1DA-18EE-4BCA-AE28-BEB4DA3C1A06}"/>
              </a:ext>
            </a:extLst>
          </p:cNvPr>
          <p:cNvSpPr>
            <a:spLocks xmlns:a="http://schemas.openxmlformats.org/drawingml/2006/main" noGrp="1"/>
          </p:cNvSpPr>
          <p:nvPr/>
        </p:nvSpPr>
        <p:spPr>
          <a:xfrm xmlns:a="http://schemas.openxmlformats.org/drawingml/2006/main">
            <a:off x="609600" y="60769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67873"/>
                </a:solidFill>
                <a:latin typeface="Segoe UI"/>
                <a:ea typeface="Segoe UI"/>
                <a:cs typeface="Segoe UI"/>
              </a:defRPr>
            </a:defPPr>
          </a:lstStyle>
          <a:p xmlns:a="http://schemas.openxmlformats.org/drawingml/2006/main">
            <a:pPr algn="l">
              <a:defRPr sz="1200" b="0">
                <a:solidFill>
                  <a:srgbClr val="667873"/>
                </a:solidFill>
                <a:latin typeface="Segoe UI"/>
                <a:ea typeface="Segoe UI"/>
                <a:cs typeface="Segoe UI"/>
              </a:defRPr>
            </a:pPr>
            <a:r>
              <a:rPr sz="1200" b="0">
                <a:solidFill>
                  <a:srgbClr val="667873"/>
                </a:solidFill>
                <a:latin typeface="Segoe UI"/>
                <a:ea typeface="Segoe UI"/>
                <a:cs typeface="Segoe UI"/>
              </a:rPr>
              <a:t>Authored product records</a:t>
            </a:r>
          </a:p>
        </p:txBody>
      </p:sp>
    </p:spTree>
    <p:extLst>
      <p:ext uri="{BB962C8B-B14F-4D97-AF65-F5344CB8AC3E}">
        <p14:creationId xmlns:p14="http://schemas.microsoft.com/office/powerpoint/2010/main" val="596930218"/>
      </p:ext>
    </p:extLst>
  </p:cSld>
</p:sld>
</file>

<file path=ppt/slides/slide4.xml><?xml version="1.0" encoding="utf-8"?>
<p:sld xmlns:p="http://schemas.openxmlformats.org/presentationml/2006/main">
  <p:cSld>
    <p:bg>
      <p:bgPr>
        <a:solidFill xmlns:a="http://schemas.openxmlformats.org/drawingml/2006/main">
          <a:srgbClr val="1E3535"/>
        </a:solidFill>
      </p:bgPr>
    </p:bg>
    <p:spTree>
      <p:nvGrpSpPr>
        <p:cNvPr id="1" name=""/>
        <p:cNvGrpSpPr/>
        <p:nvPr/>
      </p:nvGrpSpPr>
      <p:grpSpPr>
        <a:xfrm xmlns:a="http://schemas.openxmlformats.org/drawingml/2006/main"/>
      </p:grpSpPr>
      <p:sp>
        <p:nvSpPr>
          <p:cNvPr id="29" name="AI extraction, reviewed before posting">
            <a:extLst xmlns:a="http://schemas.openxmlformats.org/drawingml/2006/main">
              <a:ext uri="{FF2B5EF4-FFF2-40B4-BE49-F238E27FC236}">
                <a16:creationId xmlns:a16="http://schemas.microsoft.com/office/drawing/2014/main" id="{EFA9A7FE-5674-491C-9201-CD51DE3B7F3A}"/>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FFFFFF"/>
                </a:solidFill>
                <a:latin typeface="Georgia"/>
                <a:ea typeface="Georgia"/>
                <a:cs typeface="Georgia"/>
              </a:defRPr>
            </a:defPPr>
          </a:lstStyle>
          <a:p xmlns:a="http://schemas.openxmlformats.org/drawingml/2006/main">
            <a:pPr algn="l">
              <a:defRPr sz="3450" b="0">
                <a:solidFill>
                  <a:srgbClr val="FFFFFF"/>
                </a:solidFill>
                <a:latin typeface="Georgia"/>
                <a:ea typeface="Georgia"/>
                <a:cs typeface="Georgia"/>
              </a:defRPr>
            </a:pPr>
            <a:r>
              <a:rPr sz="3450" b="0">
                <a:solidFill>
                  <a:srgbClr val="FFFFFF"/>
                </a:solidFill>
                <a:latin typeface="Georgia"/>
                <a:ea typeface="Georgia"/>
                <a:cs typeface="Georgia"/>
              </a:rPr>
              <a:t>AI extraction, reviewed before posting</a:t>
            </a:r>
          </a:p>
        </p:txBody>
      </p:sp>
      <p:sp>
        <p:nvSpPr>
          <p:cNvPr id="2" name="RecallScope">
            <a:extLst xmlns:a="http://schemas.openxmlformats.org/drawingml/2006/main">
              <a:ext uri="{FF2B5EF4-FFF2-40B4-BE49-F238E27FC236}">
                <a16:creationId xmlns:a16="http://schemas.microsoft.com/office/drawing/2014/main" id="{1F7F22E3-00AC-4AE5-AB5F-63DBEE0BEFB6}"/>
              </a:ext>
            </a:extLst>
          </p:cNvPr>
          <p:cNvSpPr>
            <a:spLocks xmlns:a="http://schemas.openxmlformats.org/drawingml/2006/main" noGrp="1"/>
          </p:cNvSpPr>
          <p:nvPr/>
        </p:nvSpPr>
        <p:spPr>
          <a:xfrm xmlns:a="http://schemas.openxmlformats.org/drawingml/2006/main">
            <a:off x="609600" y="6438900"/>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D7E7D5"/>
                </a:solidFill>
                <a:latin typeface="Segoe UI"/>
                <a:ea typeface="Segoe UI"/>
                <a:cs typeface="Segoe UI"/>
              </a:defRPr>
            </a:defPPr>
          </a:lstStyle>
          <a:p xmlns:a="http://schemas.openxmlformats.org/drawingml/2006/main">
            <a:pPr algn="l">
              <a:defRPr sz="1125" b="1">
                <a:solidFill>
                  <a:srgbClr val="D7E7D5"/>
                </a:solidFill>
                <a:latin typeface="Segoe UI"/>
                <a:ea typeface="Segoe UI"/>
                <a:cs typeface="Segoe UI"/>
              </a:defRPr>
            </a:pPr>
            <a:r>
              <a:rPr sz="1125" b="1">
                <a:solidFill>
                  <a:srgbClr val="D7E7D5"/>
                </a:solidFill>
                <a:latin typeface="Segoe UI"/>
                <a:ea typeface="Segoe UI"/>
                <a:cs typeface="Segoe UI"/>
              </a:rPr>
              <a:t>RecallScope</a:t>
            </a:r>
          </a:p>
        </p:txBody>
      </p:sp>
      <p:sp>
        <p:nvSpPr>
          <p:cNvPr id="3" name="04">
            <a:extLst xmlns:a="http://schemas.openxmlformats.org/drawingml/2006/main">
              <a:ext uri="{FF2B5EF4-FFF2-40B4-BE49-F238E27FC236}">
                <a16:creationId xmlns:a16="http://schemas.microsoft.com/office/drawing/2014/main" id="{3ABAE855-1FD7-442C-837C-A0A6C7F49BB5}"/>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D7E7D5"/>
                </a:solidFill>
                <a:latin typeface="Segoe UI"/>
                <a:ea typeface="Segoe UI"/>
                <a:cs typeface="Segoe UI"/>
              </a:defRPr>
            </a:defPPr>
          </a:lstStyle>
          <a:p xmlns:a="http://schemas.openxmlformats.org/drawingml/2006/main">
            <a:pPr algn="r">
              <a:defRPr sz="1125" b="0">
                <a:solidFill>
                  <a:srgbClr val="D7E7D5"/>
                </a:solidFill>
                <a:latin typeface="Segoe UI"/>
                <a:ea typeface="Segoe UI"/>
                <a:cs typeface="Segoe UI"/>
              </a:defRPr>
            </a:pPr>
            <a:r>
              <a:rPr sz="1125" b="0">
                <a:solidFill>
                  <a:srgbClr val="D7E7D5"/>
                </a:solidFill>
                <a:latin typeface="Segoe UI"/>
                <a:ea typeface="Segoe UI"/>
                <a:cs typeface="Segoe UI"/>
              </a:rPr>
              <a:t>04</a:t>
            </a:r>
          </a:p>
        </p:txBody>
      </p:sp>
      <p:sp>
        <p:nvSpPr>
          <p:cNvPr id="4" name="Fireworks or OpenAI reads a document and proposes structured">
            <a:extLst xmlns:a="http://schemas.openxmlformats.org/drawingml/2006/main">
              <a:ext uri="{FF2B5EF4-FFF2-40B4-BE49-F238E27FC236}">
                <a16:creationId xmlns:a16="http://schemas.microsoft.com/office/drawing/2014/main" id="{1B1C452D-4571-458D-9DA9-846FA35B41A4}"/>
              </a:ext>
            </a:extLst>
          </p:cNvPr>
          <p:cNvSpPr>
            <a:spLocks xmlns:a="http://schemas.openxmlformats.org/drawingml/2006/main" noGrp="1"/>
          </p:cNvSpPr>
          <p:nvPr/>
        </p:nvSpPr>
        <p:spPr>
          <a:xfrm xmlns:a="http://schemas.openxmlformats.org/drawingml/2006/main">
            <a:off x="609600" y="1371600"/>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D7E7D5"/>
                </a:solidFill>
                <a:latin typeface="Segoe UI"/>
                <a:ea typeface="Segoe UI"/>
                <a:cs typeface="Segoe UI"/>
              </a:defRPr>
            </a:defPPr>
          </a:lstStyle>
          <a:p xmlns:a="http://schemas.openxmlformats.org/drawingml/2006/main">
            <a:pPr algn="l">
              <a:defRPr sz="2250" b="0">
                <a:solidFill>
                  <a:srgbClr val="D7E7D5"/>
                </a:solidFill>
                <a:latin typeface="Segoe UI"/>
                <a:ea typeface="Segoe UI"/>
                <a:cs typeface="Segoe UI"/>
              </a:defRPr>
            </a:pPr>
            <a:r>
              <a:rPr sz="2250" b="0">
                <a:solidFill>
                  <a:srgbClr val="D7E7D5"/>
                </a:solidFill>
                <a:latin typeface="Segoe UI"/>
                <a:ea typeface="Segoe UI"/>
                <a:cs typeface="Segoe UI"/>
              </a:rPr>
              <a:t>Fireworks or OpenAI reads a document and proposes structured fields.</a:t>
            </a:r>
          </a:p>
        </p:txBody>
      </p:sp>
      <p:sp>
        <p:nvSpPr>
          <p:cNvPr id="5" name="trace node">
            <a:extLst xmlns:a="http://schemas.openxmlformats.org/drawingml/2006/main">
              <a:ext uri="{FF2B5EF4-FFF2-40B4-BE49-F238E27FC236}">
                <a16:creationId xmlns:a16="http://schemas.microsoft.com/office/drawing/2014/main" id="{970AD975-01B3-4448-8A9C-7DEC56A6F5C7}"/>
              </a:ext>
            </a:extLst>
          </p:cNvPr>
          <p:cNvSpPr>
            <a:spLocks xmlns:a="http://schemas.openxmlformats.org/drawingml/2006/main" noGrp="1"/>
          </p:cNvSpPr>
          <p:nvPr/>
        </p:nvSpPr>
        <p:spPr>
          <a:xfrm xmlns:a="http://schemas.openxmlformats.org/drawingml/2006/main">
            <a:off x="685800" y="2362200"/>
            <a:ext cx="171450" cy="171450"/>
          </a:xfrm>
          <a:prstGeom xmlns:a="http://schemas.openxmlformats.org/drawingml/2006/main" prst="ellipse">
            <a:avLst/>
          </a:prstGeom>
          <a:solidFill xmlns:a="http://schemas.openxmlformats.org/drawingml/2006/main">
            <a:srgbClr val="92D0B4"/>
          </a:solidFill>
          <a:ln xmlns:a="http://schemas.openxmlformats.org/drawingml/2006/main" w="0">
            <a:noFill/>
          </a:ln>
        </p:spPr>
      </p:sp>
      <p:sp>
        <p:nvSpPr>
          <p:cNvPr id="6" name="rule">
            <a:extLst xmlns:a="http://schemas.openxmlformats.org/drawingml/2006/main">
              <a:ext uri="{FF2B5EF4-FFF2-40B4-BE49-F238E27FC236}">
                <a16:creationId xmlns:a16="http://schemas.microsoft.com/office/drawing/2014/main" id="{99C106A0-8CC4-4770-AF9F-706B5ACBA9B1}"/>
              </a:ext>
            </a:extLst>
          </p:cNvPr>
          <p:cNvSpPr>
            <a:spLocks xmlns:a="http://schemas.openxmlformats.org/drawingml/2006/main" noGrp="1"/>
          </p:cNvSpPr>
          <p:nvPr/>
        </p:nvSpPr>
        <p:spPr>
          <a:xfrm xmlns:a="http://schemas.openxmlformats.org/drawingml/2006/main">
            <a:off x="895350" y="2438400"/>
            <a:ext cx="2438400" cy="28575"/>
          </a:xfrm>
          <a:prstGeom xmlns:a="http://schemas.openxmlformats.org/drawingml/2006/main" prst="rect">
            <a:avLst/>
          </a:prstGeom>
          <a:solidFill xmlns:a="http://schemas.openxmlformats.org/drawingml/2006/main">
            <a:srgbClr val="3C5651"/>
          </a:solidFill>
          <a:ln xmlns:a="http://schemas.openxmlformats.org/drawingml/2006/main" w="0">
            <a:noFill/>
          </a:ln>
        </p:spPr>
      </p:sp>
      <p:sp>
        <p:nvSpPr>
          <p:cNvPr id="7" name="Source">
            <a:extLst xmlns:a="http://schemas.openxmlformats.org/drawingml/2006/main">
              <a:ext uri="{FF2B5EF4-FFF2-40B4-BE49-F238E27FC236}">
                <a16:creationId xmlns:a16="http://schemas.microsoft.com/office/drawing/2014/main" id="{1B69DE3F-BE45-4E65-A1B4-4C4D0B0E0204}"/>
              </a:ext>
            </a:extLst>
          </p:cNvPr>
          <p:cNvSpPr>
            <a:spLocks xmlns:a="http://schemas.openxmlformats.org/drawingml/2006/main" noGrp="1"/>
          </p:cNvSpPr>
          <p:nvPr/>
        </p:nvSpPr>
        <p:spPr>
          <a:xfrm xmlns:a="http://schemas.openxmlformats.org/drawingml/2006/main">
            <a:off x="609600" y="2752725"/>
            <a:ext cx="2533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FFFFF"/>
                </a:solidFill>
                <a:latin typeface="Segoe UI"/>
                <a:ea typeface="Segoe UI"/>
                <a:cs typeface="Segoe UI"/>
              </a:defRPr>
            </a:defPPr>
          </a:lstStyle>
          <a:p xmlns:a="http://schemas.openxmlformats.org/drawingml/2006/main">
            <a:pPr algn="l">
              <a:defRPr sz="2175" b="1">
                <a:solidFill>
                  <a:srgbClr val="FFFFFF"/>
                </a:solidFill>
                <a:latin typeface="Segoe UI"/>
                <a:ea typeface="Segoe UI"/>
                <a:cs typeface="Segoe UI"/>
              </a:defRPr>
            </a:pPr>
            <a:r>
              <a:rPr sz="2175" b="1">
                <a:solidFill>
                  <a:srgbClr val="FFFFFF"/>
                </a:solidFill>
                <a:latin typeface="Segoe UI"/>
                <a:ea typeface="Segoe UI"/>
                <a:cs typeface="Segoe UI"/>
              </a:rPr>
              <a:t>Source</a:t>
            </a:r>
          </a:p>
        </p:txBody>
      </p:sp>
      <p:sp>
        <p:nvSpPr>
          <p:cNvPr id="8" name="trace node">
            <a:extLst xmlns:a="http://schemas.openxmlformats.org/drawingml/2006/main">
              <a:ext uri="{FF2B5EF4-FFF2-40B4-BE49-F238E27FC236}">
                <a16:creationId xmlns:a16="http://schemas.microsoft.com/office/drawing/2014/main" id="{FE52F654-FEEA-473B-A4A9-99CF745CED23}"/>
              </a:ext>
            </a:extLst>
          </p:cNvPr>
          <p:cNvSpPr>
            <a:spLocks xmlns:a="http://schemas.openxmlformats.org/drawingml/2006/main" noGrp="1"/>
          </p:cNvSpPr>
          <p:nvPr/>
        </p:nvSpPr>
        <p:spPr>
          <a:xfrm xmlns:a="http://schemas.openxmlformats.org/drawingml/2006/main">
            <a:off x="3495675" y="2362200"/>
            <a:ext cx="171450" cy="171450"/>
          </a:xfrm>
          <a:prstGeom xmlns:a="http://schemas.openxmlformats.org/drawingml/2006/main" prst="ellipse">
            <a:avLst/>
          </a:prstGeom>
          <a:solidFill xmlns:a="http://schemas.openxmlformats.org/drawingml/2006/main">
            <a:srgbClr val="92D0B4"/>
          </a:solidFill>
          <a:ln xmlns:a="http://schemas.openxmlformats.org/drawingml/2006/main" w="0">
            <a:noFill/>
          </a:ln>
        </p:spPr>
      </p:sp>
      <p:sp>
        <p:nvSpPr>
          <p:cNvPr id="9" name="rule">
            <a:extLst xmlns:a="http://schemas.openxmlformats.org/drawingml/2006/main">
              <a:ext uri="{FF2B5EF4-FFF2-40B4-BE49-F238E27FC236}">
                <a16:creationId xmlns:a16="http://schemas.microsoft.com/office/drawing/2014/main" id="{3580548C-244B-4838-A843-20C66203D0C7}"/>
              </a:ext>
            </a:extLst>
          </p:cNvPr>
          <p:cNvSpPr>
            <a:spLocks xmlns:a="http://schemas.openxmlformats.org/drawingml/2006/main" noGrp="1"/>
          </p:cNvSpPr>
          <p:nvPr/>
        </p:nvSpPr>
        <p:spPr>
          <a:xfrm xmlns:a="http://schemas.openxmlformats.org/drawingml/2006/main">
            <a:off x="3705225" y="2438400"/>
            <a:ext cx="2438400" cy="28575"/>
          </a:xfrm>
          <a:prstGeom xmlns:a="http://schemas.openxmlformats.org/drawingml/2006/main" prst="rect">
            <a:avLst/>
          </a:prstGeom>
          <a:solidFill xmlns:a="http://schemas.openxmlformats.org/drawingml/2006/main">
            <a:srgbClr val="3C5651"/>
          </a:solidFill>
          <a:ln xmlns:a="http://schemas.openxmlformats.org/drawingml/2006/main" w="0">
            <a:noFill/>
          </a:ln>
        </p:spPr>
      </p:sp>
      <p:sp>
        <p:nvSpPr>
          <p:cNvPr id="10" name="AI proposal">
            <a:extLst xmlns:a="http://schemas.openxmlformats.org/drawingml/2006/main">
              <a:ext uri="{FF2B5EF4-FFF2-40B4-BE49-F238E27FC236}">
                <a16:creationId xmlns:a16="http://schemas.microsoft.com/office/drawing/2014/main" id="{7270DD47-6CD0-42EA-B9AB-349B4CF17C86}"/>
              </a:ext>
            </a:extLst>
          </p:cNvPr>
          <p:cNvSpPr>
            <a:spLocks xmlns:a="http://schemas.openxmlformats.org/drawingml/2006/main" noGrp="1"/>
          </p:cNvSpPr>
          <p:nvPr/>
        </p:nvSpPr>
        <p:spPr>
          <a:xfrm xmlns:a="http://schemas.openxmlformats.org/drawingml/2006/main">
            <a:off x="3419475" y="2752725"/>
            <a:ext cx="2533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FFFFF"/>
                </a:solidFill>
                <a:latin typeface="Segoe UI"/>
                <a:ea typeface="Segoe UI"/>
                <a:cs typeface="Segoe UI"/>
              </a:defRPr>
            </a:defPPr>
          </a:lstStyle>
          <a:p xmlns:a="http://schemas.openxmlformats.org/drawingml/2006/main">
            <a:pPr algn="l">
              <a:defRPr sz="2175" b="1">
                <a:solidFill>
                  <a:srgbClr val="FFFFFF"/>
                </a:solidFill>
                <a:latin typeface="Segoe UI"/>
                <a:ea typeface="Segoe UI"/>
                <a:cs typeface="Segoe UI"/>
              </a:defRPr>
            </a:pPr>
            <a:r>
              <a:rPr sz="2175" b="1">
                <a:solidFill>
                  <a:srgbClr val="FFFFFF"/>
                </a:solidFill>
                <a:latin typeface="Segoe UI"/>
                <a:ea typeface="Segoe UI"/>
                <a:cs typeface="Segoe UI"/>
              </a:rPr>
              <a:t>AI proposal</a:t>
            </a:r>
          </a:p>
        </p:txBody>
      </p:sp>
      <p:sp>
        <p:nvSpPr>
          <p:cNvPr id="11" name="trace node">
            <a:extLst xmlns:a="http://schemas.openxmlformats.org/drawingml/2006/main">
              <a:ext uri="{FF2B5EF4-FFF2-40B4-BE49-F238E27FC236}">
                <a16:creationId xmlns:a16="http://schemas.microsoft.com/office/drawing/2014/main" id="{BEC2090A-BA69-42B4-91B0-E5F8A02C06C0}"/>
              </a:ext>
            </a:extLst>
          </p:cNvPr>
          <p:cNvSpPr>
            <a:spLocks xmlns:a="http://schemas.openxmlformats.org/drawingml/2006/main" noGrp="1"/>
          </p:cNvSpPr>
          <p:nvPr/>
        </p:nvSpPr>
        <p:spPr>
          <a:xfrm xmlns:a="http://schemas.openxmlformats.org/drawingml/2006/main">
            <a:off x="6305550" y="2362200"/>
            <a:ext cx="171450" cy="171450"/>
          </a:xfrm>
          <a:prstGeom xmlns:a="http://schemas.openxmlformats.org/drawingml/2006/main" prst="ellipse">
            <a:avLst/>
          </a:prstGeom>
          <a:solidFill xmlns:a="http://schemas.openxmlformats.org/drawingml/2006/main">
            <a:srgbClr val="D4B479"/>
          </a:solidFill>
          <a:ln xmlns:a="http://schemas.openxmlformats.org/drawingml/2006/main" w="0">
            <a:noFill/>
          </a:ln>
        </p:spPr>
      </p:sp>
      <p:sp>
        <p:nvSpPr>
          <p:cNvPr id="12" name="rule">
            <a:extLst xmlns:a="http://schemas.openxmlformats.org/drawingml/2006/main">
              <a:ext uri="{FF2B5EF4-FFF2-40B4-BE49-F238E27FC236}">
                <a16:creationId xmlns:a16="http://schemas.microsoft.com/office/drawing/2014/main" id="{9E278E86-9B4D-4FD4-9127-1ED55C42A200}"/>
              </a:ext>
            </a:extLst>
          </p:cNvPr>
          <p:cNvSpPr>
            <a:spLocks xmlns:a="http://schemas.openxmlformats.org/drawingml/2006/main" noGrp="1"/>
          </p:cNvSpPr>
          <p:nvPr/>
        </p:nvSpPr>
        <p:spPr>
          <a:xfrm xmlns:a="http://schemas.openxmlformats.org/drawingml/2006/main">
            <a:off x="6515100" y="2438400"/>
            <a:ext cx="2438400" cy="28575"/>
          </a:xfrm>
          <a:prstGeom xmlns:a="http://schemas.openxmlformats.org/drawingml/2006/main" prst="rect">
            <a:avLst/>
          </a:prstGeom>
          <a:solidFill xmlns:a="http://schemas.openxmlformats.org/drawingml/2006/main">
            <a:srgbClr val="3C5651"/>
          </a:solidFill>
          <a:ln xmlns:a="http://schemas.openxmlformats.org/drawingml/2006/main" w="0">
            <a:noFill/>
          </a:ln>
        </p:spPr>
      </p:sp>
      <p:sp>
        <p:nvSpPr>
          <p:cNvPr id="13" name="Review">
            <a:extLst xmlns:a="http://schemas.openxmlformats.org/drawingml/2006/main">
              <a:ext uri="{FF2B5EF4-FFF2-40B4-BE49-F238E27FC236}">
                <a16:creationId xmlns:a16="http://schemas.microsoft.com/office/drawing/2014/main" id="{0A173423-C04F-4141-9765-FBA86A0C1371}"/>
              </a:ext>
            </a:extLst>
          </p:cNvPr>
          <p:cNvSpPr>
            <a:spLocks xmlns:a="http://schemas.openxmlformats.org/drawingml/2006/main" noGrp="1"/>
          </p:cNvSpPr>
          <p:nvPr/>
        </p:nvSpPr>
        <p:spPr>
          <a:xfrm xmlns:a="http://schemas.openxmlformats.org/drawingml/2006/main">
            <a:off x="6229350" y="2752725"/>
            <a:ext cx="2533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FFFFF"/>
                </a:solidFill>
                <a:latin typeface="Segoe UI"/>
                <a:ea typeface="Segoe UI"/>
                <a:cs typeface="Segoe UI"/>
              </a:defRPr>
            </a:defPPr>
          </a:lstStyle>
          <a:p xmlns:a="http://schemas.openxmlformats.org/drawingml/2006/main">
            <a:pPr algn="l">
              <a:defRPr sz="2175" b="1">
                <a:solidFill>
                  <a:srgbClr val="FFFFFF"/>
                </a:solidFill>
                <a:latin typeface="Segoe UI"/>
                <a:ea typeface="Segoe UI"/>
                <a:cs typeface="Segoe UI"/>
              </a:defRPr>
            </a:pPr>
            <a:r>
              <a:rPr sz="2175" b="1">
                <a:solidFill>
                  <a:srgbClr val="FFFFFF"/>
                </a:solidFill>
                <a:latin typeface="Segoe UI"/>
                <a:ea typeface="Segoe UI"/>
                <a:cs typeface="Segoe UI"/>
              </a:rPr>
              <a:t>Review</a:t>
            </a:r>
          </a:p>
        </p:txBody>
      </p:sp>
      <p:sp>
        <p:nvSpPr>
          <p:cNvPr id="14" name="trace node">
            <a:extLst xmlns:a="http://schemas.openxmlformats.org/drawingml/2006/main">
              <a:ext uri="{FF2B5EF4-FFF2-40B4-BE49-F238E27FC236}">
                <a16:creationId xmlns:a16="http://schemas.microsoft.com/office/drawing/2014/main" id="{B9FF18C9-0AF9-4E72-B18B-D8C382EBA852}"/>
              </a:ext>
            </a:extLst>
          </p:cNvPr>
          <p:cNvSpPr>
            <a:spLocks xmlns:a="http://schemas.openxmlformats.org/drawingml/2006/main" noGrp="1"/>
          </p:cNvSpPr>
          <p:nvPr/>
        </p:nvSpPr>
        <p:spPr>
          <a:xfrm xmlns:a="http://schemas.openxmlformats.org/drawingml/2006/main">
            <a:off x="9115425" y="2362200"/>
            <a:ext cx="171450" cy="171450"/>
          </a:xfrm>
          <a:prstGeom xmlns:a="http://schemas.openxmlformats.org/drawingml/2006/main" prst="ellipse">
            <a:avLst/>
          </a:prstGeom>
          <a:solidFill xmlns:a="http://schemas.openxmlformats.org/drawingml/2006/main">
            <a:srgbClr val="D4B479"/>
          </a:solidFill>
          <a:ln xmlns:a="http://schemas.openxmlformats.org/drawingml/2006/main" w="0">
            <a:noFill/>
          </a:ln>
        </p:spPr>
      </p:sp>
      <p:sp>
        <p:nvSpPr>
          <p:cNvPr id="15" name="Stock ledger">
            <a:extLst xmlns:a="http://schemas.openxmlformats.org/drawingml/2006/main">
              <a:ext uri="{FF2B5EF4-FFF2-40B4-BE49-F238E27FC236}">
                <a16:creationId xmlns:a16="http://schemas.microsoft.com/office/drawing/2014/main" id="{152DD658-810C-4837-B859-2FB493E74EC1}"/>
              </a:ext>
            </a:extLst>
          </p:cNvPr>
          <p:cNvSpPr>
            <a:spLocks xmlns:a="http://schemas.openxmlformats.org/drawingml/2006/main" noGrp="1"/>
          </p:cNvSpPr>
          <p:nvPr/>
        </p:nvSpPr>
        <p:spPr>
          <a:xfrm xmlns:a="http://schemas.openxmlformats.org/drawingml/2006/main">
            <a:off x="9039225" y="2752725"/>
            <a:ext cx="2533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FFFFF"/>
                </a:solidFill>
                <a:latin typeface="Segoe UI"/>
                <a:ea typeface="Segoe UI"/>
                <a:cs typeface="Segoe UI"/>
              </a:defRPr>
            </a:defPPr>
          </a:lstStyle>
          <a:p xmlns:a="http://schemas.openxmlformats.org/drawingml/2006/main">
            <a:pPr algn="l">
              <a:defRPr sz="2175" b="1">
                <a:solidFill>
                  <a:srgbClr val="FFFFFF"/>
                </a:solidFill>
                <a:latin typeface="Segoe UI"/>
                <a:ea typeface="Segoe UI"/>
                <a:cs typeface="Segoe UI"/>
              </a:defRPr>
            </a:pPr>
            <a:r>
              <a:rPr sz="2175" b="1">
                <a:solidFill>
                  <a:srgbClr val="FFFFFF"/>
                </a:solidFill>
                <a:latin typeface="Segoe UI"/>
                <a:ea typeface="Segoe UI"/>
                <a:cs typeface="Segoe UI"/>
              </a:rPr>
              <a:t>Stock ledger</a:t>
            </a:r>
          </a:p>
        </p:txBody>
      </p:sp>
      <p:sp>
        <p:nvSpPr>
          <p:cNvPr id="16" name="Proposed goods receipt">
            <a:extLst xmlns:a="http://schemas.openxmlformats.org/drawingml/2006/main">
              <a:ext uri="{FF2B5EF4-FFF2-40B4-BE49-F238E27FC236}">
                <a16:creationId xmlns:a16="http://schemas.microsoft.com/office/drawing/2014/main" id="{32ACE8E9-777B-4E55-8A9F-4BE06EDCC907}"/>
              </a:ext>
            </a:extLst>
          </p:cNvPr>
          <p:cNvSpPr>
            <a:spLocks xmlns:a="http://schemas.openxmlformats.org/drawingml/2006/main" noGrp="1"/>
          </p:cNvSpPr>
          <p:nvPr/>
        </p:nvSpPr>
        <p:spPr>
          <a:xfrm xmlns:a="http://schemas.openxmlformats.org/drawingml/2006/main">
            <a:off x="609600" y="3609975"/>
            <a:ext cx="4457700" cy="2114550"/>
          </a:xfrm>
          <a:prstGeom xmlns:a="http://schemas.openxmlformats.org/drawingml/2006/main" prst="roundRect">
            <a:avLst>
              <a:gd name="adj" fmla="val 2252"/>
            </a:avLst>
          </a:prstGeom>
          <a:solidFill xmlns:a="http://schemas.openxmlformats.org/drawingml/2006/main">
            <a:srgbClr val="213B37"/>
          </a:solidFill>
          <a:ln xmlns:a="http://schemas.openxmlformats.org/drawingml/2006/main" w="13335">
            <a:solidFill>
              <a:srgbClr val="3C5651"/>
            </a:solidFill>
          </a:ln>
        </p:spPr>
      </p:sp>
      <p:sp>
        <p:nvSpPr>
          <p:cNvPr id="17" name="Proposed goods receipt">
            <a:extLst xmlns:a="http://schemas.openxmlformats.org/drawingml/2006/main">
              <a:ext uri="{FF2B5EF4-FFF2-40B4-BE49-F238E27FC236}">
                <a16:creationId xmlns:a16="http://schemas.microsoft.com/office/drawing/2014/main" id="{05157C93-D4EA-45D1-B1C4-6B8B7DCACDB0}"/>
              </a:ext>
            </a:extLst>
          </p:cNvPr>
          <p:cNvSpPr>
            <a:spLocks xmlns:a="http://schemas.openxmlformats.org/drawingml/2006/main" noGrp="1"/>
          </p:cNvSpPr>
          <p:nvPr/>
        </p:nvSpPr>
        <p:spPr>
          <a:xfrm xmlns:a="http://schemas.openxmlformats.org/drawingml/2006/main">
            <a:off x="819150" y="3800475"/>
            <a:ext cx="4038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92D0B4"/>
                </a:solidFill>
                <a:latin typeface="Segoe UI"/>
                <a:ea typeface="Segoe UI"/>
                <a:cs typeface="Segoe UI"/>
              </a:defRPr>
            </a:defPPr>
          </a:lstStyle>
          <a:p xmlns:a="http://schemas.openxmlformats.org/drawingml/2006/main">
            <a:pPr algn="l">
              <a:defRPr sz="1800" b="1">
                <a:solidFill>
                  <a:srgbClr val="92D0B4"/>
                </a:solidFill>
                <a:latin typeface="Segoe UI"/>
                <a:ea typeface="Segoe UI"/>
                <a:cs typeface="Segoe UI"/>
              </a:defRPr>
            </a:pPr>
            <a:r>
              <a:rPr sz="1800" b="1">
                <a:solidFill>
                  <a:srgbClr val="92D0B4"/>
                </a:solidFill>
                <a:latin typeface="Segoe UI"/>
                <a:ea typeface="Segoe UI"/>
                <a:cs typeface="Segoe UI"/>
              </a:rPr>
              <a:t>Proposed goods receipt</a:t>
            </a:r>
          </a:p>
        </p:txBody>
      </p:sp>
      <p:sp>
        <p:nvSpPr>
          <p:cNvPr id="18" name="rule">
            <a:extLst xmlns:a="http://schemas.openxmlformats.org/drawingml/2006/main">
              <a:ext uri="{FF2B5EF4-FFF2-40B4-BE49-F238E27FC236}">
                <a16:creationId xmlns:a16="http://schemas.microsoft.com/office/drawing/2014/main" id="{650E6056-02C6-4273-ABBB-FDA1D728D07A}"/>
              </a:ext>
            </a:extLst>
          </p:cNvPr>
          <p:cNvSpPr>
            <a:spLocks xmlns:a="http://schemas.openxmlformats.org/drawingml/2006/main" noGrp="1"/>
          </p:cNvSpPr>
          <p:nvPr/>
        </p:nvSpPr>
        <p:spPr>
          <a:xfrm xmlns:a="http://schemas.openxmlformats.org/drawingml/2006/main">
            <a:off x="819150" y="4238625"/>
            <a:ext cx="4038600" cy="13335"/>
          </a:xfrm>
          <a:prstGeom xmlns:a="http://schemas.openxmlformats.org/drawingml/2006/main" prst="rect">
            <a:avLst/>
          </a:prstGeom>
          <a:solidFill xmlns:a="http://schemas.openxmlformats.org/drawingml/2006/main">
            <a:srgbClr val="3C5651"/>
          </a:solidFill>
          <a:ln xmlns:a="http://schemas.openxmlformats.org/drawingml/2006/main" w="0">
            <a:noFill/>
          </a:ln>
        </p:spPr>
      </p:sp>
      <p:sp>
        <p:nvSpPr>
          <p:cNvPr id="19" name="PAR-500-100 / PCR-261001">
            <a:extLst xmlns:a="http://schemas.openxmlformats.org/drawingml/2006/main">
              <a:ext uri="{FF2B5EF4-FFF2-40B4-BE49-F238E27FC236}">
                <a16:creationId xmlns:a16="http://schemas.microsoft.com/office/drawing/2014/main" id="{32B1309D-6E95-4275-9DE7-37090C68DC6C}"/>
              </a:ext>
            </a:extLst>
          </p:cNvPr>
          <p:cNvSpPr>
            <a:spLocks xmlns:a="http://schemas.openxmlformats.org/drawingml/2006/main" noGrp="1"/>
          </p:cNvSpPr>
          <p:nvPr/>
        </p:nvSpPr>
        <p:spPr>
          <a:xfrm xmlns:a="http://schemas.openxmlformats.org/drawingml/2006/main">
            <a:off x="819150" y="4429125"/>
            <a:ext cx="4038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FFFFF"/>
                </a:solidFill>
                <a:latin typeface="Segoe UI"/>
                <a:ea typeface="Segoe UI"/>
                <a:cs typeface="Segoe UI"/>
              </a:defRPr>
            </a:defPPr>
          </a:lstStyle>
          <a:p xmlns:a="http://schemas.openxmlformats.org/drawingml/2006/main">
            <a:pPr algn="l">
              <a:defRPr sz="1650" b="0">
                <a:solidFill>
                  <a:srgbClr val="FFFFFF"/>
                </a:solidFill>
                <a:latin typeface="Segoe UI"/>
                <a:ea typeface="Segoe UI"/>
                <a:cs typeface="Segoe UI"/>
              </a:defRPr>
            </a:pPr>
            <a:r>
              <a:rPr sz="1650" b="0">
                <a:solidFill>
                  <a:srgbClr val="FFFFFF"/>
                </a:solidFill>
                <a:latin typeface="Segoe UI"/>
                <a:ea typeface="Segoe UI"/>
                <a:cs typeface="Segoe UI"/>
              </a:rPr>
              <a:t>PAR-500-100 / PCR-261001</a:t>
            </a:r>
          </a:p>
        </p:txBody>
      </p:sp>
      <p:sp>
        <p:nvSpPr>
          <p:cNvPr id="20" name="40 boxes">
            <a:extLst xmlns:a="http://schemas.openxmlformats.org/drawingml/2006/main">
              <a:ext uri="{FF2B5EF4-FFF2-40B4-BE49-F238E27FC236}">
                <a16:creationId xmlns:a16="http://schemas.microsoft.com/office/drawing/2014/main" id="{E7C4CA52-9E67-432C-B049-77CC37537128}"/>
              </a:ext>
            </a:extLst>
          </p:cNvPr>
          <p:cNvSpPr>
            <a:spLocks xmlns:a="http://schemas.openxmlformats.org/drawingml/2006/main" noGrp="1"/>
          </p:cNvSpPr>
          <p:nvPr/>
        </p:nvSpPr>
        <p:spPr>
          <a:xfrm xmlns:a="http://schemas.openxmlformats.org/drawingml/2006/main">
            <a:off x="819150" y="4810125"/>
            <a:ext cx="4038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FFFFF"/>
                </a:solidFill>
                <a:latin typeface="Segoe UI"/>
                <a:ea typeface="Segoe UI"/>
                <a:cs typeface="Segoe UI"/>
              </a:defRPr>
            </a:defPPr>
          </a:lstStyle>
          <a:p xmlns:a="http://schemas.openxmlformats.org/drawingml/2006/main">
            <a:pPr algn="l">
              <a:defRPr sz="1650" b="0">
                <a:solidFill>
                  <a:srgbClr val="FFFFFF"/>
                </a:solidFill>
                <a:latin typeface="Segoe UI"/>
                <a:ea typeface="Segoe UI"/>
                <a:cs typeface="Segoe UI"/>
              </a:defRPr>
            </a:pPr>
            <a:r>
              <a:rPr sz="1650" b="0">
                <a:solidFill>
                  <a:srgbClr val="FFFFFF"/>
                </a:solidFill>
                <a:latin typeface="Segoe UI"/>
                <a:ea typeface="Segoe UI"/>
                <a:cs typeface="Segoe UI"/>
              </a:rPr>
              <a:t>40 boxes</a:t>
            </a:r>
          </a:p>
        </p:txBody>
      </p:sp>
      <p:sp>
        <p:nvSpPr>
          <p:cNvPr id="21" name="Original source stays inspectable">
            <a:extLst xmlns:a="http://schemas.openxmlformats.org/drawingml/2006/main">
              <a:ext uri="{FF2B5EF4-FFF2-40B4-BE49-F238E27FC236}">
                <a16:creationId xmlns:a16="http://schemas.microsoft.com/office/drawing/2014/main" id="{2D9CD856-3435-4129-8FEA-FEE51E457F38}"/>
              </a:ext>
            </a:extLst>
          </p:cNvPr>
          <p:cNvSpPr>
            <a:spLocks xmlns:a="http://schemas.openxmlformats.org/drawingml/2006/main" noGrp="1"/>
          </p:cNvSpPr>
          <p:nvPr/>
        </p:nvSpPr>
        <p:spPr>
          <a:xfrm xmlns:a="http://schemas.openxmlformats.org/drawingml/2006/main">
            <a:off x="819150" y="5191125"/>
            <a:ext cx="4038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FFFFF"/>
                </a:solidFill>
                <a:latin typeface="Segoe UI"/>
                <a:ea typeface="Segoe UI"/>
                <a:cs typeface="Segoe UI"/>
              </a:defRPr>
            </a:defPPr>
          </a:lstStyle>
          <a:p xmlns:a="http://schemas.openxmlformats.org/drawingml/2006/main">
            <a:pPr algn="l">
              <a:defRPr sz="1650" b="0">
                <a:solidFill>
                  <a:srgbClr val="FFFFFF"/>
                </a:solidFill>
                <a:latin typeface="Segoe UI"/>
                <a:ea typeface="Segoe UI"/>
                <a:cs typeface="Segoe UI"/>
              </a:defRPr>
            </a:pPr>
            <a:r>
              <a:rPr sz="1650" b="0">
                <a:solidFill>
                  <a:srgbClr val="FFFFFF"/>
                </a:solidFill>
                <a:latin typeface="Segoe UI"/>
                <a:ea typeface="Segoe UI"/>
                <a:cs typeface="Segoe UI"/>
              </a:rPr>
              <a:t>Original source stays inspectable</a:t>
            </a:r>
          </a:p>
        </p:txBody>
      </p:sp>
      <p:sp>
        <p:nvSpPr>
          <p:cNvPr id="22" name="400">
            <a:extLst xmlns:a="http://schemas.openxmlformats.org/drawingml/2006/main">
              <a:ext uri="{FF2B5EF4-FFF2-40B4-BE49-F238E27FC236}">
                <a16:creationId xmlns:a16="http://schemas.microsoft.com/office/drawing/2014/main" id="{F3D2D7F8-534D-4758-95E3-B21383F98837}"/>
              </a:ext>
            </a:extLst>
          </p:cNvPr>
          <p:cNvSpPr>
            <a:spLocks xmlns:a="http://schemas.openxmlformats.org/drawingml/2006/main" noGrp="1"/>
          </p:cNvSpPr>
          <p:nvPr/>
        </p:nvSpPr>
        <p:spPr>
          <a:xfrm xmlns:a="http://schemas.openxmlformats.org/drawingml/2006/main">
            <a:off x="5734050" y="3695700"/>
            <a:ext cx="21621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FFFFFF"/>
                </a:solidFill>
                <a:latin typeface="Segoe UI"/>
                <a:ea typeface="Segoe UI"/>
                <a:cs typeface="Segoe UI"/>
              </a:defRPr>
            </a:defPPr>
          </a:lstStyle>
          <a:p xmlns:a="http://schemas.openxmlformats.org/drawingml/2006/main">
            <a:pPr algn="l">
              <a:defRPr sz="5250" b="1">
                <a:solidFill>
                  <a:srgbClr val="FFFFFF"/>
                </a:solidFill>
                <a:latin typeface="Segoe UI"/>
                <a:ea typeface="Segoe UI"/>
                <a:cs typeface="Segoe UI"/>
              </a:defRPr>
            </a:pPr>
            <a:r>
              <a:rPr sz="5250" b="1">
                <a:solidFill>
                  <a:srgbClr val="FFFFFF"/>
                </a:solidFill>
                <a:latin typeface="Segoe UI"/>
                <a:ea typeface="Segoe UI"/>
                <a:cs typeface="Segoe UI"/>
              </a:rPr>
              <a:t>400</a:t>
            </a:r>
          </a:p>
        </p:txBody>
      </p:sp>
      <p:sp>
        <p:nvSpPr>
          <p:cNvPr id="23" name="440">
            <a:extLst xmlns:a="http://schemas.openxmlformats.org/drawingml/2006/main">
              <a:ext uri="{FF2B5EF4-FFF2-40B4-BE49-F238E27FC236}">
                <a16:creationId xmlns:a16="http://schemas.microsoft.com/office/drawing/2014/main" id="{C64C3698-286C-43D2-B571-92610931322A}"/>
              </a:ext>
            </a:extLst>
          </p:cNvPr>
          <p:cNvSpPr>
            <a:spLocks xmlns:a="http://schemas.openxmlformats.org/drawingml/2006/main" noGrp="1"/>
          </p:cNvSpPr>
          <p:nvPr/>
        </p:nvSpPr>
        <p:spPr>
          <a:xfrm xmlns:a="http://schemas.openxmlformats.org/drawingml/2006/main">
            <a:off x="8991600" y="3695700"/>
            <a:ext cx="2286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92D0B4"/>
                </a:solidFill>
                <a:latin typeface="Segoe UI"/>
                <a:ea typeface="Segoe UI"/>
                <a:cs typeface="Segoe UI"/>
              </a:defRPr>
            </a:defPPr>
          </a:lstStyle>
          <a:p xmlns:a="http://schemas.openxmlformats.org/drawingml/2006/main">
            <a:pPr algn="l">
              <a:defRPr sz="5250" b="1">
                <a:solidFill>
                  <a:srgbClr val="92D0B4"/>
                </a:solidFill>
                <a:latin typeface="Segoe UI"/>
                <a:ea typeface="Segoe UI"/>
                <a:cs typeface="Segoe UI"/>
              </a:defRPr>
            </a:pPr>
            <a:r>
              <a:rPr sz="5250" b="1">
                <a:solidFill>
                  <a:srgbClr val="92D0B4"/>
                </a:solidFill>
                <a:latin typeface="Segoe UI"/>
                <a:ea typeface="Segoe UI"/>
                <a:cs typeface="Segoe UI"/>
              </a:rPr>
              <a:t>440</a:t>
            </a:r>
          </a:p>
        </p:txBody>
      </p:sp>
      <p:sp>
        <p:nvSpPr>
          <p:cNvPr id="24" name="rule">
            <a:extLst xmlns:a="http://schemas.openxmlformats.org/drawingml/2006/main">
              <a:ext uri="{FF2B5EF4-FFF2-40B4-BE49-F238E27FC236}">
                <a16:creationId xmlns:a16="http://schemas.microsoft.com/office/drawing/2014/main" id="{D9C5B66B-0ADD-484D-8971-23788AA47FEF}"/>
              </a:ext>
            </a:extLst>
          </p:cNvPr>
          <p:cNvSpPr>
            <a:spLocks xmlns:a="http://schemas.openxmlformats.org/drawingml/2006/main" noGrp="1"/>
          </p:cNvSpPr>
          <p:nvPr/>
        </p:nvSpPr>
        <p:spPr>
          <a:xfrm xmlns:a="http://schemas.openxmlformats.org/drawingml/2006/main">
            <a:off x="7581900" y="4152900"/>
            <a:ext cx="895350" cy="38100"/>
          </a:xfrm>
          <a:prstGeom xmlns:a="http://schemas.openxmlformats.org/drawingml/2006/main" prst="rect">
            <a:avLst/>
          </a:prstGeom>
          <a:solidFill xmlns:a="http://schemas.openxmlformats.org/drawingml/2006/main">
            <a:srgbClr val="92D0B4"/>
          </a:solidFill>
          <a:ln xmlns:a="http://schemas.openxmlformats.org/drawingml/2006/main" w="0">
            <a:noFill/>
          </a:ln>
        </p:spPr>
      </p:sp>
      <p:sp>
        <p:nvSpPr>
          <p:cNvPr id="25" name="posting direction">
            <a:extLst xmlns:a="http://schemas.openxmlformats.org/drawingml/2006/main">
              <a:ext uri="{FF2B5EF4-FFF2-40B4-BE49-F238E27FC236}">
                <a16:creationId xmlns:a16="http://schemas.microsoft.com/office/drawing/2014/main" id="{A4588B14-F6DE-41EC-A431-8557A2AD4F71}"/>
              </a:ext>
            </a:extLst>
          </p:cNvPr>
          <p:cNvSpPr>
            <a:spLocks xmlns:a="http://schemas.openxmlformats.org/drawingml/2006/main" noGrp="1"/>
          </p:cNvSpPr>
          <p:nvPr/>
        </p:nvSpPr>
        <p:spPr>
          <a:xfrm xmlns:a="http://schemas.openxmlformats.org/drawingml/2006/main" rot="5400000">
            <a:off x="8439150" y="4076700"/>
            <a:ext cx="133350" cy="190500"/>
          </a:xfrm>
          <a:prstGeom xmlns:a="http://schemas.openxmlformats.org/drawingml/2006/main" prst="triangle">
            <a:avLst/>
          </a:prstGeom>
          <a:solidFill xmlns:a="http://schemas.openxmlformats.org/drawingml/2006/main">
            <a:srgbClr val="92D0B4"/>
          </a:solidFill>
          <a:ln xmlns:a="http://schemas.openxmlformats.org/drawingml/2006/main" w="0">
            <a:noFill/>
          </a:ln>
        </p:spPr>
      </p:sp>
      <p:sp>
        <p:nvSpPr>
          <p:cNvPr id="26" name="boxes on hand">
            <a:extLst xmlns:a="http://schemas.openxmlformats.org/drawingml/2006/main">
              <a:ext uri="{FF2B5EF4-FFF2-40B4-BE49-F238E27FC236}">
                <a16:creationId xmlns:a16="http://schemas.microsoft.com/office/drawing/2014/main" id="{B9059001-FD30-4BA7-A04C-F1FEB794AA10}"/>
              </a:ext>
            </a:extLst>
          </p:cNvPr>
          <p:cNvSpPr>
            <a:spLocks xmlns:a="http://schemas.openxmlformats.org/drawingml/2006/main" noGrp="1"/>
          </p:cNvSpPr>
          <p:nvPr/>
        </p:nvSpPr>
        <p:spPr>
          <a:xfrm xmlns:a="http://schemas.openxmlformats.org/drawingml/2006/main">
            <a:off x="5743575" y="4638675"/>
            <a:ext cx="53530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D7E7D5"/>
                </a:solidFill>
                <a:latin typeface="Segoe UI"/>
                <a:ea typeface="Segoe UI"/>
                <a:cs typeface="Segoe UI"/>
              </a:defRPr>
            </a:defPPr>
          </a:lstStyle>
          <a:p xmlns:a="http://schemas.openxmlformats.org/drawingml/2006/main">
            <a:pPr algn="l">
              <a:defRPr sz="2025" b="0">
                <a:solidFill>
                  <a:srgbClr val="D7E7D5"/>
                </a:solidFill>
                <a:latin typeface="Segoe UI"/>
                <a:ea typeface="Segoe UI"/>
                <a:cs typeface="Segoe UI"/>
              </a:defRPr>
            </a:pPr>
            <a:r>
              <a:rPr sz="2025" b="0">
                <a:solidFill>
                  <a:srgbClr val="D7E7D5"/>
                </a:solidFill>
                <a:latin typeface="Segoe UI"/>
                <a:ea typeface="Segoe UI"/>
                <a:cs typeface="Segoe UI"/>
              </a:rPr>
              <a:t>boxes on hand</a:t>
            </a:r>
          </a:p>
        </p:txBody>
      </p:sp>
      <p:sp>
        <p:nvSpPr>
          <p:cNvPr id="27" name="Only explicit approval posts the receipt.">
            <a:extLst xmlns:a="http://schemas.openxmlformats.org/drawingml/2006/main">
              <a:ext uri="{FF2B5EF4-FFF2-40B4-BE49-F238E27FC236}">
                <a16:creationId xmlns:a16="http://schemas.microsoft.com/office/drawing/2014/main" id="{9172AF33-5A98-4D8E-ABC8-B088C39CE1D4}"/>
              </a:ext>
            </a:extLst>
          </p:cNvPr>
          <p:cNvSpPr>
            <a:spLocks xmlns:a="http://schemas.openxmlformats.org/drawingml/2006/main" noGrp="1"/>
          </p:cNvSpPr>
          <p:nvPr/>
        </p:nvSpPr>
        <p:spPr>
          <a:xfrm xmlns:a="http://schemas.openxmlformats.org/drawingml/2006/main">
            <a:off x="5743575" y="5276850"/>
            <a:ext cx="53149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FFFFF"/>
                </a:solidFill>
                <a:latin typeface="Segoe UI"/>
                <a:ea typeface="Segoe UI"/>
                <a:cs typeface="Segoe UI"/>
              </a:defRPr>
            </a:defPPr>
          </a:lstStyle>
          <a:p xmlns:a="http://schemas.openxmlformats.org/drawingml/2006/main">
            <a:pPr algn="l">
              <a:defRPr sz="1875" b="0">
                <a:solidFill>
                  <a:srgbClr val="FFFFFF"/>
                </a:solidFill>
                <a:latin typeface="Segoe UI"/>
                <a:ea typeface="Segoe UI"/>
                <a:cs typeface="Segoe UI"/>
              </a:defRPr>
            </a:pPr>
            <a:r>
              <a:rPr sz="1875" b="0">
                <a:solidFill>
                  <a:srgbClr val="FFFFFF"/>
                </a:solidFill>
                <a:latin typeface="Segoe UI"/>
                <a:ea typeface="Segoe UI"/>
                <a:cs typeface="Segoe UI"/>
              </a:rPr>
              <a:t>Only explicit approval posts the receipt.</a:t>
            </a:r>
          </a:p>
        </p:txBody>
      </p:sp>
      <p:sp>
        <p:nvSpPr>
          <p:cNvPr id="28" name="Keys stay on the server. Guided examples keep the review flo">
            <a:extLst xmlns:a="http://schemas.openxmlformats.org/drawingml/2006/main">
              <a:ext uri="{FF2B5EF4-FFF2-40B4-BE49-F238E27FC236}">
                <a16:creationId xmlns:a16="http://schemas.microsoft.com/office/drawing/2014/main" id="{8FC23228-545E-44EA-9984-9BA254203873}"/>
              </a:ext>
            </a:extLst>
          </p:cNvPr>
          <p:cNvSpPr>
            <a:spLocks xmlns:a="http://schemas.openxmlformats.org/drawingml/2006/main" noGrp="1"/>
          </p:cNvSpPr>
          <p:nvPr/>
        </p:nvSpPr>
        <p:spPr>
          <a:xfrm xmlns:a="http://schemas.openxmlformats.org/drawingml/2006/main">
            <a:off x="609600" y="598170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D7E7D5"/>
                </a:solidFill>
                <a:latin typeface="Segoe UI"/>
                <a:ea typeface="Segoe UI"/>
                <a:cs typeface="Segoe UI"/>
              </a:defRPr>
            </a:defPPr>
          </a:lstStyle>
          <a:p xmlns:a="http://schemas.openxmlformats.org/drawingml/2006/main">
            <a:pPr algn="l">
              <a:defRPr sz="1500" b="0">
                <a:solidFill>
                  <a:srgbClr val="D7E7D5"/>
                </a:solidFill>
                <a:latin typeface="Segoe UI"/>
                <a:ea typeface="Segoe UI"/>
                <a:cs typeface="Segoe UI"/>
              </a:defRPr>
            </a:pPr>
            <a:r>
              <a:rPr sz="1500" b="0">
                <a:solidFill>
                  <a:srgbClr val="D7E7D5"/>
                </a:solidFill>
                <a:latin typeface="Segoe UI"/>
                <a:ea typeface="Segoe UI"/>
                <a:cs typeface="Segoe UI"/>
              </a:rPr>
              <a:t>Keys stay on the server. Guided examples keep the review flow available without an API key.</a:t>
            </a:r>
          </a:p>
        </p:txBody>
      </p:sp>
    </p:spTree>
    <p:extLst>
      <p:ext uri="{BB962C8B-B14F-4D97-AF65-F5344CB8AC3E}">
        <p14:creationId xmlns:p14="http://schemas.microsoft.com/office/powerpoint/2010/main" val="1391590398"/>
      </p:ext>
    </p:extLst>
  </p:cSld>
</p:sld>
</file>

<file path=ppt/slides/slide5.xml><?xml version="1.0" encoding="utf-8"?>
<p:sld xmlns:p="http://schemas.openxmlformats.org/presentationml/2006/main">
  <p:cSld>
    <p:bg>
      <p:bgPr>
        <a:solidFill xmlns:a="http://schemas.openxmlformats.org/drawingml/2006/main">
          <a:srgbClr val="F4F5F2"/>
        </a:solidFill>
      </p:bgPr>
    </p:bg>
    <p:spTree>
      <p:nvGrpSpPr>
        <p:cNvPr id="1" name=""/>
        <p:cNvGrpSpPr/>
        <p:nvPr/>
      </p:nvGrpSpPr>
      <p:grpSpPr>
        <a:xfrm xmlns:a="http://schemas.openxmlformats.org/drawingml/2006/main"/>
      </p:grpSpPr>
      <p:sp>
        <p:nvSpPr>
          <p:cNvPr id="9" name="One recall, accounted for">
            <a:extLst xmlns:a="http://schemas.openxmlformats.org/drawingml/2006/main">
              <a:ext uri="{FF2B5EF4-FFF2-40B4-BE49-F238E27FC236}">
                <a16:creationId xmlns:a16="http://schemas.microsoft.com/office/drawing/2014/main" id="{8B1C1EC7-BAAF-413F-98D2-9402BF9BD5AA}"/>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203333"/>
                </a:solidFill>
                <a:latin typeface="Georgia"/>
                <a:ea typeface="Georgia"/>
                <a:cs typeface="Georgia"/>
              </a:defRPr>
            </a:defPPr>
          </a:lstStyle>
          <a:p xmlns:a="http://schemas.openxmlformats.org/drawingml/2006/main">
            <a:pPr algn="l">
              <a:defRPr sz="3450" b="0">
                <a:solidFill>
                  <a:srgbClr val="203333"/>
                </a:solidFill>
                <a:latin typeface="Georgia"/>
                <a:ea typeface="Georgia"/>
                <a:cs typeface="Georgia"/>
              </a:defRPr>
            </a:pPr>
            <a:r>
              <a:rPr sz="3450" b="0">
                <a:solidFill>
                  <a:srgbClr val="203333"/>
                </a:solidFill>
                <a:latin typeface="Georgia"/>
                <a:ea typeface="Georgia"/>
                <a:cs typeface="Georgia"/>
              </a:rPr>
              <a:t>One recall, accounted for</a:t>
            </a:r>
          </a:p>
        </p:txBody>
      </p:sp>
      <p:sp>
        <p:nvSpPr>
          <p:cNvPr id="2" name="RecallScope">
            <a:extLst xmlns:a="http://schemas.openxmlformats.org/drawingml/2006/main">
              <a:ext uri="{FF2B5EF4-FFF2-40B4-BE49-F238E27FC236}">
                <a16:creationId xmlns:a16="http://schemas.microsoft.com/office/drawing/2014/main" id="{33F75918-C604-4AE6-A413-EA2DC7782AEA}"/>
              </a:ext>
            </a:extLst>
          </p:cNvPr>
          <p:cNvSpPr>
            <a:spLocks xmlns:a="http://schemas.openxmlformats.org/drawingml/2006/main" noGrp="1"/>
          </p:cNvSpPr>
          <p:nvPr/>
        </p:nvSpPr>
        <p:spPr>
          <a:xfrm xmlns:a="http://schemas.openxmlformats.org/drawingml/2006/main">
            <a:off x="609600" y="6438900"/>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667873"/>
                </a:solidFill>
                <a:latin typeface="Segoe UI"/>
                <a:ea typeface="Segoe UI"/>
                <a:cs typeface="Segoe UI"/>
              </a:defRPr>
            </a:defPPr>
          </a:lstStyle>
          <a:p xmlns:a="http://schemas.openxmlformats.org/drawingml/2006/main">
            <a:pPr algn="l">
              <a:defRPr sz="1125" b="1">
                <a:solidFill>
                  <a:srgbClr val="667873"/>
                </a:solidFill>
                <a:latin typeface="Segoe UI"/>
                <a:ea typeface="Segoe UI"/>
                <a:cs typeface="Segoe UI"/>
              </a:defRPr>
            </a:pPr>
            <a:r>
              <a:rPr sz="1125" b="1">
                <a:solidFill>
                  <a:srgbClr val="667873"/>
                </a:solidFill>
                <a:latin typeface="Segoe UI"/>
                <a:ea typeface="Segoe UI"/>
                <a:cs typeface="Segoe UI"/>
              </a:rPr>
              <a:t>RecallScope</a:t>
            </a:r>
          </a:p>
        </p:txBody>
      </p:sp>
      <p:sp>
        <p:nvSpPr>
          <p:cNvPr id="3" name="05">
            <a:extLst xmlns:a="http://schemas.openxmlformats.org/drawingml/2006/main">
              <a:ext uri="{FF2B5EF4-FFF2-40B4-BE49-F238E27FC236}">
                <a16:creationId xmlns:a16="http://schemas.microsoft.com/office/drawing/2014/main" id="{79A674C5-05E5-4A6C-B11C-0A04997CA2A0}"/>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67873"/>
                </a:solidFill>
                <a:latin typeface="Segoe UI"/>
                <a:ea typeface="Segoe UI"/>
                <a:cs typeface="Segoe UI"/>
              </a:defRPr>
            </a:defPPr>
          </a:lstStyle>
          <a:p xmlns:a="http://schemas.openxmlformats.org/drawingml/2006/main">
            <a:pPr algn="r">
              <a:defRPr sz="1125" b="0">
                <a:solidFill>
                  <a:srgbClr val="667873"/>
                </a:solidFill>
                <a:latin typeface="Segoe UI"/>
                <a:ea typeface="Segoe UI"/>
                <a:cs typeface="Segoe UI"/>
              </a:defRPr>
            </a:pPr>
            <a:r>
              <a:rPr sz="1125" b="0">
                <a:solidFill>
                  <a:srgbClr val="667873"/>
                </a:solidFill>
                <a:latin typeface="Segoe UI"/>
                <a:ea typeface="Segoe UI"/>
                <a:cs typeface="Segoe UI"/>
              </a:rPr>
              <a:t>05</a:t>
            </a:r>
          </a:p>
        </p:txBody>
      </p:sp>
      <p:sp>
        <p:nvSpPr>
          <p:cNvPr id="4" name="1,000 boxes received">
            <a:extLst xmlns:a="http://schemas.openxmlformats.org/drawingml/2006/main">
              <a:ext uri="{FF2B5EF4-FFF2-40B4-BE49-F238E27FC236}">
                <a16:creationId xmlns:a16="http://schemas.microsoft.com/office/drawing/2014/main" id="{AB769831-34AA-4FD4-8DFE-8B6A57FD48F0}"/>
              </a:ext>
            </a:extLst>
          </p:cNvPr>
          <p:cNvSpPr>
            <a:spLocks xmlns:a="http://schemas.openxmlformats.org/drawingml/2006/main" noGrp="1"/>
          </p:cNvSpPr>
          <p:nvPr/>
        </p:nvSpPr>
        <p:spPr>
          <a:xfrm xmlns:a="http://schemas.openxmlformats.org/drawingml/2006/main">
            <a:off x="609600" y="1352550"/>
            <a:ext cx="52482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03333"/>
                </a:solidFill>
                <a:latin typeface="Segoe UI"/>
                <a:ea typeface="Segoe UI"/>
                <a:cs typeface="Segoe UI"/>
              </a:defRPr>
            </a:defPPr>
          </a:lstStyle>
          <a:p xmlns:a="http://schemas.openxmlformats.org/drawingml/2006/main">
            <a:pPr algn="l">
              <a:defRPr sz="2400" b="1">
                <a:solidFill>
                  <a:srgbClr val="203333"/>
                </a:solidFill>
                <a:latin typeface="Segoe UI"/>
                <a:ea typeface="Segoe UI"/>
                <a:cs typeface="Segoe UI"/>
              </a:defRPr>
            </a:pPr>
            <a:r>
              <a:rPr sz="2400" b="1">
                <a:solidFill>
                  <a:srgbClr val="203333"/>
                </a:solidFill>
                <a:latin typeface="Segoe UI"/>
                <a:ea typeface="Segoe UI"/>
                <a:cs typeface="Segoe UI"/>
              </a:rPr>
              <a:t>1,000 boxes received</a:t>
            </a:r>
          </a:p>
        </p:txBody>
      </p:sp>
      <p:sp>
        <p:nvSpPr>
          <p:cNvPr id="5" name="600 boxes historically dispatched">
            <a:extLst xmlns:a="http://schemas.openxmlformats.org/drawingml/2006/main">
              <a:ext uri="{FF2B5EF4-FFF2-40B4-BE49-F238E27FC236}">
                <a16:creationId xmlns:a16="http://schemas.microsoft.com/office/drawing/2014/main" id="{8B96E0FA-4F3E-4409-934D-ED10A6F7208A}"/>
              </a:ext>
            </a:extLst>
          </p:cNvPr>
          <p:cNvSpPr>
            <a:spLocks xmlns:a="http://schemas.openxmlformats.org/drawingml/2006/main" noGrp="1"/>
          </p:cNvSpPr>
          <p:nvPr/>
        </p:nvSpPr>
        <p:spPr>
          <a:xfrm xmlns:a="http://schemas.openxmlformats.org/drawingml/2006/main">
            <a:off x="6010275" y="1352550"/>
            <a:ext cx="55721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645B"/>
                </a:solidFill>
                <a:latin typeface="Segoe UI"/>
                <a:ea typeface="Segoe UI"/>
                <a:cs typeface="Segoe UI"/>
              </a:defRPr>
            </a:defPPr>
          </a:lstStyle>
          <a:p xmlns:a="http://schemas.openxmlformats.org/drawingml/2006/main">
            <a:pPr algn="l">
              <a:defRPr sz="2250" b="1">
                <a:solidFill>
                  <a:srgbClr val="17645B"/>
                </a:solidFill>
                <a:latin typeface="Segoe UI"/>
                <a:ea typeface="Segoe UI"/>
                <a:cs typeface="Segoe UI"/>
              </a:defRPr>
            </a:pPr>
            <a:r>
              <a:rPr sz="2250" b="1">
                <a:solidFill>
                  <a:srgbClr val="17645B"/>
                </a:solidFill>
                <a:latin typeface="Segoe UI"/>
                <a:ea typeface="Segoe UI"/>
                <a:cs typeface="Segoe UI"/>
              </a:rPr>
              <a:t>600 boxes historically dispatched</a:t>
            </a:r>
          </a:p>
        </p:txBody>
      </p:sp>
      <p:graphicFrame>
        <p:nvGraphicFramePr>
          <p:cNvPr id="6" name="">
            <a:extLst xmlns:a="http://schemas.openxmlformats.org/drawingml/2006/main">
              <a:ext uri="{FF2B5EF4-FFF2-40B4-BE49-F238E27FC236}">
                <a16:creationId xmlns:a16="http://schemas.microsoft.com/office/drawing/2014/main" id="{0BC1FCA6-E9C2-4A6E-BF76-FA960E1969F9}"/>
              </a:ext>
            </a:extLst>
          </p:cNvPr>
          <p:cNvGraphicFramePr/>
          <p:nvPr/>
        </p:nvGraphicFramePr>
        <p:xfrm>
          <a:off xmlns:a="http://schemas.openxmlformats.org/drawingml/2006/main" x="609600" y="2295525"/>
          <a:ext xmlns:a="http://schemas.openxmlformats.org/drawingml/2006/main" cx="10972800" cy="2790825"/>
        </p:xfrm>
        <a:graphic xmlns:a="http://schemas.openxmlformats.org/drawingml/2006/main">
          <a:graphicData uri="http://schemas.openxmlformats.org/drawingml/2006/table">
            <a:tbl>
              <a:tblPr firstRow="1" bandRow="0"/>
              <a:tblGrid>
                <a:gridCol w="4000500"/>
                <a:gridCol w="2324100"/>
                <a:gridCol w="2324100"/>
                <a:gridCol w="2324100"/>
              </a:tblGrid>
              <a:tr h="697706">
                <a:tc>
                  <a:txBody>
                    <a:bodyPr lIns="152400" tIns="76200" rIns="114300" bIns="76200">
                      <a:noAutofit/>
                    </a:bodyPr>
                    <a:lstStyle/>
                    <a:p>
                      <a:r>
                        <a:rPr sz="1800" b="1">
                          <a:solidFill>
                            <a:srgbClr val="FFFFFF"/>
                          </a:solidFill>
                          <a:latin typeface="Segoe UI"/>
                          <a:ea typeface="Segoe UI"/>
                          <a:cs typeface="Segoe UI"/>
                        </a:rPr>
                        <a:t>Recorded measure</a:t>
                      </a:r>
                    </a:p>
                  </a:txBody>
                  <a:tcPr marL="91440" marR="91440" marT="45720" marB="45720" anchor="ctr">
                    <a:solidFill>
                      <a:srgbClr val="1E3535"/>
                    </a:solidFill>
                  </a:tcPr>
                </a:tc>
                <a:tc>
                  <a:txBody>
                    <a:bodyPr lIns="152400" tIns="76200" rIns="114300" bIns="76200">
                      <a:noAutofit/>
                    </a:bodyPr>
                    <a:lstStyle/>
                    <a:p>
                      <a:r>
                        <a:rPr sz="1800" b="1">
                          <a:solidFill>
                            <a:srgbClr val="FFFFFF"/>
                          </a:solidFill>
                          <a:latin typeface="Segoe UI"/>
                          <a:ea typeface="Segoe UI"/>
                          <a:cs typeface="Segoe UI"/>
                        </a:rPr>
                        <a:t>Before returns</a:t>
                      </a:r>
                    </a:p>
                  </a:txBody>
                  <a:tcPr marL="91440" marR="91440" marT="45720" marB="45720" anchor="ctr">
                    <a:solidFill>
                      <a:srgbClr val="1E3535"/>
                    </a:solidFill>
                  </a:tcPr>
                </a:tc>
                <a:tc>
                  <a:txBody>
                    <a:bodyPr lIns="152400" tIns="76200" rIns="114300" bIns="76200">
                      <a:noAutofit/>
                    </a:bodyPr>
                    <a:lstStyle/>
                    <a:p>
                      <a:r>
                        <a:rPr sz="1800" b="1">
                          <a:solidFill>
                            <a:srgbClr val="FFFFFF"/>
                          </a:solidFill>
                          <a:latin typeface="Segoe UI"/>
                          <a:ea typeface="Segoe UI"/>
                          <a:cs typeface="Segoe UI"/>
                        </a:rPr>
                        <a:t>Partial returns</a:t>
                      </a:r>
                    </a:p>
                  </a:txBody>
                  <a:tcPr marL="91440" marR="91440" marT="45720" marB="45720" anchor="ctr">
                    <a:solidFill>
                      <a:srgbClr val="1E3535"/>
                    </a:solidFill>
                  </a:tcPr>
                </a:tc>
                <a:tc>
                  <a:txBody>
                    <a:bodyPr lIns="152400" tIns="76200" rIns="114300" bIns="76200">
                      <a:noAutofit/>
                    </a:bodyPr>
                    <a:lstStyle/>
                    <a:p>
                      <a:r>
                        <a:rPr sz="1800" b="1">
                          <a:solidFill>
                            <a:srgbClr val="FFFFFF"/>
                          </a:solidFill>
                          <a:latin typeface="Segoe UI"/>
                          <a:ea typeface="Segoe UI"/>
                          <a:cs typeface="Segoe UI"/>
                        </a:rPr>
                        <a:t>All returned</a:t>
                      </a:r>
                    </a:p>
                  </a:txBody>
                  <a:tcPr marL="91440" marR="91440" marT="45720" marB="45720" anchor="ctr">
                    <a:solidFill>
                      <a:srgbClr val="1E3535"/>
                    </a:solidFill>
                  </a:tcPr>
                </a:tc>
              </a:tr>
              <a:tr h="697706">
                <a:tc>
                  <a:txBody>
                    <a:bodyPr lIns="152400" tIns="76200" rIns="114300" bIns="76200">
                      <a:noAutofit/>
                    </a:bodyPr>
                    <a:lstStyle/>
                    <a:p>
                      <a:r>
                        <a:rPr sz="1800" b="1">
                          <a:solidFill>
                            <a:srgbClr val="203333"/>
                          </a:solidFill>
                          <a:latin typeface="Segoe UI"/>
                          <a:ea typeface="Segoe UI"/>
                          <a:cs typeface="Segoe UI"/>
                        </a:rPr>
                        <a:t>Returned by recipients</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0</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100</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600</a:t>
                      </a:r>
                    </a:p>
                  </a:txBody>
                  <a:tcPr marL="91440" marR="91440" marT="45720" marB="45720" anchor="ctr">
                    <a:solidFill>
                      <a:srgbClr val="FFFFFF"/>
                    </a:solidFill>
                  </a:tcPr>
                </a:tc>
              </a:tr>
              <a:tr h="697706">
                <a:tc>
                  <a:txBody>
                    <a:bodyPr lIns="152400" tIns="76200" rIns="114300" bIns="76200">
                      <a:noAutofit/>
                    </a:bodyPr>
                    <a:lstStyle/>
                    <a:p>
                      <a:r>
                        <a:rPr sz="1800" b="1">
                          <a:solidFill>
                            <a:srgbClr val="203333"/>
                          </a:solidFill>
                          <a:latin typeface="Segoe UI"/>
                          <a:ea typeface="Segoe UI"/>
                          <a:cs typeface="Segoe UI"/>
                        </a:rPr>
                        <a:t>Current stock on hand</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400</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500</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1,000</a:t>
                      </a:r>
                    </a:p>
                  </a:txBody>
                  <a:tcPr marL="91440" marR="91440" marT="45720" marB="45720" anchor="ctr">
                    <a:solidFill>
                      <a:srgbClr val="FFFFFF"/>
                    </a:solidFill>
                  </a:tcPr>
                </a:tc>
              </a:tr>
              <a:tr h="697706">
                <a:tc>
                  <a:txBody>
                    <a:bodyPr lIns="152400" tIns="76200" rIns="114300" bIns="76200">
                      <a:noAutofit/>
                    </a:bodyPr>
                    <a:lstStyle/>
                    <a:p>
                      <a:r>
                        <a:rPr sz="1800" b="1">
                          <a:solidFill>
                            <a:srgbClr val="203333"/>
                          </a:solidFill>
                          <a:latin typeface="Segoe UI"/>
                          <a:ea typeface="Segoe UI"/>
                          <a:cs typeface="Segoe UI"/>
                        </a:rPr>
                        <a:t>Outstanding shipment accounting</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600</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500</a:t>
                      </a:r>
                    </a:p>
                  </a:txBody>
                  <a:tcPr marL="91440" marR="91440" marT="45720" marB="45720" anchor="ctr">
                    <a:solidFill>
                      <a:srgbClr val="FFFFFF"/>
                    </a:solidFill>
                  </a:tcPr>
                </a:tc>
                <a:tc>
                  <a:txBody>
                    <a:bodyPr lIns="152400" tIns="76200" rIns="114300" bIns="76200">
                      <a:noAutofit/>
                    </a:bodyPr>
                    <a:lstStyle/>
                    <a:p>
                      <a:r>
                        <a:rPr sz="1800" b="0">
                          <a:solidFill>
                            <a:srgbClr val="203333"/>
                          </a:solidFill>
                          <a:latin typeface="Segoe UI"/>
                          <a:ea typeface="Segoe UI"/>
                          <a:cs typeface="Segoe UI"/>
                        </a:rPr>
                        <a:t>0</a:t>
                      </a:r>
                    </a:p>
                  </a:txBody>
                  <a:tcPr marL="91440" marR="91440" marT="45720" marB="45720" anchor="ctr">
                    <a:solidFill>
                      <a:srgbClr val="FFFFFF"/>
                    </a:solidFill>
                  </a:tcPr>
                </a:tc>
              </a:tr>
            </a:tbl>
          </a:graphicData>
        </a:graphic>
      </p:graphicFrame>
      <p:sp>
        <p:nvSpPr>
          <p:cNvPr id="7" name="1,000 boxes recorded in quarantine">
            <a:extLst xmlns:a="http://schemas.openxmlformats.org/drawingml/2006/main">
              <a:ext uri="{FF2B5EF4-FFF2-40B4-BE49-F238E27FC236}">
                <a16:creationId xmlns:a16="http://schemas.microsoft.com/office/drawing/2014/main" id="{4BC46801-52DA-4B82-870E-997DD5B5BEF5}"/>
              </a:ext>
            </a:extLst>
          </p:cNvPr>
          <p:cNvSpPr>
            <a:spLocks xmlns:a="http://schemas.openxmlformats.org/drawingml/2006/main" noGrp="1"/>
          </p:cNvSpPr>
          <p:nvPr/>
        </p:nvSpPr>
        <p:spPr>
          <a:xfrm xmlns:a="http://schemas.openxmlformats.org/drawingml/2006/main">
            <a:off x="609600" y="5410200"/>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645B"/>
                </a:solidFill>
                <a:latin typeface="Segoe UI"/>
                <a:ea typeface="Segoe UI"/>
                <a:cs typeface="Segoe UI"/>
              </a:defRPr>
            </a:defPPr>
          </a:lstStyle>
          <a:p xmlns:a="http://schemas.openxmlformats.org/drawingml/2006/main">
            <a:pPr algn="l">
              <a:defRPr sz="2400" b="1">
                <a:solidFill>
                  <a:srgbClr val="17645B"/>
                </a:solidFill>
                <a:latin typeface="Segoe UI"/>
                <a:ea typeface="Segoe UI"/>
                <a:cs typeface="Segoe UI"/>
              </a:defRPr>
            </a:pPr>
            <a:r>
              <a:rPr sz="2400" b="1">
                <a:solidFill>
                  <a:srgbClr val="17645B"/>
                </a:solidFill>
                <a:latin typeface="Segoe UI"/>
                <a:ea typeface="Segoe UI"/>
                <a:cs typeface="Segoe UI"/>
              </a:rPr>
              <a:t>1,000 boxes recorded in quarantine</a:t>
            </a:r>
          </a:p>
        </p:txBody>
      </p:sp>
      <p:sp>
        <p:nvSpPr>
          <p:cNvPr id="8" name="Returns are already part of stock. Disposition remains a sep">
            <a:extLst xmlns:a="http://schemas.openxmlformats.org/drawingml/2006/main">
              <a:ext uri="{FF2B5EF4-FFF2-40B4-BE49-F238E27FC236}">
                <a16:creationId xmlns:a16="http://schemas.microsoft.com/office/drawing/2014/main" id="{1379DAC0-A920-48A2-BA22-0FAFAF56916C}"/>
              </a:ext>
            </a:extLst>
          </p:cNvPr>
          <p:cNvSpPr>
            <a:spLocks xmlns:a="http://schemas.openxmlformats.org/drawingml/2006/main" noGrp="1"/>
          </p:cNvSpPr>
          <p:nvPr/>
        </p:nvSpPr>
        <p:spPr>
          <a:xfrm xmlns:a="http://schemas.openxmlformats.org/drawingml/2006/main">
            <a:off x="609600" y="5905500"/>
            <a:ext cx="10639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67873"/>
                </a:solidFill>
                <a:latin typeface="Segoe UI"/>
                <a:ea typeface="Segoe UI"/>
                <a:cs typeface="Segoe UI"/>
              </a:defRPr>
            </a:defPPr>
          </a:lstStyle>
          <a:p xmlns:a="http://schemas.openxmlformats.org/drawingml/2006/main">
            <a:pPr algn="l">
              <a:defRPr sz="1725" b="0">
                <a:solidFill>
                  <a:srgbClr val="667873"/>
                </a:solidFill>
                <a:latin typeface="Segoe UI"/>
                <a:ea typeface="Segoe UI"/>
                <a:cs typeface="Segoe UI"/>
              </a:defRPr>
            </a:pPr>
            <a:r>
              <a:rPr sz="1725" b="0">
                <a:solidFill>
                  <a:srgbClr val="667873"/>
                </a:solidFill>
                <a:latin typeface="Segoe UI"/>
                <a:ea typeface="Segoe UI"/>
                <a:cs typeface="Segoe UI"/>
              </a:rPr>
              <a:t>Returns are already part of stock. Disposition remains a separate decision.</a:t>
            </a:r>
          </a:p>
        </p:txBody>
      </p:sp>
    </p:spTree>
    <p:extLst>
      <p:ext uri="{BB962C8B-B14F-4D97-AF65-F5344CB8AC3E}">
        <p14:creationId xmlns:p14="http://schemas.microsoft.com/office/powerpoint/2010/main" val="1146369641"/>
      </p:ext>
    </p:extLst>
  </p:cSld>
</p:sld>
</file>

<file path=ppt/slides/slide6.xml><?xml version="1.0" encoding="utf-8"?>
<p:sld xmlns:p="http://schemas.openxmlformats.org/presentationml/2006/main">
  <p:cSld>
    <p:bg>
      <p:bgPr>
        <a:solidFill xmlns:a="http://schemas.openxmlformats.org/drawingml/2006/main">
          <a:srgbClr val="F4F5F2"/>
        </a:solidFill>
      </p:bgPr>
    </p:bg>
    <p:spTree>
      <p:nvGrpSpPr>
        <p:cNvPr id="1" name=""/>
        <p:cNvGrpSpPr/>
        <p:nvPr/>
      </p:nvGrpSpPr>
      <p:grpSpPr>
        <a:xfrm xmlns:a="http://schemas.openxmlformats.org/drawingml/2006/main"/>
      </p:grpSpPr>
      <p:sp>
        <p:nvSpPr>
          <p:cNvPr id="24" name="Evidence behind each decision">
            <a:extLst xmlns:a="http://schemas.openxmlformats.org/drawingml/2006/main">
              <a:ext uri="{FF2B5EF4-FFF2-40B4-BE49-F238E27FC236}">
                <a16:creationId xmlns:a16="http://schemas.microsoft.com/office/drawing/2014/main" id="{42D4CF88-2508-4BAE-B78D-11DE88BB5FEC}"/>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203333"/>
                </a:solidFill>
                <a:latin typeface="Georgia"/>
                <a:ea typeface="Georgia"/>
                <a:cs typeface="Georgia"/>
              </a:defRPr>
            </a:defPPr>
          </a:lstStyle>
          <a:p xmlns:a="http://schemas.openxmlformats.org/drawingml/2006/main">
            <a:pPr algn="l">
              <a:defRPr sz="3450" b="0">
                <a:solidFill>
                  <a:srgbClr val="203333"/>
                </a:solidFill>
                <a:latin typeface="Georgia"/>
                <a:ea typeface="Georgia"/>
                <a:cs typeface="Georgia"/>
              </a:defRPr>
            </a:pPr>
            <a:r>
              <a:rPr sz="3450" b="0">
                <a:solidFill>
                  <a:srgbClr val="203333"/>
                </a:solidFill>
                <a:latin typeface="Georgia"/>
                <a:ea typeface="Georgia"/>
                <a:cs typeface="Georgia"/>
              </a:rPr>
              <a:t>Evidence behind each decision</a:t>
            </a:r>
          </a:p>
        </p:txBody>
      </p:sp>
      <p:sp>
        <p:nvSpPr>
          <p:cNvPr id="2" name="RecallScope">
            <a:extLst xmlns:a="http://schemas.openxmlformats.org/drawingml/2006/main">
              <a:ext uri="{FF2B5EF4-FFF2-40B4-BE49-F238E27FC236}">
                <a16:creationId xmlns:a16="http://schemas.microsoft.com/office/drawing/2014/main" id="{4EF430D8-5127-43B2-9D25-E7E558D2B4BC}"/>
              </a:ext>
            </a:extLst>
          </p:cNvPr>
          <p:cNvSpPr>
            <a:spLocks xmlns:a="http://schemas.openxmlformats.org/drawingml/2006/main" noGrp="1"/>
          </p:cNvSpPr>
          <p:nvPr/>
        </p:nvSpPr>
        <p:spPr>
          <a:xfrm xmlns:a="http://schemas.openxmlformats.org/drawingml/2006/main">
            <a:off x="609600" y="6438900"/>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667873"/>
                </a:solidFill>
                <a:latin typeface="Segoe UI"/>
                <a:ea typeface="Segoe UI"/>
                <a:cs typeface="Segoe UI"/>
              </a:defRPr>
            </a:defPPr>
          </a:lstStyle>
          <a:p xmlns:a="http://schemas.openxmlformats.org/drawingml/2006/main">
            <a:pPr algn="l">
              <a:defRPr sz="1125" b="1">
                <a:solidFill>
                  <a:srgbClr val="667873"/>
                </a:solidFill>
                <a:latin typeface="Segoe UI"/>
                <a:ea typeface="Segoe UI"/>
                <a:cs typeface="Segoe UI"/>
              </a:defRPr>
            </a:pPr>
            <a:r>
              <a:rPr sz="1125" b="1">
                <a:solidFill>
                  <a:srgbClr val="667873"/>
                </a:solidFill>
                <a:latin typeface="Segoe UI"/>
                <a:ea typeface="Segoe UI"/>
                <a:cs typeface="Segoe UI"/>
              </a:rPr>
              <a:t>RecallScope</a:t>
            </a:r>
          </a:p>
        </p:txBody>
      </p:sp>
      <p:sp>
        <p:nvSpPr>
          <p:cNvPr id="3" name="06">
            <a:extLst xmlns:a="http://schemas.openxmlformats.org/drawingml/2006/main">
              <a:ext uri="{FF2B5EF4-FFF2-40B4-BE49-F238E27FC236}">
                <a16:creationId xmlns:a16="http://schemas.microsoft.com/office/drawing/2014/main" id="{2A65EFCA-8CDF-4DED-8E15-94ED5625BB25}"/>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67873"/>
                </a:solidFill>
                <a:latin typeface="Segoe UI"/>
                <a:ea typeface="Segoe UI"/>
                <a:cs typeface="Segoe UI"/>
              </a:defRPr>
            </a:defPPr>
          </a:lstStyle>
          <a:p xmlns:a="http://schemas.openxmlformats.org/drawingml/2006/main">
            <a:pPr algn="r">
              <a:defRPr sz="1125" b="0">
                <a:solidFill>
                  <a:srgbClr val="667873"/>
                </a:solidFill>
                <a:latin typeface="Segoe UI"/>
                <a:ea typeface="Segoe UI"/>
                <a:cs typeface="Segoe UI"/>
              </a:defRPr>
            </a:pPr>
            <a:r>
              <a:rPr sz="1125" b="0">
                <a:solidFill>
                  <a:srgbClr val="667873"/>
                </a:solidFill>
                <a:latin typeface="Segoe UI"/>
                <a:ea typeface="Segoe UI"/>
                <a:cs typeface="Segoe UI"/>
              </a:rPr>
              <a:t>06</a:t>
            </a:r>
          </a:p>
        </p:txBody>
      </p:sp>
      <p:sp>
        <p:nvSpPr>
          <p:cNvPr id="4" name="vertical rule">
            <a:extLst xmlns:a="http://schemas.openxmlformats.org/drawingml/2006/main">
              <a:ext uri="{FF2B5EF4-FFF2-40B4-BE49-F238E27FC236}">
                <a16:creationId xmlns:a16="http://schemas.microsoft.com/office/drawing/2014/main" id="{D87D3FCF-02BC-4371-88F1-50838B9F9408}"/>
              </a:ext>
            </a:extLst>
          </p:cNvPr>
          <p:cNvSpPr>
            <a:spLocks xmlns:a="http://schemas.openxmlformats.org/drawingml/2006/main" noGrp="1"/>
          </p:cNvSpPr>
          <p:nvPr/>
        </p:nvSpPr>
        <p:spPr>
          <a:xfrm xmlns:a="http://schemas.openxmlformats.org/drawingml/2006/main">
            <a:off x="800100" y="1704975"/>
            <a:ext cx="28575" cy="1047750"/>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5" name="trace node">
            <a:extLst xmlns:a="http://schemas.openxmlformats.org/drawingml/2006/main">
              <a:ext uri="{FF2B5EF4-FFF2-40B4-BE49-F238E27FC236}">
                <a16:creationId xmlns:a16="http://schemas.microsoft.com/office/drawing/2014/main" id="{C018D875-E048-43D9-AD86-2308B3B2A08C}"/>
              </a:ext>
            </a:extLst>
          </p:cNvPr>
          <p:cNvSpPr>
            <a:spLocks xmlns:a="http://schemas.openxmlformats.org/drawingml/2006/main" noGrp="1"/>
          </p:cNvSpPr>
          <p:nvPr/>
        </p:nvSpPr>
        <p:spPr>
          <a:xfrm xmlns:a="http://schemas.openxmlformats.org/drawingml/2006/main">
            <a:off x="723900" y="1600200"/>
            <a:ext cx="171450" cy="171450"/>
          </a:xfrm>
          <a:prstGeom xmlns:a="http://schemas.openxmlformats.org/drawingml/2006/main" prst="ellipse">
            <a:avLst/>
          </a:prstGeom>
          <a:solidFill xmlns:a="http://schemas.openxmlformats.org/drawingml/2006/main">
            <a:srgbClr val="17645B"/>
          </a:solidFill>
          <a:ln xmlns:a="http://schemas.openxmlformats.org/drawingml/2006/main" w="0">
            <a:noFill/>
          </a:ln>
        </p:spPr>
      </p:sp>
      <p:sp>
        <p:nvSpPr>
          <p:cNvPr id="6" name="Source document">
            <a:extLst xmlns:a="http://schemas.openxmlformats.org/drawingml/2006/main">
              <a:ext uri="{FF2B5EF4-FFF2-40B4-BE49-F238E27FC236}">
                <a16:creationId xmlns:a16="http://schemas.microsoft.com/office/drawing/2014/main" id="{F60CDA5A-EADA-4429-B401-E8E39FA41F82}"/>
              </a:ext>
            </a:extLst>
          </p:cNvPr>
          <p:cNvSpPr>
            <a:spLocks xmlns:a="http://schemas.openxmlformats.org/drawingml/2006/main" noGrp="1"/>
          </p:cNvSpPr>
          <p:nvPr/>
        </p:nvSpPr>
        <p:spPr>
          <a:xfrm xmlns:a="http://schemas.openxmlformats.org/drawingml/2006/main">
            <a:off x="1181100" y="14954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3333"/>
                </a:solidFill>
                <a:latin typeface="Segoe UI"/>
                <a:ea typeface="Segoe UI"/>
                <a:cs typeface="Segoe UI"/>
              </a:defRPr>
            </a:defPPr>
          </a:lstStyle>
          <a:p xmlns:a="http://schemas.openxmlformats.org/drawingml/2006/main">
            <a:pPr algn="l">
              <a:defRPr sz="2325" b="1">
                <a:solidFill>
                  <a:srgbClr val="203333"/>
                </a:solidFill>
                <a:latin typeface="Segoe UI"/>
                <a:ea typeface="Segoe UI"/>
                <a:cs typeface="Segoe UI"/>
              </a:defRPr>
            </a:pPr>
            <a:r>
              <a:rPr sz="2325" b="1">
                <a:solidFill>
                  <a:srgbClr val="203333"/>
                </a:solidFill>
                <a:latin typeface="Segoe UI"/>
                <a:ea typeface="Segoe UI"/>
                <a:cs typeface="Segoe UI"/>
              </a:rPr>
              <a:t>Source document</a:t>
            </a:r>
          </a:p>
        </p:txBody>
      </p:sp>
      <p:sp>
        <p:nvSpPr>
          <p:cNvPr id="7" name="Original file and source text">
            <a:extLst xmlns:a="http://schemas.openxmlformats.org/drawingml/2006/main">
              <a:ext uri="{FF2B5EF4-FFF2-40B4-BE49-F238E27FC236}">
                <a16:creationId xmlns:a16="http://schemas.microsoft.com/office/drawing/2014/main" id="{90B3E8D2-284D-420E-8627-9DC44077A41D}"/>
              </a:ext>
            </a:extLst>
          </p:cNvPr>
          <p:cNvSpPr>
            <a:spLocks xmlns:a="http://schemas.openxmlformats.org/drawingml/2006/main" noGrp="1"/>
          </p:cNvSpPr>
          <p:nvPr/>
        </p:nvSpPr>
        <p:spPr>
          <a:xfrm xmlns:a="http://schemas.openxmlformats.org/drawingml/2006/main">
            <a:off x="1190625" y="1952625"/>
            <a:ext cx="4972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67873"/>
                </a:solidFill>
                <a:latin typeface="Segoe UI"/>
                <a:ea typeface="Segoe UI"/>
                <a:cs typeface="Segoe UI"/>
              </a:defRPr>
            </a:defPPr>
          </a:lstStyle>
          <a:p xmlns:a="http://schemas.openxmlformats.org/drawingml/2006/main">
            <a:pPr algn="l">
              <a:defRPr sz="1725" b="0">
                <a:solidFill>
                  <a:srgbClr val="667873"/>
                </a:solidFill>
                <a:latin typeface="Segoe UI"/>
                <a:ea typeface="Segoe UI"/>
                <a:cs typeface="Segoe UI"/>
              </a:defRPr>
            </a:pPr>
            <a:r>
              <a:rPr sz="1725" b="0">
                <a:solidFill>
                  <a:srgbClr val="667873"/>
                </a:solidFill>
                <a:latin typeface="Segoe UI"/>
                <a:ea typeface="Segoe UI"/>
                <a:cs typeface="Segoe UI"/>
              </a:rPr>
              <a:t>Original file and source text</a:t>
            </a:r>
          </a:p>
        </p:txBody>
      </p:sp>
      <p:sp>
        <p:nvSpPr>
          <p:cNvPr id="8" name="vertical rule">
            <a:extLst xmlns:a="http://schemas.openxmlformats.org/drawingml/2006/main">
              <a:ext uri="{FF2B5EF4-FFF2-40B4-BE49-F238E27FC236}">
                <a16:creationId xmlns:a16="http://schemas.microsoft.com/office/drawing/2014/main" id="{0622FD54-C766-40AC-A91B-237A2988C28D}"/>
              </a:ext>
            </a:extLst>
          </p:cNvPr>
          <p:cNvSpPr>
            <a:spLocks xmlns:a="http://schemas.openxmlformats.org/drawingml/2006/main" noGrp="1"/>
          </p:cNvSpPr>
          <p:nvPr/>
        </p:nvSpPr>
        <p:spPr>
          <a:xfrm xmlns:a="http://schemas.openxmlformats.org/drawingml/2006/main">
            <a:off x="800100" y="2724150"/>
            <a:ext cx="28575" cy="1047750"/>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9" name="trace node">
            <a:extLst xmlns:a="http://schemas.openxmlformats.org/drawingml/2006/main">
              <a:ext uri="{FF2B5EF4-FFF2-40B4-BE49-F238E27FC236}">
                <a16:creationId xmlns:a16="http://schemas.microsoft.com/office/drawing/2014/main" id="{D98382CD-C982-4047-995D-9E4D1CDA7103}"/>
              </a:ext>
            </a:extLst>
          </p:cNvPr>
          <p:cNvSpPr>
            <a:spLocks xmlns:a="http://schemas.openxmlformats.org/drawingml/2006/main" noGrp="1"/>
          </p:cNvSpPr>
          <p:nvPr/>
        </p:nvSpPr>
        <p:spPr>
          <a:xfrm xmlns:a="http://schemas.openxmlformats.org/drawingml/2006/main">
            <a:off x="723900" y="2619375"/>
            <a:ext cx="171450" cy="171450"/>
          </a:xfrm>
          <a:prstGeom xmlns:a="http://schemas.openxmlformats.org/drawingml/2006/main" prst="ellipse">
            <a:avLst/>
          </a:prstGeom>
          <a:solidFill xmlns:a="http://schemas.openxmlformats.org/drawingml/2006/main">
            <a:srgbClr val="17645B"/>
          </a:solidFill>
          <a:ln xmlns:a="http://schemas.openxmlformats.org/drawingml/2006/main" w="0">
            <a:noFill/>
          </a:ln>
        </p:spPr>
      </p:sp>
      <p:sp>
        <p:nvSpPr>
          <p:cNvPr id="10" name="Review decision">
            <a:extLst xmlns:a="http://schemas.openxmlformats.org/drawingml/2006/main">
              <a:ext uri="{FF2B5EF4-FFF2-40B4-BE49-F238E27FC236}">
                <a16:creationId xmlns:a16="http://schemas.microsoft.com/office/drawing/2014/main" id="{DD23D5A0-E834-479B-AEAA-4382B036637B}"/>
              </a:ext>
            </a:extLst>
          </p:cNvPr>
          <p:cNvSpPr>
            <a:spLocks xmlns:a="http://schemas.openxmlformats.org/drawingml/2006/main" noGrp="1"/>
          </p:cNvSpPr>
          <p:nvPr/>
        </p:nvSpPr>
        <p:spPr>
          <a:xfrm xmlns:a="http://schemas.openxmlformats.org/drawingml/2006/main">
            <a:off x="1181100" y="251460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3333"/>
                </a:solidFill>
                <a:latin typeface="Segoe UI"/>
                <a:ea typeface="Segoe UI"/>
                <a:cs typeface="Segoe UI"/>
              </a:defRPr>
            </a:defPPr>
          </a:lstStyle>
          <a:p xmlns:a="http://schemas.openxmlformats.org/drawingml/2006/main">
            <a:pPr algn="l">
              <a:defRPr sz="2325" b="1">
                <a:solidFill>
                  <a:srgbClr val="203333"/>
                </a:solidFill>
                <a:latin typeface="Segoe UI"/>
                <a:ea typeface="Segoe UI"/>
                <a:cs typeface="Segoe UI"/>
              </a:defRPr>
            </a:pPr>
            <a:r>
              <a:rPr sz="2325" b="1">
                <a:solidFill>
                  <a:srgbClr val="203333"/>
                </a:solidFill>
                <a:latin typeface="Segoe UI"/>
                <a:ea typeface="Segoe UI"/>
                <a:cs typeface="Segoe UI"/>
              </a:rPr>
              <a:t>Review decision</a:t>
            </a:r>
          </a:p>
        </p:txBody>
      </p:sp>
      <p:sp>
        <p:nvSpPr>
          <p:cNvPr id="11" name="Corrections, actor and reason">
            <a:extLst xmlns:a="http://schemas.openxmlformats.org/drawingml/2006/main">
              <a:ext uri="{FF2B5EF4-FFF2-40B4-BE49-F238E27FC236}">
                <a16:creationId xmlns:a16="http://schemas.microsoft.com/office/drawing/2014/main" id="{47B0F423-D54B-4DBF-98BE-429AA2407572}"/>
              </a:ext>
            </a:extLst>
          </p:cNvPr>
          <p:cNvSpPr>
            <a:spLocks xmlns:a="http://schemas.openxmlformats.org/drawingml/2006/main" noGrp="1"/>
          </p:cNvSpPr>
          <p:nvPr/>
        </p:nvSpPr>
        <p:spPr>
          <a:xfrm xmlns:a="http://schemas.openxmlformats.org/drawingml/2006/main">
            <a:off x="1190625" y="2971800"/>
            <a:ext cx="4972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67873"/>
                </a:solidFill>
                <a:latin typeface="Segoe UI"/>
                <a:ea typeface="Segoe UI"/>
                <a:cs typeface="Segoe UI"/>
              </a:defRPr>
            </a:defPPr>
          </a:lstStyle>
          <a:p xmlns:a="http://schemas.openxmlformats.org/drawingml/2006/main">
            <a:pPr algn="l">
              <a:defRPr sz="1725" b="0">
                <a:solidFill>
                  <a:srgbClr val="667873"/>
                </a:solidFill>
                <a:latin typeface="Segoe UI"/>
                <a:ea typeface="Segoe UI"/>
                <a:cs typeface="Segoe UI"/>
              </a:defRPr>
            </a:pPr>
            <a:r>
              <a:rPr sz="1725" b="0">
                <a:solidFill>
                  <a:srgbClr val="667873"/>
                </a:solidFill>
                <a:latin typeface="Segoe UI"/>
                <a:ea typeface="Segoe UI"/>
                <a:cs typeface="Segoe UI"/>
              </a:rPr>
              <a:t>Corrections, actor and reason</a:t>
            </a:r>
          </a:p>
        </p:txBody>
      </p:sp>
      <p:sp>
        <p:nvSpPr>
          <p:cNvPr id="12" name="vertical rule">
            <a:extLst xmlns:a="http://schemas.openxmlformats.org/drawingml/2006/main">
              <a:ext uri="{FF2B5EF4-FFF2-40B4-BE49-F238E27FC236}">
                <a16:creationId xmlns:a16="http://schemas.microsoft.com/office/drawing/2014/main" id="{438A2F2A-04D6-41F1-82F6-C24C5DF521C2}"/>
              </a:ext>
            </a:extLst>
          </p:cNvPr>
          <p:cNvSpPr>
            <a:spLocks xmlns:a="http://schemas.openxmlformats.org/drawingml/2006/main" noGrp="1"/>
          </p:cNvSpPr>
          <p:nvPr/>
        </p:nvSpPr>
        <p:spPr>
          <a:xfrm xmlns:a="http://schemas.openxmlformats.org/drawingml/2006/main">
            <a:off x="800100" y="3743325"/>
            <a:ext cx="28575" cy="1047750"/>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13" name="trace node">
            <a:extLst xmlns:a="http://schemas.openxmlformats.org/drawingml/2006/main">
              <a:ext uri="{FF2B5EF4-FFF2-40B4-BE49-F238E27FC236}">
                <a16:creationId xmlns:a16="http://schemas.microsoft.com/office/drawing/2014/main" id="{E6C600E4-2271-4BD5-A8B6-5C40E187F83B}"/>
              </a:ext>
            </a:extLst>
          </p:cNvPr>
          <p:cNvSpPr>
            <a:spLocks xmlns:a="http://schemas.openxmlformats.org/drawingml/2006/main" noGrp="1"/>
          </p:cNvSpPr>
          <p:nvPr/>
        </p:nvSpPr>
        <p:spPr>
          <a:xfrm xmlns:a="http://schemas.openxmlformats.org/drawingml/2006/main">
            <a:off x="723900" y="3638550"/>
            <a:ext cx="171450" cy="171450"/>
          </a:xfrm>
          <a:prstGeom xmlns:a="http://schemas.openxmlformats.org/drawingml/2006/main" prst="ellipse">
            <a:avLst/>
          </a:prstGeom>
          <a:solidFill xmlns:a="http://schemas.openxmlformats.org/drawingml/2006/main">
            <a:srgbClr val="17645B"/>
          </a:solidFill>
          <a:ln xmlns:a="http://schemas.openxmlformats.org/drawingml/2006/main" w="0">
            <a:noFill/>
          </a:ln>
        </p:spPr>
      </p:sp>
      <p:sp>
        <p:nvSpPr>
          <p:cNvPr id="14" name="Movement ledger">
            <a:extLst xmlns:a="http://schemas.openxmlformats.org/drawingml/2006/main">
              <a:ext uri="{FF2B5EF4-FFF2-40B4-BE49-F238E27FC236}">
                <a16:creationId xmlns:a16="http://schemas.microsoft.com/office/drawing/2014/main" id="{300FF5B2-307D-4629-9244-44867325E537}"/>
              </a:ext>
            </a:extLst>
          </p:cNvPr>
          <p:cNvSpPr>
            <a:spLocks xmlns:a="http://schemas.openxmlformats.org/drawingml/2006/main" noGrp="1"/>
          </p:cNvSpPr>
          <p:nvPr/>
        </p:nvSpPr>
        <p:spPr>
          <a:xfrm xmlns:a="http://schemas.openxmlformats.org/drawingml/2006/main">
            <a:off x="1181100" y="35337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3333"/>
                </a:solidFill>
                <a:latin typeface="Segoe UI"/>
                <a:ea typeface="Segoe UI"/>
                <a:cs typeface="Segoe UI"/>
              </a:defRPr>
            </a:defPPr>
          </a:lstStyle>
          <a:p xmlns:a="http://schemas.openxmlformats.org/drawingml/2006/main">
            <a:pPr algn="l">
              <a:defRPr sz="2325" b="1">
                <a:solidFill>
                  <a:srgbClr val="203333"/>
                </a:solidFill>
                <a:latin typeface="Segoe UI"/>
                <a:ea typeface="Segoe UI"/>
                <a:cs typeface="Segoe UI"/>
              </a:defRPr>
            </a:pPr>
            <a:r>
              <a:rPr sz="2325" b="1">
                <a:solidFill>
                  <a:srgbClr val="203333"/>
                </a:solidFill>
                <a:latin typeface="Segoe UI"/>
                <a:ea typeface="Segoe UI"/>
                <a:cs typeface="Segoe UI"/>
              </a:rPr>
              <a:t>Movement ledger</a:t>
            </a:r>
          </a:p>
        </p:txBody>
      </p:sp>
      <p:sp>
        <p:nvSpPr>
          <p:cNvPr id="15" name="Exact product, batch and units">
            <a:extLst xmlns:a="http://schemas.openxmlformats.org/drawingml/2006/main">
              <a:ext uri="{FF2B5EF4-FFF2-40B4-BE49-F238E27FC236}">
                <a16:creationId xmlns:a16="http://schemas.microsoft.com/office/drawing/2014/main" id="{12B99948-C11D-43FD-AF36-A90E7EEF7ED4}"/>
              </a:ext>
            </a:extLst>
          </p:cNvPr>
          <p:cNvSpPr>
            <a:spLocks xmlns:a="http://schemas.openxmlformats.org/drawingml/2006/main" noGrp="1"/>
          </p:cNvSpPr>
          <p:nvPr/>
        </p:nvSpPr>
        <p:spPr>
          <a:xfrm xmlns:a="http://schemas.openxmlformats.org/drawingml/2006/main">
            <a:off x="1190625" y="3990975"/>
            <a:ext cx="4972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67873"/>
                </a:solidFill>
                <a:latin typeface="Segoe UI"/>
                <a:ea typeface="Segoe UI"/>
                <a:cs typeface="Segoe UI"/>
              </a:defRPr>
            </a:defPPr>
          </a:lstStyle>
          <a:p xmlns:a="http://schemas.openxmlformats.org/drawingml/2006/main">
            <a:pPr algn="l">
              <a:defRPr sz="1725" b="0">
                <a:solidFill>
                  <a:srgbClr val="667873"/>
                </a:solidFill>
                <a:latin typeface="Segoe UI"/>
                <a:ea typeface="Segoe UI"/>
                <a:cs typeface="Segoe UI"/>
              </a:defRPr>
            </a:pPr>
            <a:r>
              <a:rPr sz="1725" b="0">
                <a:solidFill>
                  <a:srgbClr val="667873"/>
                </a:solidFill>
                <a:latin typeface="Segoe UI"/>
                <a:ea typeface="Segoe UI"/>
                <a:cs typeface="Segoe UI"/>
              </a:rPr>
              <a:t>Exact product, batch and units</a:t>
            </a:r>
          </a:p>
        </p:txBody>
      </p:sp>
      <p:sp>
        <p:nvSpPr>
          <p:cNvPr id="16" name="trace node">
            <a:extLst xmlns:a="http://schemas.openxmlformats.org/drawingml/2006/main">
              <a:ext uri="{FF2B5EF4-FFF2-40B4-BE49-F238E27FC236}">
                <a16:creationId xmlns:a16="http://schemas.microsoft.com/office/drawing/2014/main" id="{853829E1-555C-4DA5-A4B7-9ECD8B5919B8}"/>
              </a:ext>
            </a:extLst>
          </p:cNvPr>
          <p:cNvSpPr>
            <a:spLocks xmlns:a="http://schemas.openxmlformats.org/drawingml/2006/main" noGrp="1"/>
          </p:cNvSpPr>
          <p:nvPr/>
        </p:nvSpPr>
        <p:spPr>
          <a:xfrm xmlns:a="http://schemas.openxmlformats.org/drawingml/2006/main">
            <a:off x="723900" y="4657725"/>
            <a:ext cx="171450" cy="171450"/>
          </a:xfrm>
          <a:prstGeom xmlns:a="http://schemas.openxmlformats.org/drawingml/2006/main" prst="ellipse">
            <a:avLst/>
          </a:prstGeom>
          <a:solidFill xmlns:a="http://schemas.openxmlformats.org/drawingml/2006/main">
            <a:srgbClr val="17645B"/>
          </a:solidFill>
          <a:ln xmlns:a="http://schemas.openxmlformats.org/drawingml/2006/main" w="0">
            <a:noFill/>
          </a:ln>
        </p:spPr>
      </p:sp>
      <p:sp>
        <p:nvSpPr>
          <p:cNvPr id="17" name="Fixed snapshot">
            <a:extLst xmlns:a="http://schemas.openxmlformats.org/drawingml/2006/main">
              <a:ext uri="{FF2B5EF4-FFF2-40B4-BE49-F238E27FC236}">
                <a16:creationId xmlns:a16="http://schemas.microsoft.com/office/drawing/2014/main" id="{D46F50DF-0833-4468-AD6A-8149A3440C57}"/>
              </a:ext>
            </a:extLst>
          </p:cNvPr>
          <p:cNvSpPr>
            <a:spLocks xmlns:a="http://schemas.openxmlformats.org/drawingml/2006/main" noGrp="1"/>
          </p:cNvSpPr>
          <p:nvPr/>
        </p:nvSpPr>
        <p:spPr>
          <a:xfrm xmlns:a="http://schemas.openxmlformats.org/drawingml/2006/main">
            <a:off x="1181100" y="45529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3333"/>
                </a:solidFill>
                <a:latin typeface="Segoe UI"/>
                <a:ea typeface="Segoe UI"/>
                <a:cs typeface="Segoe UI"/>
              </a:defRPr>
            </a:defPPr>
          </a:lstStyle>
          <a:p xmlns:a="http://schemas.openxmlformats.org/drawingml/2006/main">
            <a:pPr algn="l">
              <a:defRPr sz="2325" b="1">
                <a:solidFill>
                  <a:srgbClr val="203333"/>
                </a:solidFill>
                <a:latin typeface="Segoe UI"/>
                <a:ea typeface="Segoe UI"/>
                <a:cs typeface="Segoe UI"/>
              </a:defRPr>
            </a:pPr>
            <a:r>
              <a:rPr sz="2325" b="1">
                <a:solidFill>
                  <a:srgbClr val="203333"/>
                </a:solidFill>
                <a:latin typeface="Segoe UI"/>
                <a:ea typeface="Segoe UI"/>
                <a:cs typeface="Segoe UI"/>
              </a:rPr>
              <a:t>Fixed snapshot</a:t>
            </a:r>
          </a:p>
        </p:txBody>
      </p:sp>
      <p:sp>
        <p:nvSpPr>
          <p:cNvPr id="18" name="Captured quantities and history">
            <a:extLst xmlns:a="http://schemas.openxmlformats.org/drawingml/2006/main">
              <a:ext uri="{FF2B5EF4-FFF2-40B4-BE49-F238E27FC236}">
                <a16:creationId xmlns:a16="http://schemas.microsoft.com/office/drawing/2014/main" id="{B0890661-9B73-433F-BFD4-68A595D16368}"/>
              </a:ext>
            </a:extLst>
          </p:cNvPr>
          <p:cNvSpPr>
            <a:spLocks xmlns:a="http://schemas.openxmlformats.org/drawingml/2006/main" noGrp="1"/>
          </p:cNvSpPr>
          <p:nvPr/>
        </p:nvSpPr>
        <p:spPr>
          <a:xfrm xmlns:a="http://schemas.openxmlformats.org/drawingml/2006/main">
            <a:off x="1190625" y="5010150"/>
            <a:ext cx="4972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67873"/>
                </a:solidFill>
                <a:latin typeface="Segoe UI"/>
                <a:ea typeface="Segoe UI"/>
                <a:cs typeface="Segoe UI"/>
              </a:defRPr>
            </a:defPPr>
          </a:lstStyle>
          <a:p xmlns:a="http://schemas.openxmlformats.org/drawingml/2006/main">
            <a:pPr algn="l">
              <a:defRPr sz="1725" b="0">
                <a:solidFill>
                  <a:srgbClr val="667873"/>
                </a:solidFill>
                <a:latin typeface="Segoe UI"/>
                <a:ea typeface="Segoe UI"/>
                <a:cs typeface="Segoe UI"/>
              </a:defRPr>
            </a:pPr>
            <a:r>
              <a:rPr sz="1725" b="0">
                <a:solidFill>
                  <a:srgbClr val="667873"/>
                </a:solidFill>
                <a:latin typeface="Segoe UI"/>
                <a:ea typeface="Segoe UI"/>
                <a:cs typeface="Segoe UI"/>
              </a:rPr>
              <a:t>Captured quantities and history</a:t>
            </a:r>
          </a:p>
        </p:txBody>
      </p:sp>
      <p:sp>
        <p:nvSpPr>
          <p:cNvPr id="19" name="vertical rule">
            <a:extLst xmlns:a="http://schemas.openxmlformats.org/drawingml/2006/main">
              <a:ext uri="{FF2B5EF4-FFF2-40B4-BE49-F238E27FC236}">
                <a16:creationId xmlns:a16="http://schemas.microsoft.com/office/drawing/2014/main" id="{97AEB50A-F071-49D2-8319-F4E2F3538BA8}"/>
              </a:ext>
            </a:extLst>
          </p:cNvPr>
          <p:cNvSpPr>
            <a:spLocks xmlns:a="http://schemas.openxmlformats.org/drawingml/2006/main" noGrp="1"/>
          </p:cNvSpPr>
          <p:nvPr/>
        </p:nvSpPr>
        <p:spPr>
          <a:xfrm xmlns:a="http://schemas.openxmlformats.org/drawingml/2006/main">
            <a:off x="6962775" y="1543050"/>
            <a:ext cx="13335" cy="4038600"/>
          </a:xfrm>
          <a:prstGeom xmlns:a="http://schemas.openxmlformats.org/drawingml/2006/main" prst="rect">
            <a:avLst/>
          </a:prstGeom>
          <a:solidFill xmlns:a="http://schemas.openxmlformats.org/drawingml/2006/main">
            <a:srgbClr val="DDE4DD"/>
          </a:solidFill>
          <a:ln xmlns:a="http://schemas.openxmlformats.org/drawingml/2006/main" w="0">
            <a:noFill/>
          </a:ln>
        </p:spPr>
      </p:sp>
      <p:sp>
        <p:nvSpPr>
          <p:cNvPr id="20" name="143">
            <a:extLst xmlns:a="http://schemas.openxmlformats.org/drawingml/2006/main">
              <a:ext uri="{FF2B5EF4-FFF2-40B4-BE49-F238E27FC236}">
                <a16:creationId xmlns:a16="http://schemas.microsoft.com/office/drawing/2014/main" id="{819A1FE6-311D-4EAA-91DB-48B1773CAB52}"/>
              </a:ext>
            </a:extLst>
          </p:cNvPr>
          <p:cNvSpPr>
            <a:spLocks xmlns:a="http://schemas.openxmlformats.org/drawingml/2006/main" noGrp="1"/>
          </p:cNvSpPr>
          <p:nvPr/>
        </p:nvSpPr>
        <p:spPr>
          <a:xfrm xmlns:a="http://schemas.openxmlformats.org/drawingml/2006/main">
            <a:off x="7553325" y="1533525"/>
            <a:ext cx="3667125"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200" b="1">
                <a:solidFill>
                  <a:srgbClr val="17645B"/>
                </a:solidFill>
                <a:latin typeface="Segoe UI"/>
                <a:ea typeface="Segoe UI"/>
                <a:cs typeface="Segoe UI"/>
              </a:defRPr>
            </a:defPPr>
          </a:lstStyle>
          <a:p xmlns:a="http://schemas.openxmlformats.org/drawingml/2006/main">
            <a:pPr algn="l">
              <a:defRPr sz="7200" b="1">
                <a:solidFill>
                  <a:srgbClr val="17645B"/>
                </a:solidFill>
                <a:latin typeface="Segoe UI"/>
                <a:ea typeface="Segoe UI"/>
                <a:cs typeface="Segoe UI"/>
              </a:defRPr>
            </a:pPr>
            <a:r>
              <a:rPr sz="7200" b="1">
                <a:solidFill>
                  <a:srgbClr val="17645B"/>
                </a:solidFill>
                <a:latin typeface="Segoe UI"/>
                <a:ea typeface="Segoe UI"/>
                <a:cs typeface="Segoe UI"/>
              </a:rPr>
              <a:t>143</a:t>
            </a:r>
          </a:p>
        </p:txBody>
      </p:sp>
      <p:sp>
        <p:nvSpPr>
          <p:cNvPr id="21" name="automated tests passed">
            <a:extLst xmlns:a="http://schemas.openxmlformats.org/drawingml/2006/main">
              <a:ext uri="{FF2B5EF4-FFF2-40B4-BE49-F238E27FC236}">
                <a16:creationId xmlns:a16="http://schemas.microsoft.com/office/drawing/2014/main" id="{3FB00BB6-E64E-481F-A183-BE423140ED30}"/>
              </a:ext>
            </a:extLst>
          </p:cNvPr>
          <p:cNvSpPr>
            <a:spLocks xmlns:a="http://schemas.openxmlformats.org/drawingml/2006/main" noGrp="1"/>
          </p:cNvSpPr>
          <p:nvPr/>
        </p:nvSpPr>
        <p:spPr>
          <a:xfrm xmlns:a="http://schemas.openxmlformats.org/drawingml/2006/main">
            <a:off x="7600950" y="28003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3333"/>
                </a:solidFill>
                <a:latin typeface="Segoe UI"/>
                <a:ea typeface="Segoe UI"/>
                <a:cs typeface="Segoe UI"/>
              </a:defRPr>
            </a:defPPr>
          </a:lstStyle>
          <a:p xmlns:a="http://schemas.openxmlformats.org/drawingml/2006/main">
            <a:pPr algn="l">
              <a:defRPr sz="2100" b="1">
                <a:solidFill>
                  <a:srgbClr val="203333"/>
                </a:solidFill>
                <a:latin typeface="Segoe UI"/>
                <a:ea typeface="Segoe UI"/>
                <a:cs typeface="Segoe UI"/>
              </a:defRPr>
            </a:pPr>
            <a:r>
              <a:rPr sz="2100" b="1">
                <a:solidFill>
                  <a:srgbClr val="203333"/>
                </a:solidFill>
                <a:latin typeface="Segoe UI"/>
                <a:ea typeface="Segoe UI"/>
                <a:cs typeface="Segoe UI"/>
              </a:rPr>
              <a:t>automated tests passed</a:t>
            </a:r>
          </a:p>
        </p:txBody>
      </p:sp>
      <p:sp>
        <p:nvSpPr>
          <p:cNvPr id="22" name="Product-specific identity&#10;Stock and return conservation&#10;Dupl">
            <a:extLst xmlns:a="http://schemas.openxmlformats.org/drawingml/2006/main">
              <a:ext uri="{FF2B5EF4-FFF2-40B4-BE49-F238E27FC236}">
                <a16:creationId xmlns:a16="http://schemas.microsoft.com/office/drawing/2014/main" id="{1F89D0D1-0310-4713-B22C-86C5AC0338A5}"/>
              </a:ext>
            </a:extLst>
          </p:cNvPr>
          <p:cNvSpPr>
            <a:spLocks xmlns:a="http://schemas.openxmlformats.org/drawingml/2006/main" noGrp="1"/>
          </p:cNvSpPr>
          <p:nvPr/>
        </p:nvSpPr>
        <p:spPr>
          <a:xfrm xmlns:a="http://schemas.openxmlformats.org/drawingml/2006/main">
            <a:off x="7610475" y="3562350"/>
            <a:ext cx="3724275"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03333"/>
                </a:solidFill>
                <a:latin typeface="Segoe UI"/>
                <a:ea typeface="Segoe UI"/>
                <a:cs typeface="Segoe UI"/>
              </a:defRPr>
            </a:defPPr>
          </a:lstStyle>
          <a:p xmlns:a="http://schemas.openxmlformats.org/drawingml/2006/main">
            <a:pPr algn="l">
              <a:defRPr sz="1800" b="0">
                <a:solidFill>
                  <a:srgbClr val="203333"/>
                </a:solidFill>
                <a:latin typeface="Segoe UI"/>
                <a:ea typeface="Segoe UI"/>
                <a:cs typeface="Segoe UI"/>
              </a:defRPr>
            </a:pPr>
            <a:r>
              <a:rPr sz="1800" b="0">
                <a:solidFill>
                  <a:srgbClr val="203333"/>
                </a:solidFill>
                <a:latin typeface="Segoe UI"/>
                <a:ea typeface="Segoe UI"/>
                <a:cs typeface="Segoe UI"/>
              </a:rPr>
              <a:t>Product-specific identity</a:t>
            </a:r>
          </a:p>
          <a:p xmlns:a="http://schemas.openxmlformats.org/drawingml/2006/main">
            <a:pPr algn="l">
              <a:defRPr sz="1800" b="0">
                <a:solidFill>
                  <a:srgbClr val="203333"/>
                </a:solidFill>
                <a:latin typeface="Segoe UI"/>
                <a:ea typeface="Segoe UI"/>
                <a:cs typeface="Segoe UI"/>
              </a:defRPr>
            </a:pPr>
            <a:r>
              <a:rPr sz="1800" b="0">
                <a:solidFill>
                  <a:srgbClr val="203333"/>
                </a:solidFill>
                <a:latin typeface="Segoe UI"/>
                <a:ea typeface="Segoe UI"/>
                <a:cs typeface="Segoe UI"/>
              </a:rPr>
              <a:t>Stock and return conservation</a:t>
            </a:r>
          </a:p>
          <a:p xmlns:a="http://schemas.openxmlformats.org/drawingml/2006/main">
            <a:pPr algn="l">
              <a:defRPr sz="1800" b="0">
                <a:solidFill>
                  <a:srgbClr val="203333"/>
                </a:solidFill>
                <a:latin typeface="Segoe UI"/>
                <a:ea typeface="Segoe UI"/>
                <a:cs typeface="Segoe UI"/>
              </a:defRPr>
            </a:pPr>
            <a:r>
              <a:rPr sz="1800" b="0">
                <a:solidFill>
                  <a:srgbClr val="203333"/>
                </a:solidFill>
                <a:latin typeface="Segoe UI"/>
                <a:ea typeface="Segoe UI"/>
                <a:cs typeface="Segoe UI"/>
              </a:rPr>
              <a:t>Duplicate and stale-write protection</a:t>
            </a:r>
          </a:p>
          <a:p xmlns:a="http://schemas.openxmlformats.org/drawingml/2006/main">
            <a:pPr algn="l">
              <a:defRPr sz="1800" b="0">
                <a:solidFill>
                  <a:srgbClr val="203333"/>
                </a:solidFill>
                <a:latin typeface="Segoe UI"/>
                <a:ea typeface="Segoe UI"/>
                <a:cs typeface="Segoe UI"/>
              </a:defRPr>
            </a:pPr>
            <a:r>
              <a:rPr sz="1800" b="0">
                <a:solidFill>
                  <a:srgbClr val="203333"/>
                </a:solidFill>
                <a:latin typeface="Segoe UI"/>
                <a:ea typeface="Segoe UI"/>
                <a:cs typeface="Segoe UI"/>
              </a:rPr>
              <a:t>Immutable report history</a:t>
            </a:r>
          </a:p>
        </p:txBody>
      </p:sp>
      <p:sp>
        <p:nvSpPr>
          <p:cNvPr id="23" name="Software checks use authored records and controlled provider">
            <a:extLst xmlns:a="http://schemas.openxmlformats.org/drawingml/2006/main">
              <a:ext uri="{FF2B5EF4-FFF2-40B4-BE49-F238E27FC236}">
                <a16:creationId xmlns:a16="http://schemas.microsoft.com/office/drawing/2014/main" id="{597BBF16-3AFA-4AAD-B0C7-88B6719B43D9}"/>
              </a:ext>
            </a:extLst>
          </p:cNvPr>
          <p:cNvSpPr>
            <a:spLocks xmlns:a="http://schemas.openxmlformats.org/drawingml/2006/main" noGrp="1"/>
          </p:cNvSpPr>
          <p:nvPr/>
        </p:nvSpPr>
        <p:spPr>
          <a:xfrm xmlns:a="http://schemas.openxmlformats.org/drawingml/2006/main">
            <a:off x="7591425" y="5524500"/>
            <a:ext cx="3714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67873"/>
                </a:solidFill>
                <a:latin typeface="Segoe UI"/>
                <a:ea typeface="Segoe UI"/>
                <a:cs typeface="Segoe UI"/>
              </a:defRPr>
            </a:defPPr>
          </a:lstStyle>
          <a:p xmlns:a="http://schemas.openxmlformats.org/drawingml/2006/main">
            <a:pPr algn="l">
              <a:defRPr sz="1425" b="0">
                <a:solidFill>
                  <a:srgbClr val="667873"/>
                </a:solidFill>
                <a:latin typeface="Segoe UI"/>
                <a:ea typeface="Segoe UI"/>
                <a:cs typeface="Segoe UI"/>
              </a:defRPr>
            </a:pPr>
            <a:r>
              <a:rPr sz="1425" b="0">
                <a:solidFill>
                  <a:srgbClr val="667873"/>
                </a:solidFill>
                <a:latin typeface="Segoe UI"/>
                <a:ea typeface="Segoe UI"/>
                <a:cs typeface="Segoe UI"/>
              </a:rPr>
              <a:t>Software checks use authored records and controlled provider responses.</a:t>
            </a:r>
          </a:p>
        </p:txBody>
      </p:sp>
    </p:spTree>
    <p:extLst>
      <p:ext uri="{BB962C8B-B14F-4D97-AF65-F5344CB8AC3E}">
        <p14:creationId xmlns:p14="http://schemas.microsoft.com/office/powerpoint/2010/main" val="1908812493"/>
      </p:ext>
    </p:extLst>
  </p:cSld>
</p:sld>
</file>

<file path=ppt/slides/slide7.xml><?xml version="1.0" encoding="utf-8"?>
<p:sld xmlns:p="http://schemas.openxmlformats.org/presentationml/2006/main">
  <p:cSld>
    <p:bg>
      <p:bgPr>
        <a:solidFill xmlns:a="http://schemas.openxmlformats.org/drawingml/2006/main">
          <a:srgbClr val="F4F5F2"/>
        </a:solidFill>
      </p:bgPr>
    </p:bg>
    <p:spTree>
      <p:nvGrpSpPr>
        <p:cNvPr id="1" name=""/>
        <p:cNvGrpSpPr/>
        <p:nvPr/>
      </p:nvGrpSpPr>
      <p:grpSpPr>
        <a:xfrm xmlns:a="http://schemas.openxmlformats.org/drawingml/2006/main"/>
      </p:grpSpPr>
      <p:sp>
        <p:nvSpPr>
          <p:cNvPr id="12" name="A focused distributor business">
            <a:extLst xmlns:a="http://schemas.openxmlformats.org/drawingml/2006/main">
              <a:ext uri="{FF2B5EF4-FFF2-40B4-BE49-F238E27FC236}">
                <a16:creationId xmlns:a16="http://schemas.microsoft.com/office/drawing/2014/main" id="{267F5EA8-8454-4A1F-8F6E-79E026CF49D6}"/>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203333"/>
                </a:solidFill>
                <a:latin typeface="Georgia"/>
                <a:ea typeface="Georgia"/>
                <a:cs typeface="Georgia"/>
              </a:defRPr>
            </a:defPPr>
          </a:lstStyle>
          <a:p xmlns:a="http://schemas.openxmlformats.org/drawingml/2006/main">
            <a:pPr algn="l">
              <a:defRPr sz="3450" b="0">
                <a:solidFill>
                  <a:srgbClr val="203333"/>
                </a:solidFill>
                <a:latin typeface="Georgia"/>
                <a:ea typeface="Georgia"/>
                <a:cs typeface="Georgia"/>
              </a:defRPr>
            </a:pPr>
            <a:r>
              <a:rPr sz="3450" b="0">
                <a:solidFill>
                  <a:srgbClr val="203333"/>
                </a:solidFill>
                <a:latin typeface="Georgia"/>
                <a:ea typeface="Georgia"/>
                <a:cs typeface="Georgia"/>
              </a:rPr>
              <a:t>A focused distributor business</a:t>
            </a:r>
          </a:p>
        </p:txBody>
      </p:sp>
      <p:sp>
        <p:nvSpPr>
          <p:cNvPr id="2" name="RecallScope">
            <a:extLst xmlns:a="http://schemas.openxmlformats.org/drawingml/2006/main">
              <a:ext uri="{FF2B5EF4-FFF2-40B4-BE49-F238E27FC236}">
                <a16:creationId xmlns:a16="http://schemas.microsoft.com/office/drawing/2014/main" id="{9D28D911-82ED-46A3-83EE-503E27C6D095}"/>
              </a:ext>
            </a:extLst>
          </p:cNvPr>
          <p:cNvSpPr>
            <a:spLocks xmlns:a="http://schemas.openxmlformats.org/drawingml/2006/main" noGrp="1"/>
          </p:cNvSpPr>
          <p:nvPr/>
        </p:nvSpPr>
        <p:spPr>
          <a:xfrm xmlns:a="http://schemas.openxmlformats.org/drawingml/2006/main">
            <a:off x="609600" y="6438900"/>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667873"/>
                </a:solidFill>
                <a:latin typeface="Segoe UI"/>
                <a:ea typeface="Segoe UI"/>
                <a:cs typeface="Segoe UI"/>
              </a:defRPr>
            </a:defPPr>
          </a:lstStyle>
          <a:p xmlns:a="http://schemas.openxmlformats.org/drawingml/2006/main">
            <a:pPr algn="l">
              <a:defRPr sz="1125" b="1">
                <a:solidFill>
                  <a:srgbClr val="667873"/>
                </a:solidFill>
                <a:latin typeface="Segoe UI"/>
                <a:ea typeface="Segoe UI"/>
                <a:cs typeface="Segoe UI"/>
              </a:defRPr>
            </a:pPr>
            <a:r>
              <a:rPr sz="1125" b="1">
                <a:solidFill>
                  <a:srgbClr val="667873"/>
                </a:solidFill>
                <a:latin typeface="Segoe UI"/>
                <a:ea typeface="Segoe UI"/>
                <a:cs typeface="Segoe UI"/>
              </a:rPr>
              <a:t>RecallScope</a:t>
            </a:r>
          </a:p>
        </p:txBody>
      </p:sp>
      <p:sp>
        <p:nvSpPr>
          <p:cNvPr id="3" name="07">
            <a:extLst xmlns:a="http://schemas.openxmlformats.org/drawingml/2006/main">
              <a:ext uri="{FF2B5EF4-FFF2-40B4-BE49-F238E27FC236}">
                <a16:creationId xmlns:a16="http://schemas.microsoft.com/office/drawing/2014/main" id="{9A730584-A28C-458E-AB63-F49F2429E8D7}"/>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67873"/>
                </a:solidFill>
                <a:latin typeface="Segoe UI"/>
                <a:ea typeface="Segoe UI"/>
                <a:cs typeface="Segoe UI"/>
              </a:defRPr>
            </a:defPPr>
          </a:lstStyle>
          <a:p xmlns:a="http://schemas.openxmlformats.org/drawingml/2006/main">
            <a:pPr algn="r">
              <a:defRPr sz="1125" b="0">
                <a:solidFill>
                  <a:srgbClr val="667873"/>
                </a:solidFill>
                <a:latin typeface="Segoe UI"/>
                <a:ea typeface="Segoe UI"/>
                <a:cs typeface="Segoe UI"/>
              </a:defRPr>
            </a:pPr>
            <a:r>
              <a:rPr sz="1125" b="0">
                <a:solidFill>
                  <a:srgbClr val="667873"/>
                </a:solidFill>
                <a:latin typeface="Segoe UI"/>
                <a:ea typeface="Segoe UI"/>
                <a:cs typeface="Segoe UI"/>
              </a:rPr>
              <a:t>07</a:t>
            </a:r>
          </a:p>
        </p:txBody>
      </p:sp>
      <p:sp>
        <p:nvSpPr>
          <p:cNvPr id="4" name="Operations and quality teams">
            <a:extLst xmlns:a="http://schemas.openxmlformats.org/drawingml/2006/main">
              <a:ext uri="{FF2B5EF4-FFF2-40B4-BE49-F238E27FC236}">
                <a16:creationId xmlns:a16="http://schemas.microsoft.com/office/drawing/2014/main" id="{BA0D8CCD-1509-4807-9327-8C34AD91FEA7}"/>
              </a:ext>
            </a:extLst>
          </p:cNvPr>
          <p:cNvSpPr>
            <a:spLocks xmlns:a="http://schemas.openxmlformats.org/drawingml/2006/main" noGrp="1"/>
          </p:cNvSpPr>
          <p:nvPr/>
        </p:nvSpPr>
        <p:spPr>
          <a:xfrm xmlns:a="http://schemas.openxmlformats.org/drawingml/2006/main">
            <a:off x="609600" y="1457325"/>
            <a:ext cx="5448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645B"/>
                </a:solidFill>
                <a:latin typeface="Segoe UI"/>
                <a:ea typeface="Segoe UI"/>
                <a:cs typeface="Segoe UI"/>
              </a:defRPr>
            </a:defPPr>
          </a:lstStyle>
          <a:p xmlns:a="http://schemas.openxmlformats.org/drawingml/2006/main">
            <a:pPr algn="l">
              <a:defRPr sz="2400" b="1">
                <a:solidFill>
                  <a:srgbClr val="17645B"/>
                </a:solidFill>
                <a:latin typeface="Segoe UI"/>
                <a:ea typeface="Segoe UI"/>
                <a:cs typeface="Segoe UI"/>
              </a:defRPr>
            </a:pPr>
            <a:r>
              <a:rPr sz="2400" b="1">
                <a:solidFill>
                  <a:srgbClr val="17645B"/>
                </a:solidFill>
                <a:latin typeface="Segoe UI"/>
                <a:ea typeface="Segoe UI"/>
                <a:cs typeface="Segoe UI"/>
              </a:rPr>
              <a:t>Operations and quality teams</a:t>
            </a:r>
          </a:p>
        </p:txBody>
      </p:sp>
      <p:sp>
        <p:nvSpPr>
          <p:cNvPr id="5" name="Document-to-recall accounting&#10;with an inspectable source&#10;beh">
            <a:extLst xmlns:a="http://schemas.openxmlformats.org/drawingml/2006/main">
              <a:ext uri="{FF2B5EF4-FFF2-40B4-BE49-F238E27FC236}">
                <a16:creationId xmlns:a16="http://schemas.microsoft.com/office/drawing/2014/main" id="{41FFA62A-03FB-49BA-A075-44465A258CF0}"/>
              </a:ext>
            </a:extLst>
          </p:cNvPr>
          <p:cNvSpPr>
            <a:spLocks xmlns:a="http://schemas.openxmlformats.org/drawingml/2006/main" noGrp="1"/>
          </p:cNvSpPr>
          <p:nvPr/>
        </p:nvSpPr>
        <p:spPr>
          <a:xfrm xmlns:a="http://schemas.openxmlformats.org/drawingml/2006/main">
            <a:off x="609600" y="2181225"/>
            <a:ext cx="514350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03333"/>
                </a:solidFill>
                <a:latin typeface="Georgia"/>
                <a:ea typeface="Georgia"/>
                <a:cs typeface="Georgia"/>
              </a:defRPr>
            </a:defPPr>
          </a:lstStyle>
          <a:p xmlns:a="http://schemas.openxmlformats.org/drawingml/2006/main">
            <a:pPr algn="l">
              <a:defRPr sz="2550" b="0">
                <a:solidFill>
                  <a:srgbClr val="203333"/>
                </a:solidFill>
                <a:latin typeface="Georgia"/>
                <a:ea typeface="Georgia"/>
                <a:cs typeface="Georgia"/>
              </a:defRPr>
            </a:pPr>
            <a:r>
              <a:rPr sz="2550" b="0">
                <a:solidFill>
                  <a:srgbClr val="203333"/>
                </a:solidFill>
                <a:latin typeface="Georgia"/>
                <a:ea typeface="Georgia"/>
                <a:cs typeface="Georgia"/>
              </a:rPr>
              <a:t>Document-to-recall accounting</a:t>
            </a:r>
          </a:p>
          <a:p xmlns:a="http://schemas.openxmlformats.org/drawingml/2006/main">
            <a:pPr algn="l">
              <a:defRPr sz="2550" b="0">
                <a:solidFill>
                  <a:srgbClr val="203333"/>
                </a:solidFill>
                <a:latin typeface="Georgia"/>
                <a:ea typeface="Georgia"/>
                <a:cs typeface="Georgia"/>
              </a:defRPr>
            </a:pPr>
            <a:r>
              <a:rPr sz="2550" b="0">
                <a:solidFill>
                  <a:srgbClr val="203333"/>
                </a:solidFill>
                <a:latin typeface="Georgia"/>
                <a:ea typeface="Georgia"/>
                <a:cs typeface="Georgia"/>
              </a:rPr>
              <a:t>with an inspectable source</a:t>
            </a:r>
          </a:p>
          <a:p xmlns:a="http://schemas.openxmlformats.org/drawingml/2006/main">
            <a:pPr algn="l">
              <a:defRPr sz="2550" b="0">
                <a:solidFill>
                  <a:srgbClr val="203333"/>
                </a:solidFill>
                <a:latin typeface="Georgia"/>
                <a:ea typeface="Georgia"/>
                <a:cs typeface="Georgia"/>
              </a:defRPr>
            </a:pPr>
            <a:r>
              <a:rPr sz="2550" b="0">
                <a:solidFill>
                  <a:srgbClr val="203333"/>
                </a:solidFill>
                <a:latin typeface="Georgia"/>
                <a:ea typeface="Georgia"/>
                <a:cs typeface="Georgia"/>
              </a:rPr>
              <a:t>behind each decision.</a:t>
            </a:r>
          </a:p>
        </p:txBody>
      </p:sp>
      <p:sp>
        <p:nvSpPr>
          <p:cNvPr id="6" name="Proposed commercial model">
            <a:extLst xmlns:a="http://schemas.openxmlformats.org/drawingml/2006/main">
              <a:ext uri="{FF2B5EF4-FFF2-40B4-BE49-F238E27FC236}">
                <a16:creationId xmlns:a16="http://schemas.microsoft.com/office/drawing/2014/main" id="{C9E8E219-30F0-44E7-883F-E634B6DCC2D1}"/>
              </a:ext>
            </a:extLst>
          </p:cNvPr>
          <p:cNvSpPr>
            <a:spLocks xmlns:a="http://schemas.openxmlformats.org/drawingml/2006/main" noGrp="1"/>
          </p:cNvSpPr>
          <p:nvPr/>
        </p:nvSpPr>
        <p:spPr>
          <a:xfrm xmlns:a="http://schemas.openxmlformats.org/drawingml/2006/main">
            <a:off x="609600" y="4533900"/>
            <a:ext cx="51339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203333"/>
                </a:solidFill>
                <a:latin typeface="Segoe UI"/>
                <a:ea typeface="Segoe UI"/>
                <a:cs typeface="Segoe UI"/>
              </a:defRPr>
            </a:defPPr>
          </a:lstStyle>
          <a:p xmlns:a="http://schemas.openxmlformats.org/drawingml/2006/main">
            <a:pPr algn="l">
              <a:defRPr sz="1950" b="1">
                <a:solidFill>
                  <a:srgbClr val="203333"/>
                </a:solidFill>
                <a:latin typeface="Segoe UI"/>
                <a:ea typeface="Segoe UI"/>
                <a:cs typeface="Segoe UI"/>
              </a:defRPr>
            </a:pPr>
            <a:r>
              <a:rPr sz="1950" b="1">
                <a:solidFill>
                  <a:srgbClr val="203333"/>
                </a:solidFill>
                <a:latin typeface="Segoe UI"/>
                <a:ea typeface="Segoe UI"/>
                <a:cs typeface="Segoe UI"/>
              </a:rPr>
              <a:t>Proposed commercial model</a:t>
            </a:r>
          </a:p>
        </p:txBody>
      </p:sp>
      <p:sp>
        <p:nvSpPr>
          <p:cNvPr id="7" name="Organisation subscription, warehouse&#10;allowances and optional">
            <a:extLst xmlns:a="http://schemas.openxmlformats.org/drawingml/2006/main">
              <a:ext uri="{FF2B5EF4-FFF2-40B4-BE49-F238E27FC236}">
                <a16:creationId xmlns:a16="http://schemas.microsoft.com/office/drawing/2014/main" id="{C8F77F3F-6653-4321-A45C-8845BC74D113}"/>
              </a:ext>
            </a:extLst>
          </p:cNvPr>
          <p:cNvSpPr>
            <a:spLocks xmlns:a="http://schemas.openxmlformats.org/drawingml/2006/main" noGrp="1"/>
          </p:cNvSpPr>
          <p:nvPr/>
        </p:nvSpPr>
        <p:spPr>
          <a:xfrm xmlns:a="http://schemas.openxmlformats.org/drawingml/2006/main">
            <a:off x="609600" y="5048250"/>
            <a:ext cx="5191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67873"/>
                </a:solidFill>
                <a:latin typeface="Segoe UI"/>
                <a:ea typeface="Segoe UI"/>
                <a:cs typeface="Segoe UI"/>
              </a:defRPr>
            </a:defPPr>
          </a:lstStyle>
          <a:p xmlns:a="http://schemas.openxmlformats.org/drawingml/2006/main">
            <a:pPr algn="l">
              <a:defRPr sz="1875" b="0">
                <a:solidFill>
                  <a:srgbClr val="667873"/>
                </a:solidFill>
                <a:latin typeface="Segoe UI"/>
                <a:ea typeface="Segoe UI"/>
                <a:cs typeface="Segoe UI"/>
              </a:defRPr>
            </a:pPr>
            <a:r>
              <a:rPr sz="1875" b="0">
                <a:solidFill>
                  <a:srgbClr val="667873"/>
                </a:solidFill>
                <a:latin typeface="Segoe UI"/>
                <a:ea typeface="Segoe UI"/>
                <a:cs typeface="Segoe UI"/>
              </a:rPr>
              <a:t>Organisation subscription, warehouse</a:t>
            </a:r>
          </a:p>
          <a:p xmlns:a="http://schemas.openxmlformats.org/drawingml/2006/main">
            <a:pPr algn="l">
              <a:defRPr sz="1875" b="0">
                <a:solidFill>
                  <a:srgbClr val="667873"/>
                </a:solidFill>
                <a:latin typeface="Segoe UI"/>
                <a:ea typeface="Segoe UI"/>
                <a:cs typeface="Segoe UI"/>
              </a:defRPr>
            </a:pPr>
            <a:r>
              <a:rPr sz="1875" b="0">
                <a:solidFill>
                  <a:srgbClr val="667873"/>
                </a:solidFill>
                <a:latin typeface="Segoe UI"/>
                <a:ea typeface="Segoe UI"/>
                <a:cs typeface="Segoe UI"/>
              </a:rPr>
              <a:t>allowances and optional metered extraction.</a:t>
            </a:r>
          </a:p>
        </p:txBody>
      </p:sp>
      <p:sp>
        <p:nvSpPr>
          <p:cNvPr id="8" name="Commercial hypothesis">
            <a:extLst xmlns:a="http://schemas.openxmlformats.org/drawingml/2006/main">
              <a:ext uri="{FF2B5EF4-FFF2-40B4-BE49-F238E27FC236}">
                <a16:creationId xmlns:a16="http://schemas.microsoft.com/office/drawing/2014/main" id="{17C729DB-DFD1-4DA4-A4DC-A23F941147A1}"/>
              </a:ext>
            </a:extLst>
          </p:cNvPr>
          <p:cNvSpPr>
            <a:spLocks xmlns:a="http://schemas.openxmlformats.org/drawingml/2006/main" noGrp="1"/>
          </p:cNvSpPr>
          <p:nvPr/>
        </p:nvSpPr>
        <p:spPr>
          <a:xfrm xmlns:a="http://schemas.openxmlformats.org/drawingml/2006/main">
            <a:off x="609600" y="6029325"/>
            <a:ext cx="495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67873"/>
                </a:solidFill>
                <a:latin typeface="Segoe UI"/>
                <a:ea typeface="Segoe UI"/>
                <a:cs typeface="Segoe UI"/>
              </a:defRPr>
            </a:defPPr>
          </a:lstStyle>
          <a:p xmlns:a="http://schemas.openxmlformats.org/drawingml/2006/main">
            <a:pPr algn="l">
              <a:defRPr sz="1275" b="0">
                <a:solidFill>
                  <a:srgbClr val="667873"/>
                </a:solidFill>
                <a:latin typeface="Segoe UI"/>
                <a:ea typeface="Segoe UI"/>
                <a:cs typeface="Segoe UI"/>
              </a:defRPr>
            </a:pPr>
            <a:r>
              <a:rPr sz="1275" b="0">
                <a:solidFill>
                  <a:srgbClr val="667873"/>
                </a:solidFill>
                <a:latin typeface="Segoe UI"/>
                <a:ea typeface="Segoe UI"/>
                <a:cs typeface="Segoe UI"/>
              </a:rPr>
              <a:t>Commercial hypothesis</a:t>
            </a:r>
          </a:p>
        </p:txBody>
      </p:sp>
      <p:sp>
        <p:nvSpPr>
          <p:cNvPr id="9" name="An established category">
            <a:extLst xmlns:a="http://schemas.openxmlformats.org/drawingml/2006/main">
              <a:ext uri="{FF2B5EF4-FFF2-40B4-BE49-F238E27FC236}">
                <a16:creationId xmlns:a16="http://schemas.microsoft.com/office/drawing/2014/main" id="{02C2CDDA-A7F9-4FB3-9FD7-7BA313BA0B03}"/>
              </a:ext>
            </a:extLst>
          </p:cNvPr>
          <p:cNvSpPr>
            <a:spLocks xmlns:a="http://schemas.openxmlformats.org/drawingml/2006/main" noGrp="1"/>
          </p:cNvSpPr>
          <p:nvPr/>
        </p:nvSpPr>
        <p:spPr>
          <a:xfrm xmlns:a="http://schemas.openxmlformats.org/drawingml/2006/main">
            <a:off x="6410325" y="1485900"/>
            <a:ext cx="51720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3333"/>
                </a:solidFill>
                <a:latin typeface="Segoe UI"/>
                <a:ea typeface="Segoe UI"/>
                <a:cs typeface="Segoe UI"/>
              </a:defRPr>
            </a:defPPr>
          </a:lstStyle>
          <a:p xmlns:a="http://schemas.openxmlformats.org/drawingml/2006/main">
            <a:pPr algn="l">
              <a:defRPr sz="2100" b="1">
                <a:solidFill>
                  <a:srgbClr val="203333"/>
                </a:solidFill>
                <a:latin typeface="Segoe UI"/>
                <a:ea typeface="Segoe UI"/>
                <a:cs typeface="Segoe UI"/>
              </a:defRPr>
            </a:pPr>
            <a:r>
              <a:rPr sz="2100" b="1">
                <a:solidFill>
                  <a:srgbClr val="203333"/>
                </a:solidFill>
                <a:latin typeface="Segoe UI"/>
                <a:ea typeface="Segoe UI"/>
                <a:cs typeface="Segoe UI"/>
              </a:rPr>
              <a:t>An established category</a:t>
            </a:r>
          </a:p>
        </p:txBody>
      </p:sp>
      <p:graphicFrame>
        <p:nvGraphicFramePr>
          <p:cNvPr id="10" name="">
            <a:extLst xmlns:a="http://schemas.openxmlformats.org/drawingml/2006/main">
              <a:ext uri="{FF2B5EF4-FFF2-40B4-BE49-F238E27FC236}">
                <a16:creationId xmlns:a16="http://schemas.microsoft.com/office/drawing/2014/main" id="{7D5EFA73-0ADC-406C-9517-1C22789668D0}"/>
              </a:ext>
            </a:extLst>
          </p:cNvPr>
          <p:cNvGraphicFramePr/>
          <p:nvPr/>
        </p:nvGraphicFramePr>
        <p:xfrm>
          <a:off xmlns:a="http://schemas.openxmlformats.org/drawingml/2006/main" x="6410325" y="2085975"/>
          <a:ext xmlns:a="http://schemas.openxmlformats.org/drawingml/2006/main" cx="5172075" cy="3267075"/>
        </p:xfrm>
        <a:graphic xmlns:a="http://schemas.openxmlformats.org/drawingml/2006/main">
          <a:graphicData uri="http://schemas.openxmlformats.org/drawingml/2006/table">
            <a:tbl>
              <a:tblPr firstRow="1" bandRow="0"/>
              <a:tblGrid>
                <a:gridCol w="2028825"/>
                <a:gridCol w="3143250"/>
              </a:tblGrid>
              <a:tr h="816769">
                <a:tc>
                  <a:txBody>
                    <a:bodyPr lIns="152400" tIns="76200" rIns="114300" bIns="76200">
                      <a:noAutofit/>
                    </a:bodyPr>
                    <a:lstStyle/>
                    <a:p>
                      <a:r>
                        <a:rPr sz="1725" b="1">
                          <a:solidFill>
                            <a:srgbClr val="FFFFFF"/>
                          </a:solidFill>
                          <a:latin typeface="Segoe UI"/>
                          <a:ea typeface="Segoe UI"/>
                          <a:cs typeface="Segoe UI"/>
                        </a:rPr>
                        <a:t>Alternative</a:t>
                      </a:r>
                    </a:p>
                  </a:txBody>
                  <a:tcPr marL="91440" marR="91440" marT="45720" marB="45720" anchor="ctr">
                    <a:solidFill>
                      <a:srgbClr val="1E3535"/>
                    </a:solidFill>
                  </a:tcPr>
                </a:tc>
                <a:tc>
                  <a:txBody>
                    <a:bodyPr lIns="152400" tIns="76200" rIns="114300" bIns="76200">
                      <a:noAutofit/>
                    </a:bodyPr>
                    <a:lstStyle/>
                    <a:p>
                      <a:r>
                        <a:rPr sz="1725" b="1">
                          <a:solidFill>
                            <a:srgbClr val="FFFFFF"/>
                          </a:solidFill>
                          <a:latin typeface="Segoe UI"/>
                          <a:ea typeface="Segoe UI"/>
                          <a:cs typeface="Segoe UI"/>
                        </a:rPr>
                        <a:t>Documented focus</a:t>
                      </a:r>
                    </a:p>
                  </a:txBody>
                  <a:tcPr marL="91440" marR="91440" marT="45720" marB="45720" anchor="ctr">
                    <a:solidFill>
                      <a:srgbClr val="1E3535"/>
                    </a:solidFill>
                  </a:tcPr>
                </a:tc>
              </a:tr>
              <a:tr h="816769">
                <a:tc>
                  <a:txBody>
                    <a:bodyPr lIns="152400" tIns="76200" rIns="114300" bIns="76200">
                      <a:noAutofit/>
                    </a:bodyPr>
                    <a:lstStyle/>
                    <a:p>
                      <a:r>
                        <a:rPr sz="1725" b="1">
                          <a:solidFill>
                            <a:srgbClr val="203333"/>
                          </a:solidFill>
                          <a:latin typeface="Segoe UI"/>
                          <a:ea typeface="Segoe UI"/>
                          <a:cs typeface="Segoe UI"/>
                        </a:rPr>
                        <a:t>TraceLink</a:t>
                      </a:r>
                    </a:p>
                  </a:txBody>
                  <a:tcPr marL="91440" marR="91440" marT="45720" marB="45720" anchor="ctr">
                    <a:solidFill>
                      <a:srgbClr val="FFFFFF"/>
                    </a:solidFill>
                  </a:tcPr>
                </a:tc>
                <a:tc>
                  <a:txBody>
                    <a:bodyPr lIns="152400" tIns="76200" rIns="114300" bIns="76200">
                      <a:noAutofit/>
                    </a:bodyPr>
                    <a:lstStyle/>
                    <a:p>
                      <a:r>
                        <a:rPr sz="1725" b="0">
                          <a:solidFill>
                            <a:srgbClr val="203333"/>
                          </a:solidFill>
                          <a:latin typeface="Segoe UI"/>
                          <a:ea typeface="Segoe UI"/>
                          <a:cs typeface="Segoe UI"/>
                        </a:rPr>
                        <a:t>Targeted recalls</a:t>
                      </a:r>
                    </a:p>
                  </a:txBody>
                  <a:tcPr marL="91440" marR="91440" marT="45720" marB="45720" anchor="ctr">
                    <a:solidFill>
                      <a:srgbClr val="FFFFFF"/>
                    </a:solidFill>
                  </a:tcPr>
                </a:tc>
              </a:tr>
              <a:tr h="816769">
                <a:tc>
                  <a:txBody>
                    <a:bodyPr lIns="152400" tIns="76200" rIns="114300" bIns="76200">
                      <a:noAutofit/>
                    </a:bodyPr>
                    <a:lstStyle/>
                    <a:p>
                      <a:r>
                        <a:rPr sz="1725" b="1">
                          <a:solidFill>
                            <a:srgbClr val="203333"/>
                          </a:solidFill>
                          <a:latin typeface="Segoe UI"/>
                          <a:ea typeface="Segoe UI"/>
                          <a:cs typeface="Segoe UI"/>
                        </a:rPr>
                        <a:t>SAP ATTP</a:t>
                      </a:r>
                    </a:p>
                  </a:txBody>
                  <a:tcPr marL="91440" marR="91440" marT="45720" marB="45720" anchor="ctr">
                    <a:solidFill>
                      <a:srgbClr val="FFFFFF"/>
                    </a:solidFill>
                  </a:tcPr>
                </a:tc>
                <a:tc>
                  <a:txBody>
                    <a:bodyPr lIns="152400" tIns="76200" rIns="114300" bIns="76200">
                      <a:noAutofit/>
                    </a:bodyPr>
                    <a:lstStyle/>
                    <a:p>
                      <a:r>
                        <a:rPr sz="1725" b="0">
                          <a:solidFill>
                            <a:srgbClr val="203333"/>
                          </a:solidFill>
                          <a:latin typeface="Segoe UI"/>
                          <a:ea typeface="Segoe UI"/>
                          <a:cs typeface="Segoe UI"/>
                        </a:rPr>
                        <a:t>Serialization and integration</a:t>
                      </a:r>
                    </a:p>
                  </a:txBody>
                  <a:tcPr marL="91440" marR="91440" marT="45720" marB="45720" anchor="ctr">
                    <a:solidFill>
                      <a:srgbClr val="FFFFFF"/>
                    </a:solidFill>
                  </a:tcPr>
                </a:tc>
              </a:tr>
              <a:tr h="816769">
                <a:tc>
                  <a:txBody>
                    <a:bodyPr lIns="152400" tIns="76200" rIns="114300" bIns="76200">
                      <a:noAutofit/>
                    </a:bodyPr>
                    <a:lstStyle/>
                    <a:p>
                      <a:r>
                        <a:rPr sz="1725" b="1">
                          <a:solidFill>
                            <a:srgbClr val="203333"/>
                          </a:solidFill>
                          <a:latin typeface="Segoe UI"/>
                          <a:ea typeface="Segoe UI"/>
                          <a:cs typeface="Segoe UI"/>
                        </a:rPr>
                        <a:t>Odoo Inventory</a:t>
                      </a:r>
                    </a:p>
                  </a:txBody>
                  <a:tcPr marL="91440" marR="91440" marT="45720" marB="45720" anchor="ctr">
                    <a:solidFill>
                      <a:srgbClr val="FFFFFF"/>
                    </a:solidFill>
                  </a:tcPr>
                </a:tc>
                <a:tc>
                  <a:txBody>
                    <a:bodyPr lIns="152400" tIns="76200" rIns="114300" bIns="76200">
                      <a:noAutofit/>
                    </a:bodyPr>
                    <a:lstStyle/>
                    <a:p>
                      <a:r>
                        <a:rPr sz="1725" b="0">
                          <a:solidFill>
                            <a:srgbClr val="203333"/>
                          </a:solidFill>
                          <a:latin typeface="Segoe UI"/>
                          <a:ea typeface="Segoe UI"/>
                          <a:cs typeface="Segoe UI"/>
                        </a:rPr>
                        <a:t>Lots, expiry and FEFO</a:t>
                      </a:r>
                    </a:p>
                  </a:txBody>
                  <a:tcPr marL="91440" marR="91440" marT="45720" marB="45720" anchor="ctr">
                    <a:solidFill>
                      <a:srgbClr val="FFFFFF"/>
                    </a:solidFill>
                  </a:tcPr>
                </a:tc>
              </a:tr>
            </a:tbl>
          </a:graphicData>
        </a:graphic>
      </p:graphicFrame>
      <p:sp>
        <p:nvSpPr>
          <p:cNvPr id="11" name="RecallScope focuses the experience on reviewed documents and">
            <a:extLst xmlns:a="http://schemas.openxmlformats.org/drawingml/2006/main">
              <a:ext uri="{FF2B5EF4-FFF2-40B4-BE49-F238E27FC236}">
                <a16:creationId xmlns:a16="http://schemas.microsoft.com/office/drawing/2014/main" id="{497AC5E1-BA55-4C1F-94D4-0F9BE84ACEFE}"/>
              </a:ext>
            </a:extLst>
          </p:cNvPr>
          <p:cNvSpPr>
            <a:spLocks xmlns:a="http://schemas.openxmlformats.org/drawingml/2006/main" noGrp="1"/>
          </p:cNvSpPr>
          <p:nvPr/>
        </p:nvSpPr>
        <p:spPr>
          <a:xfrm xmlns:a="http://schemas.openxmlformats.org/drawingml/2006/main">
            <a:off x="6410325" y="5619750"/>
            <a:ext cx="51720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645B"/>
                </a:solidFill>
                <a:latin typeface="Segoe UI"/>
                <a:ea typeface="Segoe UI"/>
                <a:cs typeface="Segoe UI"/>
              </a:defRPr>
            </a:defPPr>
          </a:lstStyle>
          <a:p xmlns:a="http://schemas.openxmlformats.org/drawingml/2006/main">
            <a:pPr algn="l">
              <a:defRPr sz="1725" b="0">
                <a:solidFill>
                  <a:srgbClr val="17645B"/>
                </a:solidFill>
                <a:latin typeface="Segoe UI"/>
                <a:ea typeface="Segoe UI"/>
                <a:cs typeface="Segoe UI"/>
              </a:defRPr>
            </a:pPr>
            <a:r>
              <a:rPr sz="1725" b="0">
                <a:solidFill>
                  <a:srgbClr val="17645B"/>
                </a:solidFill>
                <a:latin typeface="Segoe UI"/>
                <a:ea typeface="Segoe UI"/>
                <a:cs typeface="Segoe UI"/>
              </a:rPr>
              <a:t>RecallScope focuses the experience on reviewed documents and return accounting.</a:t>
            </a:r>
          </a:p>
        </p:txBody>
      </p:sp>
    </p:spTree>
    <p:extLst>
      <p:ext uri="{BB962C8B-B14F-4D97-AF65-F5344CB8AC3E}">
        <p14:creationId xmlns:p14="http://schemas.microsoft.com/office/powerpoint/2010/main" val="1536887003"/>
      </p:ext>
    </p:extLst>
  </p:cSld>
</p:sld>
</file>

<file path=ppt/slides/slide8.xml><?xml version="1.0" encoding="utf-8"?>
<p:sld xmlns:p="http://schemas.openxmlformats.org/presentationml/2006/main">
  <p:cSld>
    <p:bg>
      <p:bgPr>
        <a:solidFill xmlns:a="http://schemas.openxmlformats.org/drawingml/2006/main">
          <a:srgbClr val="1E3535"/>
        </a:solidFill>
      </p:bgPr>
    </p:bg>
    <p:spTree>
      <p:nvGrpSpPr>
        <p:cNvPr id="1" name=""/>
        <p:cNvGrpSpPr/>
        <p:nvPr/>
      </p:nvGrpSpPr>
      <p:grpSpPr>
        <a:xfrm xmlns:a="http://schemas.openxmlformats.org/drawingml/2006/main"/>
      </p:grpSpPr>
      <p:sp>
        <p:nvSpPr>
          <p:cNvPr id="10" name="Built with agentic AI">
            <a:extLst xmlns:a="http://schemas.openxmlformats.org/drawingml/2006/main">
              <a:ext uri="{FF2B5EF4-FFF2-40B4-BE49-F238E27FC236}">
                <a16:creationId xmlns:a16="http://schemas.microsoft.com/office/drawing/2014/main" id="{20832389-8CDA-4057-93DD-74DAB80F606F}"/>
              </a:ext>
            </a:extLst>
          </p:cNvPr>
          <p:cNvSpPr>
            <a:spLocks xmlns:a="http://schemas.openxmlformats.org/drawingml/2006/main" noGrp="1"/>
          </p:cNvSpPr>
          <p:nvPr/>
        </p:nvSpPr>
        <p:spPr>
          <a:xfrm xmlns:a="http://schemas.openxmlformats.org/drawingml/2006/main">
            <a:off x="609600" y="5905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FFFFFF"/>
                </a:solidFill>
                <a:latin typeface="Georgia"/>
                <a:ea typeface="Georgia"/>
                <a:cs typeface="Georgia"/>
              </a:defRPr>
            </a:defPPr>
          </a:lstStyle>
          <a:p xmlns:a="http://schemas.openxmlformats.org/drawingml/2006/main">
            <a:pPr algn="l">
              <a:defRPr sz="3900" b="0">
                <a:solidFill>
                  <a:srgbClr val="FFFFFF"/>
                </a:solidFill>
                <a:latin typeface="Georgia"/>
                <a:ea typeface="Georgia"/>
                <a:cs typeface="Georgia"/>
              </a:defRPr>
            </a:pPr>
            <a:r>
              <a:rPr sz="3900" b="0">
                <a:solidFill>
                  <a:srgbClr val="FFFFFF"/>
                </a:solidFill>
                <a:latin typeface="Georgia"/>
                <a:ea typeface="Georgia"/>
                <a:cs typeface="Georgia"/>
              </a:rPr>
              <a:t>Built with agentic AI</a:t>
            </a:r>
          </a:p>
        </p:txBody>
      </p:sp>
      <p:sp>
        <p:nvSpPr>
          <p:cNvPr id="2" name="Codex agents designed and implemented the custom system&#10;unde">
            <a:extLst xmlns:a="http://schemas.openxmlformats.org/drawingml/2006/main">
              <a:ext uri="{FF2B5EF4-FFF2-40B4-BE49-F238E27FC236}">
                <a16:creationId xmlns:a16="http://schemas.microsoft.com/office/drawing/2014/main" id="{34123C46-B4C8-47C7-B3E3-8704151CAFC4}"/>
              </a:ext>
            </a:extLst>
          </p:cNvPr>
          <p:cNvSpPr>
            <a:spLocks xmlns:a="http://schemas.openxmlformats.org/drawingml/2006/main" noGrp="1"/>
          </p:cNvSpPr>
          <p:nvPr/>
        </p:nvSpPr>
        <p:spPr>
          <a:xfrm xmlns:a="http://schemas.openxmlformats.org/drawingml/2006/main">
            <a:off x="619125" y="1724025"/>
            <a:ext cx="10715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D7E7D5"/>
                </a:solidFill>
                <a:latin typeface="Segoe UI"/>
                <a:ea typeface="Segoe UI"/>
                <a:cs typeface="Segoe UI"/>
              </a:defRPr>
            </a:defPPr>
          </a:lstStyle>
          <a:p xmlns:a="http://schemas.openxmlformats.org/drawingml/2006/main">
            <a:pPr algn="l">
              <a:defRPr sz="2325" b="0">
                <a:solidFill>
                  <a:srgbClr val="D7E7D5"/>
                </a:solidFill>
                <a:latin typeface="Segoe UI"/>
                <a:ea typeface="Segoe UI"/>
                <a:cs typeface="Segoe UI"/>
              </a:defRPr>
            </a:pPr>
            <a:r>
              <a:rPr sz="2325" b="0">
                <a:solidFill>
                  <a:srgbClr val="D7E7D5"/>
                </a:solidFill>
                <a:latin typeface="Segoe UI"/>
                <a:ea typeface="Segoe UI"/>
                <a:cs typeface="Segoe UI"/>
              </a:rPr>
              <a:t>Codex agents designed and implemented the custom system</a:t>
            </a:r>
          </a:p>
          <a:p xmlns:a="http://schemas.openxmlformats.org/drawingml/2006/main">
            <a:pPr algn="l">
              <a:defRPr sz="2325" b="0">
                <a:solidFill>
                  <a:srgbClr val="D7E7D5"/>
                </a:solidFill>
                <a:latin typeface="Segoe UI"/>
                <a:ea typeface="Segoe UI"/>
                <a:cs typeface="Segoe UI"/>
              </a:defRPr>
            </a:pPr>
            <a:r>
              <a:rPr sz="2325" b="0">
                <a:solidFill>
                  <a:srgbClr val="D7E7D5"/>
                </a:solidFill>
                <a:latin typeface="Segoe UI"/>
                <a:ea typeface="Segoe UI"/>
                <a:cs typeface="Segoe UI"/>
              </a:rPr>
              <a:t>under the owner’s direction.</a:t>
            </a:r>
          </a:p>
        </p:txBody>
      </p:sp>
      <p:sp>
        <p:nvSpPr>
          <p:cNvPr id="3" name="rule">
            <a:extLst xmlns:a="http://schemas.openxmlformats.org/drawingml/2006/main">
              <a:ext uri="{FF2B5EF4-FFF2-40B4-BE49-F238E27FC236}">
                <a16:creationId xmlns:a16="http://schemas.microsoft.com/office/drawing/2014/main" id="{8D0726D1-A701-468F-84B9-DF8F9F8EDFE8}"/>
              </a:ext>
            </a:extLst>
          </p:cNvPr>
          <p:cNvSpPr>
            <a:spLocks xmlns:a="http://schemas.openxmlformats.org/drawingml/2006/main" noGrp="1"/>
          </p:cNvSpPr>
          <p:nvPr/>
        </p:nvSpPr>
        <p:spPr>
          <a:xfrm xmlns:a="http://schemas.openxmlformats.org/drawingml/2006/main">
            <a:off x="619125" y="3057525"/>
            <a:ext cx="10953750" cy="19050"/>
          </a:xfrm>
          <a:prstGeom xmlns:a="http://schemas.openxmlformats.org/drawingml/2006/main" prst="rect">
            <a:avLst/>
          </a:prstGeom>
          <a:solidFill xmlns:a="http://schemas.openxmlformats.org/drawingml/2006/main">
            <a:srgbClr val="3C5651"/>
          </a:solidFill>
          <a:ln xmlns:a="http://schemas.openxmlformats.org/drawingml/2006/main" w="0">
            <a:noFill/>
          </a:ln>
        </p:spPr>
      </p:sp>
      <p:sp>
        <p:nvSpPr>
          <p:cNvPr id="4" name="Product and market research">
            <a:extLst xmlns:a="http://schemas.openxmlformats.org/drawingml/2006/main">
              <a:ext uri="{FF2B5EF4-FFF2-40B4-BE49-F238E27FC236}">
                <a16:creationId xmlns:a16="http://schemas.microsoft.com/office/drawing/2014/main" id="{03E5432E-F43C-4745-8904-BAD684DFE514}"/>
              </a:ext>
            </a:extLst>
          </p:cNvPr>
          <p:cNvSpPr>
            <a:spLocks xmlns:a="http://schemas.openxmlformats.org/drawingml/2006/main" noGrp="1"/>
          </p:cNvSpPr>
          <p:nvPr/>
        </p:nvSpPr>
        <p:spPr>
          <a:xfrm xmlns:a="http://schemas.openxmlformats.org/drawingml/2006/main">
            <a:off x="619125" y="3352800"/>
            <a:ext cx="49244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Segoe UI"/>
                <a:ea typeface="Segoe UI"/>
                <a:cs typeface="Segoe UI"/>
              </a:defRPr>
            </a:defPPr>
          </a:lstStyle>
          <a:p xmlns:a="http://schemas.openxmlformats.org/drawingml/2006/main">
            <a:pPr algn="l">
              <a:defRPr sz="2025" b="0">
                <a:solidFill>
                  <a:srgbClr val="FFFFFF"/>
                </a:solidFill>
                <a:latin typeface="Segoe UI"/>
                <a:ea typeface="Segoe UI"/>
                <a:cs typeface="Segoe UI"/>
              </a:defRPr>
            </a:pPr>
            <a:r>
              <a:rPr sz="2025" b="0">
                <a:solidFill>
                  <a:srgbClr val="FFFFFF"/>
                </a:solidFill>
                <a:latin typeface="Segoe UI"/>
                <a:ea typeface="Segoe UI"/>
                <a:cs typeface="Segoe UI"/>
              </a:rPr>
              <a:t>Product and market research</a:t>
            </a:r>
          </a:p>
        </p:txBody>
      </p:sp>
      <p:sp>
        <p:nvSpPr>
          <p:cNvPr id="5" name="Architecture, interface and backend">
            <a:extLst xmlns:a="http://schemas.openxmlformats.org/drawingml/2006/main">
              <a:ext uri="{FF2B5EF4-FFF2-40B4-BE49-F238E27FC236}">
                <a16:creationId xmlns:a16="http://schemas.microsoft.com/office/drawing/2014/main" id="{F89D462D-9016-4833-9B53-B94CC91A1C55}"/>
              </a:ext>
            </a:extLst>
          </p:cNvPr>
          <p:cNvSpPr>
            <a:spLocks xmlns:a="http://schemas.openxmlformats.org/drawingml/2006/main" noGrp="1"/>
          </p:cNvSpPr>
          <p:nvPr/>
        </p:nvSpPr>
        <p:spPr>
          <a:xfrm xmlns:a="http://schemas.openxmlformats.org/drawingml/2006/main">
            <a:off x="6296025" y="3352800"/>
            <a:ext cx="5191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Segoe UI"/>
                <a:ea typeface="Segoe UI"/>
                <a:cs typeface="Segoe UI"/>
              </a:defRPr>
            </a:defPPr>
          </a:lstStyle>
          <a:p xmlns:a="http://schemas.openxmlformats.org/drawingml/2006/main">
            <a:pPr algn="l">
              <a:defRPr sz="2025" b="0">
                <a:solidFill>
                  <a:srgbClr val="FFFFFF"/>
                </a:solidFill>
                <a:latin typeface="Segoe UI"/>
                <a:ea typeface="Segoe UI"/>
                <a:cs typeface="Segoe UI"/>
              </a:defRPr>
            </a:pPr>
            <a:r>
              <a:rPr sz="2025" b="0">
                <a:solidFill>
                  <a:srgbClr val="FFFFFF"/>
                </a:solidFill>
                <a:latin typeface="Segoe UI"/>
                <a:ea typeface="Segoe UI"/>
                <a:cs typeface="Segoe UI"/>
              </a:rPr>
              <a:t>Architecture, interface and backend</a:t>
            </a:r>
          </a:p>
        </p:txBody>
      </p:sp>
      <p:sp>
        <p:nvSpPr>
          <p:cNvPr id="6" name="Tests and deployment">
            <a:extLst xmlns:a="http://schemas.openxmlformats.org/drawingml/2006/main">
              <a:ext uri="{FF2B5EF4-FFF2-40B4-BE49-F238E27FC236}">
                <a16:creationId xmlns:a16="http://schemas.microsoft.com/office/drawing/2014/main" id="{E69BA6EE-EAD1-4645-8E0D-071941AE1361}"/>
              </a:ext>
            </a:extLst>
          </p:cNvPr>
          <p:cNvSpPr>
            <a:spLocks xmlns:a="http://schemas.openxmlformats.org/drawingml/2006/main" noGrp="1"/>
          </p:cNvSpPr>
          <p:nvPr/>
        </p:nvSpPr>
        <p:spPr>
          <a:xfrm xmlns:a="http://schemas.openxmlformats.org/drawingml/2006/main">
            <a:off x="619125" y="3981450"/>
            <a:ext cx="50196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Segoe UI"/>
                <a:ea typeface="Segoe UI"/>
                <a:cs typeface="Segoe UI"/>
              </a:defRPr>
            </a:defPPr>
          </a:lstStyle>
          <a:p xmlns:a="http://schemas.openxmlformats.org/drawingml/2006/main">
            <a:pPr algn="l">
              <a:defRPr sz="2025" b="0">
                <a:solidFill>
                  <a:srgbClr val="FFFFFF"/>
                </a:solidFill>
                <a:latin typeface="Segoe UI"/>
                <a:ea typeface="Segoe UI"/>
                <a:cs typeface="Segoe UI"/>
              </a:defRPr>
            </a:pPr>
            <a:r>
              <a:rPr sz="2025" b="0">
                <a:solidFill>
                  <a:srgbClr val="FFFFFF"/>
                </a:solidFill>
                <a:latin typeface="Segoe UI"/>
                <a:ea typeface="Segoe UI"/>
                <a:cs typeface="Segoe UI"/>
              </a:rPr>
              <a:t>Tests and deployment</a:t>
            </a:r>
          </a:p>
        </p:txBody>
      </p:sp>
      <p:sp>
        <p:nvSpPr>
          <p:cNvPr id="7" name="Pitch and demonstration materials">
            <a:extLst xmlns:a="http://schemas.openxmlformats.org/drawingml/2006/main">
              <a:ext uri="{FF2B5EF4-FFF2-40B4-BE49-F238E27FC236}">
                <a16:creationId xmlns:a16="http://schemas.microsoft.com/office/drawing/2014/main" id="{F06BE84D-1AD8-4553-A68D-E6F6CE325341}"/>
              </a:ext>
            </a:extLst>
          </p:cNvPr>
          <p:cNvSpPr>
            <a:spLocks xmlns:a="http://schemas.openxmlformats.org/drawingml/2006/main" noGrp="1"/>
          </p:cNvSpPr>
          <p:nvPr/>
        </p:nvSpPr>
        <p:spPr>
          <a:xfrm xmlns:a="http://schemas.openxmlformats.org/drawingml/2006/main">
            <a:off x="6296025" y="3981450"/>
            <a:ext cx="5191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Segoe UI"/>
                <a:ea typeface="Segoe UI"/>
                <a:cs typeface="Segoe UI"/>
              </a:defRPr>
            </a:defPPr>
          </a:lstStyle>
          <a:p xmlns:a="http://schemas.openxmlformats.org/drawingml/2006/main">
            <a:pPr algn="l">
              <a:defRPr sz="2025" b="0">
                <a:solidFill>
                  <a:srgbClr val="FFFFFF"/>
                </a:solidFill>
                <a:latin typeface="Segoe UI"/>
                <a:ea typeface="Segoe UI"/>
                <a:cs typeface="Segoe UI"/>
              </a:defRPr>
            </a:pPr>
            <a:r>
              <a:rPr sz="2025" b="0">
                <a:solidFill>
                  <a:srgbClr val="FFFFFF"/>
                </a:solidFill>
                <a:latin typeface="Segoe UI"/>
                <a:ea typeface="Segoe UI"/>
                <a:cs typeface="Segoe UI"/>
              </a:rPr>
              <a:t>Pitch and demonstration materials</a:t>
            </a:r>
          </a:p>
        </p:txBody>
      </p:sp>
      <p:sp>
        <p:nvSpPr>
          <p:cNvPr id="8" name="RecallScope">
            <a:extLst xmlns:a="http://schemas.openxmlformats.org/drawingml/2006/main">
              <a:ext uri="{FF2B5EF4-FFF2-40B4-BE49-F238E27FC236}">
                <a16:creationId xmlns:a16="http://schemas.microsoft.com/office/drawing/2014/main" id="{4C442865-5D04-4EFE-BF12-90910B7CA422}"/>
              </a:ext>
            </a:extLst>
          </p:cNvPr>
          <p:cNvSpPr>
            <a:spLocks xmlns:a="http://schemas.openxmlformats.org/drawingml/2006/main" noGrp="1"/>
          </p:cNvSpPr>
          <p:nvPr/>
        </p:nvSpPr>
        <p:spPr>
          <a:xfrm xmlns:a="http://schemas.openxmlformats.org/drawingml/2006/main">
            <a:off x="619125" y="5057775"/>
            <a:ext cx="107632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92D0B4"/>
                </a:solidFill>
                <a:latin typeface="Segoe UI"/>
                <a:ea typeface="Segoe UI"/>
                <a:cs typeface="Segoe UI"/>
              </a:defRPr>
            </a:defPPr>
          </a:lstStyle>
          <a:p xmlns:a="http://schemas.openxmlformats.org/drawingml/2006/main">
            <a:pPr algn="l">
              <a:defRPr sz="4050" b="1">
                <a:solidFill>
                  <a:srgbClr val="92D0B4"/>
                </a:solidFill>
                <a:latin typeface="Segoe UI"/>
                <a:ea typeface="Segoe UI"/>
                <a:cs typeface="Segoe UI"/>
              </a:defRPr>
            </a:pPr>
            <a:r>
              <a:rPr sz="4050" b="1">
                <a:solidFill>
                  <a:srgbClr val="92D0B4"/>
                </a:solidFill>
                <a:latin typeface="Segoe UI"/>
                <a:ea typeface="Segoe UI"/>
                <a:cs typeface="Segoe UI"/>
              </a:rPr>
              <a:t>RecallScope</a:t>
            </a:r>
          </a:p>
        </p:txBody>
      </p:sp>
      <p:sp>
        <p:nvSpPr>
          <p:cNvPr id="9" name="recallscope.console3096.chatgpt.site">
            <a:extLst xmlns:a="http://schemas.openxmlformats.org/drawingml/2006/main">
              <a:ext uri="{FF2B5EF4-FFF2-40B4-BE49-F238E27FC236}">
                <a16:creationId xmlns:a16="http://schemas.microsoft.com/office/drawing/2014/main" id="{EFE76D66-F2F7-4131-BB52-EBF74D21A931}"/>
              </a:ext>
            </a:extLst>
          </p:cNvPr>
          <p:cNvSpPr>
            <a:spLocks xmlns:a="http://schemas.openxmlformats.org/drawingml/2006/main" noGrp="1"/>
          </p:cNvSpPr>
          <p:nvPr/>
        </p:nvSpPr>
        <p:spPr>
          <a:xfrm xmlns:a="http://schemas.openxmlformats.org/drawingml/2006/main">
            <a:off x="628650" y="5857875"/>
            <a:ext cx="108680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FFFFF"/>
                </a:solidFill>
                <a:latin typeface="Segoe UI"/>
                <a:ea typeface="Segoe UI"/>
                <a:cs typeface="Segoe UI"/>
              </a:defRPr>
            </a:defPPr>
          </a:lstStyle>
          <a:p xmlns:a="http://schemas.openxmlformats.org/drawingml/2006/main">
            <a:pPr algn="l">
              <a:defRPr sz="2325" b="0">
                <a:solidFill>
                  <a:srgbClr val="FFFFFF"/>
                </a:solidFill>
                <a:latin typeface="Segoe UI"/>
                <a:ea typeface="Segoe UI"/>
                <a:cs typeface="Segoe UI"/>
              </a:defRPr>
            </a:pPr>
            <a:r>
              <a:rPr sz="2325" b="0">
                <a:solidFill>
                  <a:srgbClr val="FFFFFF"/>
                </a:solidFill>
                <a:latin typeface="Segoe UI"/>
                <a:ea typeface="Segoe UI"/>
                <a:cs typeface="Segoe UI"/>
              </a:rPr>
              <a:t>recallscope.console3096.chatgpt.site</a:t>
            </a:r>
          </a:p>
        </p:txBody>
      </p:sp>
    </p:spTree>
    <p:extLst>
      <p:ext uri="{BB962C8B-B14F-4D97-AF65-F5344CB8AC3E}">
        <p14:creationId xmlns:p14="http://schemas.microsoft.com/office/powerpoint/2010/main" val="10388680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2026-10-04T07:08:10.4190000Z</dcterms:created>
  <dcterms:modified xsi:type="dcterms:W3CDTF">2026-10-04T07:08:10.4200000Z</dcterms:modified>
</coreProperties>
</file>
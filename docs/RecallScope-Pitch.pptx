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7121cd4d2774030" /><Relationship Type="http://schemas.openxmlformats.org/officeDocument/2006/relationships/extended-properties" Target="/docProps/app.xml" Id="R6449e3a78620440b" /><Relationship Type="http://schemas.openxmlformats.org/officeDocument/2006/relationships/officeDocument" Target="/ppt/presentation.xml" Id="R562b5e0de64d425b" /></Relationships>
</file>

<file path=ppt/presentation.xml><?xml version="1.0" encoding="utf-8"?>
<p:presentation xmlns:p="http://schemas.openxmlformats.org/presentationml/2006/main">
  <p:sldMasterIdLst>
    <p:sldMasterId xmlns:r="http://schemas.openxmlformats.org/officeDocument/2006/relationships" id="2147483648" r:id="R15759166712a47d7"/>
  </p:sldMasterIdLst>
  <p:notesMasterIdLst>
    <p:notesMasterId xmlns:r="http://schemas.openxmlformats.org/officeDocument/2006/relationships" r:id="R305cb4f172e84a44"/>
  </p:notesMasterIdLst>
  <p:sldIdLst>
    <p:sldId xmlns:r="http://schemas.openxmlformats.org/officeDocument/2006/relationships" id="256" r:id="R52f05f7b37584ff9"/>
    <p:sldId xmlns:r="http://schemas.openxmlformats.org/officeDocument/2006/relationships" id="257" r:id="Re1f7a7bacb9945ec"/>
    <p:sldId xmlns:r="http://schemas.openxmlformats.org/officeDocument/2006/relationships" id="258" r:id="Rdb3c194d0fc9404a"/>
    <p:sldId xmlns:r="http://schemas.openxmlformats.org/officeDocument/2006/relationships" id="259" r:id="Rafbfc58586404d00"/>
    <p:sldId xmlns:r="http://schemas.openxmlformats.org/officeDocument/2006/relationships" id="260" r:id="R5921bb8b0aab48e1"/>
    <p:sldId xmlns:r="http://schemas.openxmlformats.org/officeDocument/2006/relationships" id="261" r:id="R8bd6d7cd5a264602"/>
    <p:sldId xmlns:r="http://schemas.openxmlformats.org/officeDocument/2006/relationships" id="262" r:id="R91b3f8c4d9e84900"/>
    <p:sldId xmlns:r="http://schemas.openxmlformats.org/officeDocument/2006/relationships" id="263" r:id="Rc7fa8375cb4a476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1e2ff529f924284" /><Relationship Type="http://schemas.openxmlformats.org/officeDocument/2006/relationships/slideMaster" Target="/ppt/slideMasters/slideMaster1.xml" Id="R15759166712a47d7" /><Relationship Type="http://schemas.openxmlformats.org/officeDocument/2006/relationships/notesMaster" Target="/ppt/notesMasters/notesMaster1.xml" Id="R305cb4f172e84a44" /><Relationship Type="http://schemas.openxmlformats.org/officeDocument/2006/relationships/presProps" Target="/ppt/presProps.xml" Id="R1cf30d5601ab45e2" /><Relationship Type="http://schemas.openxmlformats.org/officeDocument/2006/relationships/tableStyles" Target="/ppt/tableStyles.xml" Id="R9f59a63ae2814010" /><Relationship Type="http://schemas.openxmlformats.org/officeDocument/2006/relationships/slide" Target="/ppt/slides/slide1.xml" Id="R52f05f7b37584ff9" /><Relationship Type="http://schemas.openxmlformats.org/officeDocument/2006/relationships/slide" Target="/ppt/slides/slide2.xml" Id="Re1f7a7bacb9945ec" /><Relationship Type="http://schemas.openxmlformats.org/officeDocument/2006/relationships/slide" Target="/ppt/slides/slide3.xml" Id="Rdb3c194d0fc9404a" /><Relationship Type="http://schemas.openxmlformats.org/officeDocument/2006/relationships/slide" Target="/ppt/slides/slide4.xml" Id="Rafbfc58586404d00" /><Relationship Type="http://schemas.openxmlformats.org/officeDocument/2006/relationships/slide" Target="/ppt/slides/slide5.xml" Id="R5921bb8b0aab48e1" /><Relationship Type="http://schemas.openxmlformats.org/officeDocument/2006/relationships/slide" Target="/ppt/slides/slide6.xml" Id="R8bd6d7cd5a264602" /><Relationship Type="http://schemas.openxmlformats.org/officeDocument/2006/relationships/slide" Target="/ppt/slides/slide7.xml" Id="R91b3f8c4d9e84900" /><Relationship Type="http://schemas.openxmlformats.org/officeDocument/2006/relationships/slide" Target="/ppt/slides/slide8.xml" Id="Rc7fa8375cb4a47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90f82bcab1b40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66cffe600fe4cad" /><Relationship Type="http://schemas.openxmlformats.org/officeDocument/2006/relationships/notesMaster" Target="/ppt/notesMasters/notesMaster1.xml" Id="R48b3e50d86eb41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8f8ebc91e945f1" /><Relationship Type="http://schemas.openxmlformats.org/officeDocument/2006/relationships/notesMaster" Target="/ppt/notesMasters/notesMaster1.xml" Id="Rb1dd5f26499f42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10845ab952114f82" /><Relationship Type="http://schemas.openxmlformats.org/officeDocument/2006/relationships/notesMaster" Target="/ppt/notesMasters/notesMaster1.xml" Id="R2abfe8ad6bb5476e" /></Relationships>
</file>

<file path=ppt/notesSlides/_rels/notesSlide4.xml.rels>&#65279;<?xml version="1.0" encoding="utf-8"?><Relationships xmlns="http://schemas.openxmlformats.org/package/2006/relationships"><Relationship Type="http://schemas.openxmlformats.org/officeDocument/2006/relationships/slide" Target="/ppt/slides/slide4.xml" Id="R99a93b58c22e4854" /><Relationship Type="http://schemas.openxmlformats.org/officeDocument/2006/relationships/notesMaster" Target="/ppt/notesMasters/notesMaster1.xml" Id="R7aa38adb1d4046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464294a85c2f42e1" /><Relationship Type="http://schemas.openxmlformats.org/officeDocument/2006/relationships/notesMaster" Target="/ppt/notesMasters/notesMaster1.xml" Id="R42b9eb2dcfeb4e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d93a52ce88e4451e" /><Relationship Type="http://schemas.openxmlformats.org/officeDocument/2006/relationships/notesMaster" Target="/ppt/notesMasters/notesMaster1.xml" Id="Rb99f5a4eddb94c9a" /></Relationships>
</file>

<file path=ppt/notesSlides/_rels/notesSlide7.xml.rels>&#65279;<?xml version="1.0" encoding="utf-8"?><Relationships xmlns="http://schemas.openxmlformats.org/package/2006/relationships"><Relationship Type="http://schemas.openxmlformats.org/officeDocument/2006/relationships/slide" Target="/ppt/slides/slide7.xml" Id="Ra7eca8ee1a9c4bf4" /><Relationship Type="http://schemas.openxmlformats.org/officeDocument/2006/relationships/notesMaster" Target="/ppt/notesMasters/notesMaster1.xml" Id="R667fa5d1a06a4f46" /></Relationships>
</file>

<file path=ppt/notesSlides/_rels/notesSlide8.xml.rels>&#65279;<?xml version="1.0" encoding="utf-8"?><Relationships xmlns="http://schemas.openxmlformats.org/package/2006/relationships"><Relationship Type="http://schemas.openxmlformats.org/officeDocument/2006/relationships/slide" Target="/ppt/slides/slide8.xml" Id="R17530d29ee864e9c" /><Relationship Type="http://schemas.openxmlformats.org/officeDocument/2006/relationships/notesMaster" Target="/ppt/notesMasters/notesMaster1.xml" Id="Rafae45111173448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Console. Track: AI in any startup. A prototype for evidence-based recall drills. The demonstrated records are synthetic. Event: https://hackindia.org/2026/ai-first-startup-hackathon-build-a-startup-using-ai-only . Team repository destination: https://github.com/HackIndiaXYZ/ai-first-startup-hackathon-build-a-startup-using-ai-only-console . This deck does not claim organizer approval or eligibility.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target and buying role are hypotheses, with no completed customer-research results. FDA describes food traceability as linking production, processing and distribution in both directions: https://www.fda.gov/food/new-era-smarter-food-safety/tracking-and-tracing-food . FSSAI published recall procedure describes distribution records including suppliers, customers, dates, lots and batches: https://fssai.gov.in/upload/uploadfiles/files/Chapter9.pdf . These sources establish the operational context, not demand for RecallScope or regulatory compliance.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workflow stores uploaded source files, proposes extracted records for operator review, and calculates trace results from accepted relationships. Fireworks text and single-page PDF extraction checks have passed on labelled synthetic fixtures. The PDF path rasterizes pages before sending the resulting images to the configured model. Original PDFs, AI page images, provider/model identity and SHA-256 hashes remain available as provenance. The pre-authored demonstration on slide 4 is separate from the live fixture result shown on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verified synthetic demo totals supplied by the RecallScope implementation lead on 12 September 2026. Initial affected scope: 2 batches, 720 delivered packs, 2 customers. After review: 3 batches, 1,080 delivered packs, 3 customers. Packs with unresolved linkage decrease from 720 to 360 because another production sheet remains missing. These are fixture results, not real manufacturer data or customer outcomes. No measured time-saving claim accompanies these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Verified facts supplied by the RecallScope implementation lead: Fireworks API authentication succeeded. A real text extraction returned three correct records, including 180 delivered packs. A real single-page PDF was rasterized into a page image and sent to Fireworks model accounts/fireworks/models/kimi-k2p6. It returned three correct records. The operator reviewed and approved the import, producing 180 confirmed packs and zero unresolved packs. The application retained the original PDF, AI page images, provider/model identity and SHA-256 hashes. These are observed results on small labelled synthetic fixtures, not a general accuracy estimate, speed claim or real manufacturer validation. The OpenAI option remains available, but live OpenAI extraction is untested. Deterministic code computes trace totals from reviewed relationships. The operator remains responsible for evidence review and resolving unknown links.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₹3,000–10,000 per site per month range is an unvalidated pricing hypothesis supplied for this pitch. There are no claimed paying customers, interviews, pilots, revenue, purchase commitments or customer-validated savings. The proposed entry point is a guided recall drill with a small manufacturer, followed by evaluating whether recurring drills warrant a subscription.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validation plan, not completed research. Use permissioned and appropriately handled manufacturer records. Establish a human-reviewed expected trace before comparing outputs. Measure completion time without promising any reduction. FDA June 2026 tabletop exercise update says proactive supply-chain coordination drove the strongest results more than any particular technology: https://www.fda.gov/food/hfp-constituent-updates/fda-releases-report-traceability-readiness-tabletop-exercises-and-updated-faqs . This supports explicitly examining information gaps and handoffs rather than claiming that software alone resolves traceability. Live Fireworks extraction checks have passed on small synthetic text and PDF fixtures. That result does not replace the proposed manufacturer pilot. Public deployment and the final demo video remain pending. The source release belongs to the official Team Console repository: https://github.com/HackIndiaXYZ/ai-first-startup-hackathon-build-a-startup-using-ai-only-console . No exact automated-test count is asserted in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an introduction to one small food manufacturer willing to participate in a permissioned, supervised recall-drill pilot. Team Console. Track: AI in any startup. Contact through the project team. Do not present this request as an agreed partnership. Competition source: https://hackindia.org/2026/ai-first-startup-hackathon-build-a-startup-using-ai-only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9f9e480efbc4e1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3d871bbc5074cf6" /><Relationship Type="http://schemas.openxmlformats.org/officeDocument/2006/relationships/slideLayout" Target="/ppt/slideLayouts/slideLayout1.xml" Id="R6f0d58c904774fd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f0d58c904774fd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a04440604dd41ce" /><Relationship Type="http://schemas.openxmlformats.org/officeDocument/2006/relationships/notesSlide" Target="/ppt/notesSlides/notesSlide1.xml" Id="Ra74ba6ea224f483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1e60de177b94c19" /><Relationship Type="http://schemas.openxmlformats.org/officeDocument/2006/relationships/notesSlide" Target="/ppt/notesSlides/notesSlide2.xml" Id="Rcb737b9d9190492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3fc1aa5ee224f70" /><Relationship Type="http://schemas.openxmlformats.org/officeDocument/2006/relationships/notesSlide" Target="/ppt/notesSlides/notesSlide3.xml" Id="R26f528df43174bd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f6eda2064c14b4d" /><Relationship Type="http://schemas.openxmlformats.org/officeDocument/2006/relationships/notesSlide" Target="/ppt/notesSlides/notesSlide4.xml" Id="Rd90ad044d9b14c0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3e85ccee65f45b8" /><Relationship Type="http://schemas.openxmlformats.org/officeDocument/2006/relationships/notesSlide" Target="/ppt/notesSlides/notesSlide5.xml" Id="Rc32c4d2ffcb245d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5556502b9c64e35" /><Relationship Type="http://schemas.openxmlformats.org/officeDocument/2006/relationships/notesSlide" Target="/ppt/notesSlides/notesSlide6.xml" Id="R9bbf8e0ec9ef4d8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7a0282921e740be" /><Relationship Type="http://schemas.openxmlformats.org/officeDocument/2006/relationships/notesSlide" Target="/ppt/notesSlides/notesSlide7.xml" Id="Re236b70c54214d7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d067e5bbdd5455b" /><Relationship Type="http://schemas.openxmlformats.org/officeDocument/2006/relationships/notesSlide" Target="/ppt/notesSlides/notesSlide8.xml" Id="Rdd373560bf5b4b9d" /></Relationships>
</file>

<file path=ppt/slides/slide1.xml><?xml version="1.0" encoding="utf-8"?>
<p:sld xmlns:p="http://schemas.openxmlformats.org/presentationml/2006/main">
  <p:cSld>
    <p:bg>
      <p:bgPr>
        <a:solidFill xmlns:a="http://schemas.openxmlformats.org/drawingml/2006/main">
          <a:srgbClr val="0C2834"/>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DACAE5D1-5511-43B5-A707-5D9E8ADEDCAE}"/>
              </a:ext>
            </a:extLst>
          </p:cNvPr>
          <p:cNvSpPr>
            <a:spLocks xmlns:a="http://schemas.openxmlformats.org/drawingml/2006/main" noGrp="1"/>
          </p:cNvSpPr>
          <p:nvPr/>
        </p:nvSpPr>
        <p:spPr>
          <a:xfrm xmlns:a="http://schemas.openxmlformats.org/drawingml/2006/main">
            <a:off x="685800" y="1600200"/>
            <a:ext cx="108204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6900" b="1">
                <a:solidFill>
                  <a:srgbClr val="FFFFFF"/>
                </a:solidFill>
                <a:latin typeface="Arial"/>
                <a:ea typeface="Arial"/>
                <a:cs typeface="Arial"/>
              </a:defRPr>
            </a:pPr>
            <a:r>
              <a:rPr sz="6900" b="1">
                <a:solidFill>
                  <a:srgbClr val="FFFFFF"/>
                </a:solidFill>
                <a:latin typeface="Arial"/>
                <a:ea typeface="Arial"/>
                <a:cs typeface="Arial"/>
              </a:rPr>
              <a:t>RecallScope</a:t>
            </a:r>
          </a:p>
        </p:txBody>
      </p:sp>
      <p:sp>
        <p:nvSpPr>
          <p:cNvPr id="2" name="text-1">
            <a:extLst xmlns:a="http://schemas.openxmlformats.org/drawingml/2006/main">
              <a:ext uri="{FF2B5EF4-FFF2-40B4-BE49-F238E27FC236}">
                <a16:creationId xmlns:a16="http://schemas.microsoft.com/office/drawing/2014/main" id="{A53AACA4-1E3D-41A9-9BCB-BDC8ED71C168}"/>
              </a:ext>
            </a:extLst>
          </p:cNvPr>
          <p:cNvSpPr>
            <a:spLocks xmlns:a="http://schemas.openxmlformats.org/drawingml/2006/main" noGrp="1"/>
          </p:cNvSpPr>
          <p:nvPr/>
        </p:nvSpPr>
        <p:spPr>
          <a:xfrm xmlns:a="http://schemas.openxmlformats.org/drawingml/2006/main">
            <a:off x="723900" y="3105150"/>
            <a:ext cx="10439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450" b="0">
                <a:solidFill>
                  <a:srgbClr val="9CDED0"/>
                </a:solidFill>
                <a:latin typeface="Arial"/>
                <a:ea typeface="Arial"/>
                <a:cs typeface="Arial"/>
              </a:defRPr>
            </a:pPr>
            <a:r>
              <a:rPr sz="3450" b="0">
                <a:solidFill>
                  <a:srgbClr val="9CDED0"/>
                </a:solidFill>
                <a:latin typeface="Arial"/>
                <a:ea typeface="Arial"/>
                <a:cs typeface="Arial"/>
              </a:rPr>
              <a:t>Recall drills with evidence</a:t>
            </a:r>
          </a:p>
        </p:txBody>
      </p:sp>
      <p:sp>
        <p:nvSpPr>
          <p:cNvPr id="3" name="text-2">
            <a:extLst xmlns:a="http://schemas.openxmlformats.org/drawingml/2006/main">
              <a:ext uri="{FF2B5EF4-FFF2-40B4-BE49-F238E27FC236}">
                <a16:creationId xmlns:a16="http://schemas.microsoft.com/office/drawing/2014/main" id="{6A622FA5-DD0B-4D92-8257-C7F476B18059}"/>
              </a:ext>
            </a:extLst>
          </p:cNvPr>
          <p:cNvSpPr>
            <a:spLocks xmlns:a="http://schemas.openxmlformats.org/drawingml/2006/main" noGrp="1"/>
          </p:cNvSpPr>
          <p:nvPr/>
        </p:nvSpPr>
        <p:spPr>
          <a:xfrm xmlns:a="http://schemas.openxmlformats.org/drawingml/2006/main">
            <a:off x="733425" y="405765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250" b="0">
                <a:solidFill>
                  <a:srgbClr val="FFFFFF"/>
                </a:solidFill>
                <a:latin typeface="Arial"/>
                <a:ea typeface="Arial"/>
                <a:cs typeface="Arial"/>
              </a:defRPr>
            </a:pPr>
            <a:r>
              <a:rPr sz="2250" b="0">
                <a:solidFill>
                  <a:srgbClr val="FFFFFF"/>
                </a:solidFill>
                <a:latin typeface="Arial"/>
                <a:ea typeface="Arial"/>
                <a:cs typeface="Arial"/>
              </a:rPr>
              <a:t>For small food makers</a:t>
            </a:r>
          </a:p>
        </p:txBody>
      </p:sp>
      <p:sp>
        <p:nvSpPr>
          <p:cNvPr id="4" name="text-3">
            <a:extLst xmlns:a="http://schemas.openxmlformats.org/drawingml/2006/main">
              <a:ext uri="{FF2B5EF4-FFF2-40B4-BE49-F238E27FC236}">
                <a16:creationId xmlns:a16="http://schemas.microsoft.com/office/drawing/2014/main" id="{205DDD21-67B2-46CF-8B1E-5C731C98E003}"/>
              </a:ext>
            </a:extLst>
          </p:cNvPr>
          <p:cNvSpPr>
            <a:spLocks xmlns:a="http://schemas.openxmlformats.org/drawingml/2006/main" noGrp="1"/>
          </p:cNvSpPr>
          <p:nvPr/>
        </p:nvSpPr>
        <p:spPr>
          <a:xfrm xmlns:a="http://schemas.openxmlformats.org/drawingml/2006/main">
            <a:off x="733425" y="5848350"/>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575" b="0">
                <a:solidFill>
                  <a:srgbClr val="9CDED0"/>
                </a:solidFill>
                <a:latin typeface="Arial"/>
                <a:ea typeface="Arial"/>
                <a:cs typeface="Arial"/>
              </a:defRPr>
            </a:pPr>
            <a:r>
              <a:rPr sz="1575" b="0">
                <a:solidFill>
                  <a:srgbClr val="9CDED0"/>
                </a:solidFill>
                <a:latin typeface="Arial"/>
                <a:ea typeface="Arial"/>
                <a:cs typeface="Arial"/>
              </a:rPr>
              <a:t>Team Console</a:t>
            </a:r>
          </a:p>
        </p:txBody>
      </p:sp>
      <p:sp>
        <p:nvSpPr>
          <p:cNvPr id="5" name="text-4">
            <a:extLst xmlns:a="http://schemas.openxmlformats.org/drawingml/2006/main">
              <a:ext uri="{FF2B5EF4-FFF2-40B4-BE49-F238E27FC236}">
                <a16:creationId xmlns:a16="http://schemas.microsoft.com/office/drawing/2014/main" id="{820E418A-63EB-4778-AFED-71CAB5EF03CF}"/>
              </a:ext>
            </a:extLst>
          </p:cNvPr>
          <p:cNvSpPr>
            <a:spLocks xmlns:a="http://schemas.openxmlformats.org/drawingml/2006/main" noGrp="1"/>
          </p:cNvSpPr>
          <p:nvPr/>
        </p:nvSpPr>
        <p:spPr>
          <a:xfrm xmlns:a="http://schemas.openxmlformats.org/drawingml/2006/main">
            <a:off x="6429375" y="5848350"/>
            <a:ext cx="5038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575" b="0">
                <a:solidFill>
                  <a:srgbClr val="9CDED0"/>
                </a:solidFill>
                <a:latin typeface="Arial"/>
                <a:ea typeface="Arial"/>
                <a:cs typeface="Arial"/>
              </a:defRPr>
            </a:pPr>
            <a:r>
              <a:rPr sz="1575" b="0">
                <a:solidFill>
                  <a:srgbClr val="9CDED0"/>
                </a:solidFill>
                <a:latin typeface="Arial"/>
                <a:ea typeface="Arial"/>
                <a:cs typeface="Arial"/>
              </a:rPr>
              <a:t>Track: AI in any startup</a:t>
            </a:r>
          </a:p>
        </p:txBody>
      </p:sp>
    </p:spTree>
    <p:extLst>
      <p:ext uri="{BB962C8B-B14F-4D97-AF65-F5344CB8AC3E}">
        <p14:creationId xmlns:p14="http://schemas.microsoft.com/office/powerpoint/2010/main" val="71270475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5">
            <a:extLst xmlns:a="http://schemas.openxmlformats.org/drawingml/2006/main">
              <a:ext uri="{FF2B5EF4-FFF2-40B4-BE49-F238E27FC236}">
                <a16:creationId xmlns:a16="http://schemas.microsoft.com/office/drawing/2014/main" id="{1852209E-C518-4E31-9669-7AC699527B1E}"/>
              </a:ext>
            </a:extLst>
          </p:cNvPr>
          <p:cNvSpPr>
            <a:spLocks xmlns:a="http://schemas.openxmlformats.org/drawingml/2006/main" noGrp="1"/>
          </p:cNvSpPr>
          <p:nvPr/>
        </p:nvSpPr>
        <p:spPr>
          <a:xfrm xmlns:a="http://schemas.openxmlformats.org/drawingml/2006/main">
            <a:off x="685800" y="5334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600" b="1">
                <a:solidFill>
                  <a:srgbClr val="16323F"/>
                </a:solidFill>
                <a:latin typeface="Arial"/>
                <a:ea typeface="Arial"/>
                <a:cs typeface="Arial"/>
              </a:defRPr>
            </a:pPr>
            <a:r>
              <a:rPr sz="3600" b="1">
                <a:solidFill>
                  <a:srgbClr val="16323F"/>
                </a:solidFill>
                <a:latin typeface="Arial"/>
                <a:ea typeface="Arial"/>
                <a:cs typeface="Arial"/>
              </a:rPr>
              <a:t>The quality lead's question</a:t>
            </a:r>
          </a:p>
        </p:txBody>
      </p:sp>
      <p:sp>
        <p:nvSpPr>
          <p:cNvPr id="2" name="text-6">
            <a:extLst xmlns:a="http://schemas.openxmlformats.org/drawingml/2006/main">
              <a:ext uri="{FF2B5EF4-FFF2-40B4-BE49-F238E27FC236}">
                <a16:creationId xmlns:a16="http://schemas.microsoft.com/office/drawing/2014/main" id="{5261EB46-07FF-4663-999F-FA338691906A}"/>
              </a:ext>
            </a:extLst>
          </p:cNvPr>
          <p:cNvSpPr>
            <a:spLocks xmlns:a="http://schemas.openxmlformats.org/drawingml/2006/main" noGrp="1"/>
          </p:cNvSpPr>
          <p:nvPr/>
        </p:nvSpPr>
        <p:spPr>
          <a:xfrm xmlns:a="http://schemas.openxmlformats.org/drawingml/2006/main">
            <a:off x="685800" y="6381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75" b="0">
                <a:solidFill>
                  <a:srgbClr val="58717A"/>
                </a:solidFill>
                <a:latin typeface="Arial"/>
                <a:ea typeface="Arial"/>
                <a:cs typeface="Arial"/>
              </a:defRPr>
            </a:pPr>
            <a:r>
              <a:rPr sz="1275" b="0">
                <a:solidFill>
                  <a:srgbClr val="58717A"/>
                </a:solidFill>
                <a:latin typeface="Arial"/>
                <a:ea typeface="Arial"/>
                <a:cs typeface="Arial"/>
              </a:rPr>
              <a:t>RecallScope</a:t>
            </a:r>
          </a:p>
        </p:txBody>
      </p:sp>
      <p:sp>
        <p:nvSpPr>
          <p:cNvPr id="3" name="text-7">
            <a:extLst xmlns:a="http://schemas.openxmlformats.org/drawingml/2006/main">
              <a:ext uri="{FF2B5EF4-FFF2-40B4-BE49-F238E27FC236}">
                <a16:creationId xmlns:a16="http://schemas.microsoft.com/office/drawing/2014/main" id="{B7EA3325-F9A0-432E-B4B2-3771EBFF642B}"/>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275" b="0">
                <a:solidFill>
                  <a:srgbClr val="58717A"/>
                </a:solidFill>
                <a:latin typeface="Arial"/>
                <a:ea typeface="Arial"/>
                <a:cs typeface="Arial"/>
              </a:defRPr>
            </a:pPr>
            <a:r>
              <a:rPr sz="1275" b="0">
                <a:solidFill>
                  <a:srgbClr val="58717A"/>
                </a:solidFill>
                <a:latin typeface="Arial"/>
                <a:ea typeface="Arial"/>
                <a:cs typeface="Arial"/>
              </a:rPr>
              <a:t>02</a:t>
            </a:r>
          </a:p>
        </p:txBody>
      </p:sp>
      <p:sp>
        <p:nvSpPr>
          <p:cNvPr id="4" name="text-8">
            <a:extLst xmlns:a="http://schemas.openxmlformats.org/drawingml/2006/main">
              <a:ext uri="{FF2B5EF4-FFF2-40B4-BE49-F238E27FC236}">
                <a16:creationId xmlns:a16="http://schemas.microsoft.com/office/drawing/2014/main" id="{B51CA4F0-50EB-40CE-873E-88952755A8C1}"/>
              </a:ext>
            </a:extLst>
          </p:cNvPr>
          <p:cNvSpPr>
            <a:spLocks xmlns:a="http://schemas.openxmlformats.org/drawingml/2006/main" noGrp="1"/>
          </p:cNvSpPr>
          <p:nvPr/>
        </p:nvSpPr>
        <p:spPr>
          <a:xfrm xmlns:a="http://schemas.openxmlformats.org/drawingml/2006/main">
            <a:off x="685800" y="1943100"/>
            <a:ext cx="952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75" b="0">
                <a:solidFill>
                  <a:srgbClr val="58717A"/>
                </a:solidFill>
                <a:latin typeface="Arial"/>
                <a:ea typeface="Arial"/>
                <a:cs typeface="Arial"/>
              </a:defRPr>
            </a:pPr>
            <a:r>
              <a:rPr sz="2175" b="0">
                <a:solidFill>
                  <a:srgbClr val="58717A"/>
                </a:solidFill>
                <a:latin typeface="Arial"/>
                <a:ea typeface="Arial"/>
                <a:cs typeface="Arial"/>
              </a:rPr>
              <a:t>A supplier flags one ingredient lot.</a:t>
            </a:r>
          </a:p>
        </p:txBody>
      </p:sp>
      <p:sp>
        <p:nvSpPr>
          <p:cNvPr id="5" name="text-9">
            <a:extLst xmlns:a="http://schemas.openxmlformats.org/drawingml/2006/main">
              <a:ext uri="{FF2B5EF4-FFF2-40B4-BE49-F238E27FC236}">
                <a16:creationId xmlns:a16="http://schemas.microsoft.com/office/drawing/2014/main" id="{9086C8AE-9800-4DAE-8EFA-05E448F0785F}"/>
              </a:ext>
            </a:extLst>
          </p:cNvPr>
          <p:cNvSpPr>
            <a:spLocks xmlns:a="http://schemas.openxmlformats.org/drawingml/2006/main" noGrp="1"/>
          </p:cNvSpPr>
          <p:nvPr/>
        </p:nvSpPr>
        <p:spPr>
          <a:xfrm xmlns:a="http://schemas.openxmlformats.org/drawingml/2006/main">
            <a:off x="685800" y="2609850"/>
            <a:ext cx="10620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4050" b="1">
                <a:solidFill>
                  <a:srgbClr val="006D6D"/>
                </a:solidFill>
                <a:latin typeface="Arial"/>
                <a:ea typeface="Arial"/>
                <a:cs typeface="Arial"/>
              </a:defRPr>
            </a:pPr>
            <a:r>
              <a:rPr sz="4050" b="1">
                <a:solidFill>
                  <a:srgbClr val="006D6D"/>
                </a:solidFill>
                <a:latin typeface="Arial"/>
                <a:ea typeface="Arial"/>
                <a:cs typeface="Arial"/>
              </a:rPr>
              <a:t>Which deliveries are affected?</a:t>
            </a:r>
          </a:p>
        </p:txBody>
      </p:sp>
      <p:sp>
        <p:nvSpPr>
          <p:cNvPr id="6" name="text-10">
            <a:extLst xmlns:a="http://schemas.openxmlformats.org/drawingml/2006/main">
              <a:ext uri="{FF2B5EF4-FFF2-40B4-BE49-F238E27FC236}">
                <a16:creationId xmlns:a16="http://schemas.microsoft.com/office/drawing/2014/main" id="{69971635-C510-4B79-94F3-9F44F3CAAB51}"/>
              </a:ext>
            </a:extLst>
          </p:cNvPr>
          <p:cNvSpPr>
            <a:spLocks xmlns:a="http://schemas.openxmlformats.org/drawingml/2006/main" noGrp="1"/>
          </p:cNvSpPr>
          <p:nvPr/>
        </p:nvSpPr>
        <p:spPr>
          <a:xfrm xmlns:a="http://schemas.openxmlformats.org/drawingml/2006/main">
            <a:off x="685800" y="3619500"/>
            <a:ext cx="657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325" b="0">
                <a:solidFill>
                  <a:srgbClr val="16323F"/>
                </a:solidFill>
                <a:latin typeface="Arial"/>
                <a:ea typeface="Arial"/>
                <a:cs typeface="Arial"/>
              </a:defRPr>
            </a:pPr>
            <a:r>
              <a:rPr sz="2325" b="0">
                <a:solidFill>
                  <a:srgbClr val="16323F"/>
                </a:solidFill>
                <a:latin typeface="Arial"/>
                <a:ea typeface="Arial"/>
                <a:cs typeface="Arial"/>
              </a:rPr>
              <a:t>The answer must connect a supplier lot to production batches and customer deliveries.</a:t>
            </a:r>
          </a:p>
        </p:txBody>
      </p:sp>
      <p:sp>
        <p:nvSpPr>
          <p:cNvPr id="7" name="text-11">
            <a:extLst xmlns:a="http://schemas.openxmlformats.org/drawingml/2006/main">
              <a:ext uri="{FF2B5EF4-FFF2-40B4-BE49-F238E27FC236}">
                <a16:creationId xmlns:a16="http://schemas.microsoft.com/office/drawing/2014/main" id="{1721EA6A-004C-451E-9E09-7A09DB3EDC72}"/>
              </a:ext>
            </a:extLst>
          </p:cNvPr>
          <p:cNvSpPr>
            <a:spLocks xmlns:a="http://schemas.openxmlformats.org/drawingml/2006/main" noGrp="1"/>
          </p:cNvSpPr>
          <p:nvPr/>
        </p:nvSpPr>
        <p:spPr>
          <a:xfrm xmlns:a="http://schemas.openxmlformats.org/drawingml/2006/main">
            <a:off x="8267700" y="3714750"/>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16323F"/>
                </a:solidFill>
                <a:latin typeface="Arial"/>
                <a:ea typeface="Arial"/>
                <a:cs typeface="Arial"/>
              </a:defRPr>
            </a:pPr>
            <a:r>
              <a:rPr sz="2025" b="1">
                <a:solidFill>
                  <a:srgbClr val="16323F"/>
                </a:solidFill>
                <a:latin typeface="Arial"/>
                <a:ea typeface="Arial"/>
                <a:cs typeface="Arial"/>
              </a:rPr>
              <a:t>Source records</a:t>
            </a:r>
          </a:p>
        </p:txBody>
      </p:sp>
      <p:sp>
        <p:nvSpPr>
          <p:cNvPr id="8" name="text-12">
            <a:extLst xmlns:a="http://schemas.openxmlformats.org/drawingml/2006/main">
              <a:ext uri="{FF2B5EF4-FFF2-40B4-BE49-F238E27FC236}">
                <a16:creationId xmlns:a16="http://schemas.microsoft.com/office/drawing/2014/main" id="{F1BC9EE8-94C9-41C4-8559-18A16E442D63}"/>
              </a:ext>
            </a:extLst>
          </p:cNvPr>
          <p:cNvSpPr>
            <a:spLocks xmlns:a="http://schemas.openxmlformats.org/drawingml/2006/main" noGrp="1"/>
          </p:cNvSpPr>
          <p:nvPr/>
        </p:nvSpPr>
        <p:spPr>
          <a:xfrm xmlns:a="http://schemas.openxmlformats.org/drawingml/2006/main">
            <a:off x="8267700" y="4248150"/>
            <a:ext cx="32385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58717A"/>
                </a:solidFill>
                <a:latin typeface="Arial"/>
                <a:ea typeface="Arial"/>
                <a:cs typeface="Arial"/>
              </a:defRPr>
            </a:pPr>
            <a:r>
              <a:rPr sz="1950" b="0">
                <a:solidFill>
                  <a:srgbClr val="58717A"/>
                </a:solidFill>
                <a:latin typeface="Arial"/>
                <a:ea typeface="Arial"/>
                <a:cs typeface="Arial"/>
              </a:rPr>
              <a:t>Receiving logs</a:t>
            </a:r>
          </a:p>
          <a:p xmlns:a="http://schemas.openxmlformats.org/drawingml/2006/main">
            <a:pPr algn="l">
              <a:buNone/>
              <a:defRPr sz="1950" b="0">
                <a:solidFill>
                  <a:srgbClr val="58717A"/>
                </a:solidFill>
                <a:latin typeface="Arial"/>
                <a:ea typeface="Arial"/>
                <a:cs typeface="Arial"/>
              </a:defRPr>
            </a:pPr>
            <a:r>
              <a:rPr sz="1950" b="0">
                <a:solidFill>
                  <a:srgbClr val="58717A"/>
                </a:solidFill>
                <a:latin typeface="Arial"/>
                <a:ea typeface="Arial"/>
                <a:cs typeface="Arial"/>
              </a:rPr>
              <a:t>Production sheets</a:t>
            </a:r>
          </a:p>
          <a:p xmlns:a="http://schemas.openxmlformats.org/drawingml/2006/main">
            <a:pPr algn="l">
              <a:buNone/>
              <a:defRPr sz="1950" b="0">
                <a:solidFill>
                  <a:srgbClr val="58717A"/>
                </a:solidFill>
                <a:latin typeface="Arial"/>
                <a:ea typeface="Arial"/>
                <a:cs typeface="Arial"/>
              </a:defRPr>
            </a:pPr>
            <a:r>
              <a:rPr sz="1950" b="0">
                <a:solidFill>
                  <a:srgbClr val="58717A"/>
                </a:solidFill>
                <a:latin typeface="Arial"/>
                <a:ea typeface="Arial"/>
                <a:cs typeface="Arial"/>
              </a:rPr>
              <a:t>Dispatch records</a:t>
            </a:r>
          </a:p>
        </p:txBody>
      </p:sp>
      <p:sp>
        <p:nvSpPr>
          <p:cNvPr id="9" name="text-13">
            <a:extLst xmlns:a="http://schemas.openxmlformats.org/drawingml/2006/main">
              <a:ext uri="{FF2B5EF4-FFF2-40B4-BE49-F238E27FC236}">
                <a16:creationId xmlns:a16="http://schemas.microsoft.com/office/drawing/2014/main" id="{0197A588-AB62-4EE6-8986-65CF43341BAD}"/>
              </a:ext>
            </a:extLst>
          </p:cNvPr>
          <p:cNvSpPr>
            <a:spLocks xmlns:a="http://schemas.openxmlformats.org/drawingml/2006/main" noGrp="1"/>
          </p:cNvSpPr>
          <p:nvPr/>
        </p:nvSpPr>
        <p:spPr>
          <a:xfrm xmlns:a="http://schemas.openxmlformats.org/drawingml/2006/main">
            <a:off x="685800" y="5419725"/>
            <a:ext cx="67722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725" b="0">
                <a:solidFill>
                  <a:srgbClr val="58717A"/>
                </a:solidFill>
                <a:latin typeface="Arial"/>
                <a:ea typeface="Arial"/>
                <a:cs typeface="Arial"/>
              </a:defRPr>
            </a:pPr>
            <a:r>
              <a:rPr sz="1725" b="0">
                <a:solidFill>
                  <a:srgbClr val="58717A"/>
                </a:solidFill>
                <a:latin typeface="Arial"/>
                <a:ea typeface="Arial"/>
                <a:cs typeface="Arial"/>
              </a:rPr>
              <a:t>Target user: the quality or operations lead at a small food manufacturer.</a:t>
            </a:r>
          </a:p>
        </p:txBody>
      </p:sp>
    </p:spTree>
    <p:extLst>
      <p:ext uri="{BB962C8B-B14F-4D97-AF65-F5344CB8AC3E}">
        <p14:creationId xmlns:p14="http://schemas.microsoft.com/office/powerpoint/2010/main" val="153297332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ext-14">
            <a:extLst xmlns:a="http://schemas.openxmlformats.org/drawingml/2006/main">
              <a:ext uri="{FF2B5EF4-FFF2-40B4-BE49-F238E27FC236}">
                <a16:creationId xmlns:a16="http://schemas.microsoft.com/office/drawing/2014/main" id="{3666995B-A720-433C-B77A-7E63BF3158D3}"/>
              </a:ext>
            </a:extLst>
          </p:cNvPr>
          <p:cNvSpPr>
            <a:spLocks xmlns:a="http://schemas.openxmlformats.org/drawingml/2006/main" noGrp="1"/>
          </p:cNvSpPr>
          <p:nvPr/>
        </p:nvSpPr>
        <p:spPr>
          <a:xfrm xmlns:a="http://schemas.openxmlformats.org/drawingml/2006/main">
            <a:off x="685800" y="5334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600" b="1">
                <a:solidFill>
                  <a:srgbClr val="16323F"/>
                </a:solidFill>
                <a:latin typeface="Arial"/>
                <a:ea typeface="Arial"/>
                <a:cs typeface="Arial"/>
              </a:defRPr>
            </a:pPr>
            <a:r>
              <a:rPr sz="3600" b="1">
                <a:solidFill>
                  <a:srgbClr val="16323F"/>
                </a:solidFill>
                <a:latin typeface="Arial"/>
                <a:ea typeface="Arial"/>
                <a:cs typeface="Arial"/>
              </a:rPr>
              <a:t>A drill built around source records</a:t>
            </a:r>
          </a:p>
        </p:txBody>
      </p:sp>
      <p:sp>
        <p:nvSpPr>
          <p:cNvPr id="2" name="text-15">
            <a:extLst xmlns:a="http://schemas.openxmlformats.org/drawingml/2006/main">
              <a:ext uri="{FF2B5EF4-FFF2-40B4-BE49-F238E27FC236}">
                <a16:creationId xmlns:a16="http://schemas.microsoft.com/office/drawing/2014/main" id="{7B56DDAD-A86F-4C04-A0A3-F6B8DE2F7941}"/>
              </a:ext>
            </a:extLst>
          </p:cNvPr>
          <p:cNvSpPr>
            <a:spLocks xmlns:a="http://schemas.openxmlformats.org/drawingml/2006/main" noGrp="1"/>
          </p:cNvSpPr>
          <p:nvPr/>
        </p:nvSpPr>
        <p:spPr>
          <a:xfrm xmlns:a="http://schemas.openxmlformats.org/drawingml/2006/main">
            <a:off x="685800" y="1362075"/>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0">
                <a:solidFill>
                  <a:srgbClr val="58717A"/>
                </a:solidFill>
                <a:latin typeface="Arial"/>
                <a:ea typeface="Arial"/>
                <a:cs typeface="Arial"/>
              </a:defRPr>
            </a:pPr>
            <a:r>
              <a:rPr sz="1875" b="0">
                <a:solidFill>
                  <a:srgbClr val="58717A"/>
                </a:solidFill>
                <a:latin typeface="Arial"/>
                <a:ea typeface="Arial"/>
                <a:cs typeface="Arial"/>
              </a:rPr>
              <a:t>One flow from uploaded records to a reviewable report</a:t>
            </a:r>
          </a:p>
        </p:txBody>
      </p:sp>
      <p:sp>
        <p:nvSpPr>
          <p:cNvPr id="3" name="text-16">
            <a:extLst xmlns:a="http://schemas.openxmlformats.org/drawingml/2006/main">
              <a:ext uri="{FF2B5EF4-FFF2-40B4-BE49-F238E27FC236}">
                <a16:creationId xmlns:a16="http://schemas.microsoft.com/office/drawing/2014/main" id="{C31083D4-D62F-48D9-9987-6C37CAE64A00}"/>
              </a:ext>
            </a:extLst>
          </p:cNvPr>
          <p:cNvSpPr>
            <a:spLocks xmlns:a="http://schemas.openxmlformats.org/drawingml/2006/main" noGrp="1"/>
          </p:cNvSpPr>
          <p:nvPr/>
        </p:nvSpPr>
        <p:spPr>
          <a:xfrm xmlns:a="http://schemas.openxmlformats.org/drawingml/2006/main">
            <a:off x="685800" y="6381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75" b="0">
                <a:solidFill>
                  <a:srgbClr val="58717A"/>
                </a:solidFill>
                <a:latin typeface="Arial"/>
                <a:ea typeface="Arial"/>
                <a:cs typeface="Arial"/>
              </a:defRPr>
            </a:pPr>
            <a:r>
              <a:rPr sz="1275" b="0">
                <a:solidFill>
                  <a:srgbClr val="58717A"/>
                </a:solidFill>
                <a:latin typeface="Arial"/>
                <a:ea typeface="Arial"/>
                <a:cs typeface="Arial"/>
              </a:rPr>
              <a:t>RecallScope</a:t>
            </a:r>
          </a:p>
        </p:txBody>
      </p:sp>
      <p:sp>
        <p:nvSpPr>
          <p:cNvPr id="4" name="text-17">
            <a:extLst xmlns:a="http://schemas.openxmlformats.org/drawingml/2006/main">
              <a:ext uri="{FF2B5EF4-FFF2-40B4-BE49-F238E27FC236}">
                <a16:creationId xmlns:a16="http://schemas.microsoft.com/office/drawing/2014/main" id="{3C0FA6B4-055C-4AEF-8449-7080ABF56989}"/>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275" b="0">
                <a:solidFill>
                  <a:srgbClr val="58717A"/>
                </a:solidFill>
                <a:latin typeface="Arial"/>
                <a:ea typeface="Arial"/>
                <a:cs typeface="Arial"/>
              </a:defRPr>
            </a:pPr>
            <a:r>
              <a:rPr sz="1275" b="0">
                <a:solidFill>
                  <a:srgbClr val="58717A"/>
                </a:solidFill>
                <a:latin typeface="Arial"/>
                <a:ea typeface="Arial"/>
                <a:cs typeface="Arial"/>
              </a:rPr>
              <a:t>03</a:t>
            </a:r>
          </a:p>
        </p:txBody>
      </p:sp>
      <p:sp>
        <p:nvSpPr>
          <p:cNvPr id="5" name="text-18">
            <a:extLst xmlns:a="http://schemas.openxmlformats.org/drawingml/2006/main">
              <a:ext uri="{FF2B5EF4-FFF2-40B4-BE49-F238E27FC236}">
                <a16:creationId xmlns:a16="http://schemas.microsoft.com/office/drawing/2014/main" id="{03ABF5BE-DBCA-460E-ADE5-D67B49ED1A0E}"/>
              </a:ext>
            </a:extLst>
          </p:cNvPr>
          <p:cNvSpPr>
            <a:spLocks xmlns:a="http://schemas.openxmlformats.org/drawingml/2006/main" noGrp="1"/>
          </p:cNvSpPr>
          <p:nvPr/>
        </p:nvSpPr>
        <p:spPr>
          <a:xfrm xmlns:a="http://schemas.openxmlformats.org/drawingml/2006/main">
            <a:off x="685800" y="2457450"/>
            <a:ext cx="2333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000" b="1">
                <a:solidFill>
                  <a:srgbClr val="006D6D"/>
                </a:solidFill>
                <a:latin typeface="Arial"/>
                <a:ea typeface="Arial"/>
                <a:cs typeface="Arial"/>
              </a:defRPr>
            </a:pPr>
            <a:r>
              <a:rPr sz="3000" b="1">
                <a:solidFill>
                  <a:srgbClr val="006D6D"/>
                </a:solidFill>
                <a:latin typeface="Arial"/>
                <a:ea typeface="Arial"/>
                <a:cs typeface="Arial"/>
              </a:rPr>
              <a:t>01</a:t>
            </a:r>
          </a:p>
        </p:txBody>
      </p:sp>
      <p:sp>
        <p:nvSpPr>
          <p:cNvPr id="6" name="text-19">
            <a:extLst xmlns:a="http://schemas.openxmlformats.org/drawingml/2006/main">
              <a:ext uri="{FF2B5EF4-FFF2-40B4-BE49-F238E27FC236}">
                <a16:creationId xmlns:a16="http://schemas.microsoft.com/office/drawing/2014/main" id="{78BD6350-64CA-4C99-B14B-E9A391463486}"/>
              </a:ext>
            </a:extLst>
          </p:cNvPr>
          <p:cNvSpPr>
            <a:spLocks xmlns:a="http://schemas.openxmlformats.org/drawingml/2006/main" noGrp="1"/>
          </p:cNvSpPr>
          <p:nvPr/>
        </p:nvSpPr>
        <p:spPr>
          <a:xfrm xmlns:a="http://schemas.openxmlformats.org/drawingml/2006/main">
            <a:off x="685800" y="3181350"/>
            <a:ext cx="23907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75" b="1">
                <a:solidFill>
                  <a:srgbClr val="16323F"/>
                </a:solidFill>
                <a:latin typeface="Arial"/>
                <a:ea typeface="Arial"/>
                <a:cs typeface="Arial"/>
              </a:defRPr>
            </a:pPr>
            <a:r>
              <a:rPr sz="2175" b="1">
                <a:solidFill>
                  <a:srgbClr val="16323F"/>
                </a:solidFill>
                <a:latin typeface="Arial"/>
                <a:ea typeface="Arial"/>
                <a:cs typeface="Arial"/>
              </a:rPr>
              <a:t>Import records</a:t>
            </a:r>
          </a:p>
        </p:txBody>
      </p:sp>
      <p:sp>
        <p:nvSpPr>
          <p:cNvPr id="7" name="text-20">
            <a:extLst xmlns:a="http://schemas.openxmlformats.org/drawingml/2006/main">
              <a:ext uri="{FF2B5EF4-FFF2-40B4-BE49-F238E27FC236}">
                <a16:creationId xmlns:a16="http://schemas.microsoft.com/office/drawing/2014/main" id="{1747E250-1380-4CC9-82C2-383A202416CC}"/>
              </a:ext>
            </a:extLst>
          </p:cNvPr>
          <p:cNvSpPr>
            <a:spLocks xmlns:a="http://schemas.openxmlformats.org/drawingml/2006/main" noGrp="1"/>
          </p:cNvSpPr>
          <p:nvPr/>
        </p:nvSpPr>
        <p:spPr>
          <a:xfrm xmlns:a="http://schemas.openxmlformats.org/drawingml/2006/main">
            <a:off x="685800" y="4038600"/>
            <a:ext cx="233362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0">
                <a:solidFill>
                  <a:srgbClr val="58717A"/>
                </a:solidFill>
                <a:latin typeface="Arial"/>
                <a:ea typeface="Arial"/>
                <a:cs typeface="Arial"/>
              </a:defRPr>
            </a:pPr>
            <a:r>
              <a:rPr sz="1875" b="0">
                <a:solidFill>
                  <a:srgbClr val="58717A"/>
                </a:solidFill>
                <a:latin typeface="Arial"/>
                <a:ea typeface="Arial"/>
                <a:cs typeface="Arial"/>
              </a:rPr>
              <a:t>Use receiving, production and dispatch records.</a:t>
            </a:r>
          </a:p>
        </p:txBody>
      </p:sp>
      <p:sp>
        <p:nvSpPr>
          <p:cNvPr id="8" name="text-21">
            <a:extLst xmlns:a="http://schemas.openxmlformats.org/drawingml/2006/main">
              <a:ext uri="{FF2B5EF4-FFF2-40B4-BE49-F238E27FC236}">
                <a16:creationId xmlns:a16="http://schemas.microsoft.com/office/drawing/2014/main" id="{4C0B9A0B-D9D7-47A9-ACDD-4E45F533CE1F}"/>
              </a:ext>
            </a:extLst>
          </p:cNvPr>
          <p:cNvSpPr>
            <a:spLocks xmlns:a="http://schemas.openxmlformats.org/drawingml/2006/main" noGrp="1"/>
          </p:cNvSpPr>
          <p:nvPr/>
        </p:nvSpPr>
        <p:spPr>
          <a:xfrm xmlns:a="http://schemas.openxmlformats.org/drawingml/2006/main">
            <a:off x="3486150" y="2457450"/>
            <a:ext cx="2333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000" b="1">
                <a:solidFill>
                  <a:srgbClr val="006D6D"/>
                </a:solidFill>
                <a:latin typeface="Arial"/>
                <a:ea typeface="Arial"/>
                <a:cs typeface="Arial"/>
              </a:defRPr>
            </a:pPr>
            <a:r>
              <a:rPr sz="3000" b="1">
                <a:solidFill>
                  <a:srgbClr val="006D6D"/>
                </a:solidFill>
                <a:latin typeface="Arial"/>
                <a:ea typeface="Arial"/>
                <a:cs typeface="Arial"/>
              </a:rPr>
              <a:t>02</a:t>
            </a:r>
          </a:p>
        </p:txBody>
      </p:sp>
      <p:sp>
        <p:nvSpPr>
          <p:cNvPr id="9" name="text-22">
            <a:extLst xmlns:a="http://schemas.openxmlformats.org/drawingml/2006/main">
              <a:ext uri="{FF2B5EF4-FFF2-40B4-BE49-F238E27FC236}">
                <a16:creationId xmlns:a16="http://schemas.microsoft.com/office/drawing/2014/main" id="{D2D157AC-4AE9-45B0-A5B2-834AA560F515}"/>
              </a:ext>
            </a:extLst>
          </p:cNvPr>
          <p:cNvSpPr>
            <a:spLocks xmlns:a="http://schemas.openxmlformats.org/drawingml/2006/main" noGrp="1"/>
          </p:cNvSpPr>
          <p:nvPr/>
        </p:nvSpPr>
        <p:spPr>
          <a:xfrm xmlns:a="http://schemas.openxmlformats.org/drawingml/2006/main">
            <a:off x="3486150" y="3181350"/>
            <a:ext cx="23907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75" b="1">
                <a:solidFill>
                  <a:srgbClr val="16323F"/>
                </a:solidFill>
                <a:latin typeface="Arial"/>
                <a:ea typeface="Arial"/>
                <a:cs typeface="Arial"/>
              </a:defRPr>
            </a:pPr>
            <a:r>
              <a:rPr sz="2175" b="1">
                <a:solidFill>
                  <a:srgbClr val="16323F"/>
                </a:solidFill>
                <a:latin typeface="Arial"/>
                <a:ea typeface="Arial"/>
                <a:cs typeface="Arial"/>
              </a:rPr>
              <a:t>Choose a lot</a:t>
            </a:r>
          </a:p>
        </p:txBody>
      </p:sp>
      <p:sp>
        <p:nvSpPr>
          <p:cNvPr id="10" name="text-23">
            <a:extLst xmlns:a="http://schemas.openxmlformats.org/drawingml/2006/main">
              <a:ext uri="{FF2B5EF4-FFF2-40B4-BE49-F238E27FC236}">
                <a16:creationId xmlns:a16="http://schemas.microsoft.com/office/drawing/2014/main" id="{5819B844-619B-495E-8737-5566B7A2FAF4}"/>
              </a:ext>
            </a:extLst>
          </p:cNvPr>
          <p:cNvSpPr>
            <a:spLocks xmlns:a="http://schemas.openxmlformats.org/drawingml/2006/main" noGrp="1"/>
          </p:cNvSpPr>
          <p:nvPr/>
        </p:nvSpPr>
        <p:spPr>
          <a:xfrm xmlns:a="http://schemas.openxmlformats.org/drawingml/2006/main">
            <a:off x="3486150" y="4038600"/>
            <a:ext cx="233362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0">
                <a:solidFill>
                  <a:srgbClr val="58717A"/>
                </a:solidFill>
                <a:latin typeface="Arial"/>
                <a:ea typeface="Arial"/>
                <a:cs typeface="Arial"/>
              </a:defRPr>
            </a:pPr>
            <a:r>
              <a:rPr sz="1875" b="0">
                <a:solidFill>
                  <a:srgbClr val="58717A"/>
                </a:solidFill>
                <a:latin typeface="Arial"/>
                <a:ea typeface="Arial"/>
                <a:cs typeface="Arial"/>
              </a:rPr>
              <a:t>Trace ingredients into production and deliveries.</a:t>
            </a:r>
          </a:p>
        </p:txBody>
      </p:sp>
      <p:sp>
        <p:nvSpPr>
          <p:cNvPr id="11" name="text-24">
            <a:extLst xmlns:a="http://schemas.openxmlformats.org/drawingml/2006/main">
              <a:ext uri="{FF2B5EF4-FFF2-40B4-BE49-F238E27FC236}">
                <a16:creationId xmlns:a16="http://schemas.microsoft.com/office/drawing/2014/main" id="{50850FDE-59BE-4521-87B1-49BDD4EC981C}"/>
              </a:ext>
            </a:extLst>
          </p:cNvPr>
          <p:cNvSpPr>
            <a:spLocks xmlns:a="http://schemas.openxmlformats.org/drawingml/2006/main" noGrp="1"/>
          </p:cNvSpPr>
          <p:nvPr/>
        </p:nvSpPr>
        <p:spPr>
          <a:xfrm xmlns:a="http://schemas.openxmlformats.org/drawingml/2006/main">
            <a:off x="6286500" y="2457450"/>
            <a:ext cx="2333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000" b="1">
                <a:solidFill>
                  <a:srgbClr val="B87519"/>
                </a:solidFill>
                <a:latin typeface="Arial"/>
                <a:ea typeface="Arial"/>
                <a:cs typeface="Arial"/>
              </a:defRPr>
            </a:pPr>
            <a:r>
              <a:rPr sz="3000" b="1">
                <a:solidFill>
                  <a:srgbClr val="B87519"/>
                </a:solidFill>
                <a:latin typeface="Arial"/>
                <a:ea typeface="Arial"/>
                <a:cs typeface="Arial"/>
              </a:rPr>
              <a:t>03</a:t>
            </a:r>
          </a:p>
        </p:txBody>
      </p:sp>
      <p:sp>
        <p:nvSpPr>
          <p:cNvPr id="12" name="text-25">
            <a:extLst xmlns:a="http://schemas.openxmlformats.org/drawingml/2006/main">
              <a:ext uri="{FF2B5EF4-FFF2-40B4-BE49-F238E27FC236}">
                <a16:creationId xmlns:a16="http://schemas.microsoft.com/office/drawing/2014/main" id="{DD574A4E-52C1-48F6-AADA-95062F59C168}"/>
              </a:ext>
            </a:extLst>
          </p:cNvPr>
          <p:cNvSpPr>
            <a:spLocks xmlns:a="http://schemas.openxmlformats.org/drawingml/2006/main" noGrp="1"/>
          </p:cNvSpPr>
          <p:nvPr/>
        </p:nvSpPr>
        <p:spPr>
          <a:xfrm xmlns:a="http://schemas.openxmlformats.org/drawingml/2006/main">
            <a:off x="6286500" y="3181350"/>
            <a:ext cx="23907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75" b="1">
                <a:solidFill>
                  <a:srgbClr val="16323F"/>
                </a:solidFill>
                <a:latin typeface="Arial"/>
                <a:ea typeface="Arial"/>
                <a:cs typeface="Arial"/>
              </a:defRPr>
            </a:pPr>
            <a:r>
              <a:rPr sz="2175" b="1">
                <a:solidFill>
                  <a:srgbClr val="16323F"/>
                </a:solidFill>
                <a:latin typeface="Arial"/>
                <a:ea typeface="Arial"/>
                <a:cs typeface="Arial"/>
              </a:rPr>
              <a:t>Review the scope</a:t>
            </a:r>
          </a:p>
        </p:txBody>
      </p:sp>
      <p:sp>
        <p:nvSpPr>
          <p:cNvPr id="13" name="text-26">
            <a:extLst xmlns:a="http://schemas.openxmlformats.org/drawingml/2006/main">
              <a:ext uri="{FF2B5EF4-FFF2-40B4-BE49-F238E27FC236}">
                <a16:creationId xmlns:a16="http://schemas.microsoft.com/office/drawing/2014/main" id="{BE07CB2F-C7F6-4B17-B76C-BF92D49F5D59}"/>
              </a:ext>
            </a:extLst>
          </p:cNvPr>
          <p:cNvSpPr>
            <a:spLocks xmlns:a="http://schemas.openxmlformats.org/drawingml/2006/main" noGrp="1"/>
          </p:cNvSpPr>
          <p:nvPr/>
        </p:nvSpPr>
        <p:spPr>
          <a:xfrm xmlns:a="http://schemas.openxmlformats.org/drawingml/2006/main">
            <a:off x="6286500" y="4038600"/>
            <a:ext cx="233362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0">
                <a:solidFill>
                  <a:srgbClr val="58717A"/>
                </a:solidFill>
                <a:latin typeface="Arial"/>
                <a:ea typeface="Arial"/>
                <a:cs typeface="Arial"/>
              </a:defRPr>
            </a:pPr>
            <a:r>
              <a:rPr sz="1875" b="0">
                <a:solidFill>
                  <a:srgbClr val="58717A"/>
                </a:solidFill>
                <a:latin typeface="Arial"/>
                <a:ea typeface="Arial"/>
                <a:cs typeface="Arial"/>
              </a:rPr>
              <a:t>Inspect source evidence and resolve uncertain links.</a:t>
            </a:r>
          </a:p>
        </p:txBody>
      </p:sp>
      <p:sp>
        <p:nvSpPr>
          <p:cNvPr id="14" name="text-27">
            <a:extLst xmlns:a="http://schemas.openxmlformats.org/drawingml/2006/main">
              <a:ext uri="{FF2B5EF4-FFF2-40B4-BE49-F238E27FC236}">
                <a16:creationId xmlns:a16="http://schemas.microsoft.com/office/drawing/2014/main" id="{51F43873-0500-4316-8617-6DA6FFD2BFB9}"/>
              </a:ext>
            </a:extLst>
          </p:cNvPr>
          <p:cNvSpPr>
            <a:spLocks xmlns:a="http://schemas.openxmlformats.org/drawingml/2006/main" noGrp="1"/>
          </p:cNvSpPr>
          <p:nvPr/>
        </p:nvSpPr>
        <p:spPr>
          <a:xfrm xmlns:a="http://schemas.openxmlformats.org/drawingml/2006/main">
            <a:off x="9086850" y="2457450"/>
            <a:ext cx="2333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000" b="1">
                <a:solidFill>
                  <a:srgbClr val="006D6D"/>
                </a:solidFill>
                <a:latin typeface="Arial"/>
                <a:ea typeface="Arial"/>
                <a:cs typeface="Arial"/>
              </a:defRPr>
            </a:pPr>
            <a:r>
              <a:rPr sz="3000" b="1">
                <a:solidFill>
                  <a:srgbClr val="006D6D"/>
                </a:solidFill>
                <a:latin typeface="Arial"/>
                <a:ea typeface="Arial"/>
                <a:cs typeface="Arial"/>
              </a:rPr>
              <a:t>04</a:t>
            </a:r>
          </a:p>
        </p:txBody>
      </p:sp>
      <p:sp>
        <p:nvSpPr>
          <p:cNvPr id="15" name="text-28">
            <a:extLst xmlns:a="http://schemas.openxmlformats.org/drawingml/2006/main">
              <a:ext uri="{FF2B5EF4-FFF2-40B4-BE49-F238E27FC236}">
                <a16:creationId xmlns:a16="http://schemas.microsoft.com/office/drawing/2014/main" id="{4262D0AE-71B9-42ED-BE96-E2E2E255310B}"/>
              </a:ext>
            </a:extLst>
          </p:cNvPr>
          <p:cNvSpPr>
            <a:spLocks xmlns:a="http://schemas.openxmlformats.org/drawingml/2006/main" noGrp="1"/>
          </p:cNvSpPr>
          <p:nvPr/>
        </p:nvSpPr>
        <p:spPr>
          <a:xfrm xmlns:a="http://schemas.openxmlformats.org/drawingml/2006/main">
            <a:off x="9086850" y="3181350"/>
            <a:ext cx="23907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75" b="1">
                <a:solidFill>
                  <a:srgbClr val="16323F"/>
                </a:solidFill>
                <a:latin typeface="Arial"/>
                <a:ea typeface="Arial"/>
                <a:cs typeface="Arial"/>
              </a:defRPr>
            </a:pPr>
            <a:r>
              <a:rPr sz="2175" b="1">
                <a:solidFill>
                  <a:srgbClr val="16323F"/>
                </a:solidFill>
                <a:latin typeface="Arial"/>
                <a:ea typeface="Arial"/>
                <a:cs typeface="Arial"/>
              </a:rPr>
              <a:t>Export the drill</a:t>
            </a:r>
          </a:p>
        </p:txBody>
      </p:sp>
      <p:sp>
        <p:nvSpPr>
          <p:cNvPr id="16" name="text-29">
            <a:extLst xmlns:a="http://schemas.openxmlformats.org/drawingml/2006/main">
              <a:ext uri="{FF2B5EF4-FFF2-40B4-BE49-F238E27FC236}">
                <a16:creationId xmlns:a16="http://schemas.microsoft.com/office/drawing/2014/main" id="{C8093E74-55A6-4F25-A5BD-09AF2EF7DFE0}"/>
              </a:ext>
            </a:extLst>
          </p:cNvPr>
          <p:cNvSpPr>
            <a:spLocks xmlns:a="http://schemas.openxmlformats.org/drawingml/2006/main" noGrp="1"/>
          </p:cNvSpPr>
          <p:nvPr/>
        </p:nvSpPr>
        <p:spPr>
          <a:xfrm xmlns:a="http://schemas.openxmlformats.org/drawingml/2006/main">
            <a:off x="9086850" y="4038600"/>
            <a:ext cx="233362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0">
                <a:solidFill>
                  <a:srgbClr val="58717A"/>
                </a:solidFill>
                <a:latin typeface="Arial"/>
                <a:ea typeface="Arial"/>
                <a:cs typeface="Arial"/>
              </a:defRPr>
            </a:pPr>
            <a:r>
              <a:rPr sz="1875" b="0">
                <a:solidFill>
                  <a:srgbClr val="58717A"/>
                </a:solidFill>
                <a:latin typeface="Arial"/>
                <a:ea typeface="Arial"/>
                <a:cs typeface="Arial"/>
              </a:rPr>
              <a:t>Share affected deliveries and outstanding gaps.</a:t>
            </a:r>
          </a:p>
        </p:txBody>
      </p:sp>
      <p:cxnSp>
        <p:nvCxnSpPr>
          <p:cNvPr id="75" name=""/>
          <p:cNvCxnSpPr>
            <a:stCxn xmlns:a="http://schemas.openxmlformats.org/drawingml/2006/main" id="6" idx="3"/>
            <a:endCxn xmlns:a="http://schemas.openxmlformats.org/drawingml/2006/main" id="9" idx="1"/>
          </p:cNvCxnSpPr>
          <p:nvPr/>
        </p:nvCxnSpPr>
        <p:spPr>
          <a:xfrm xmlns:a="http://schemas.openxmlformats.org/drawingml/2006/main">
            <a:off x="3076575" y="3505200"/>
            <a:ext cx="409575" cy="0"/>
          </a:xfrm>
          <a:prstGeom xmlns:a="http://schemas.openxmlformats.org/drawingml/2006/main" prst="straightConnector1">
            <a:avLst/>
          </a:prstGeom>
          <a:ln xmlns:a="http://schemas.openxmlformats.org/drawingml/2006/main" w="19050">
            <a:solidFill>
              <a:srgbClr val="006D6D"/>
            </a:solidFill>
            <a:tailEnd type="triangle" w="sm" len="sm"/>
          </a:ln>
        </p:spPr>
      </p:cxnSp>
      <p:cxnSp>
        <p:nvCxnSpPr>
          <p:cNvPr id="76" name=""/>
          <p:cNvCxnSpPr>
            <a:stCxn xmlns:a="http://schemas.openxmlformats.org/drawingml/2006/main" id="9" idx="3"/>
            <a:endCxn xmlns:a="http://schemas.openxmlformats.org/drawingml/2006/main" id="12" idx="1"/>
          </p:cNvCxnSpPr>
          <p:nvPr/>
        </p:nvCxnSpPr>
        <p:spPr>
          <a:xfrm xmlns:a="http://schemas.openxmlformats.org/drawingml/2006/main">
            <a:off x="5876925" y="3505200"/>
            <a:ext cx="409575" cy="0"/>
          </a:xfrm>
          <a:prstGeom xmlns:a="http://schemas.openxmlformats.org/drawingml/2006/main" prst="straightConnector1">
            <a:avLst/>
          </a:prstGeom>
          <a:ln xmlns:a="http://schemas.openxmlformats.org/drawingml/2006/main" w="19050">
            <a:solidFill>
              <a:srgbClr val="006D6D"/>
            </a:solidFill>
            <a:tailEnd type="triangle" w="sm" len="sm"/>
          </a:ln>
        </p:spPr>
      </p:cxnSp>
      <p:cxnSp>
        <p:nvCxnSpPr>
          <p:cNvPr id="77" name=""/>
          <p:cNvCxnSpPr>
            <a:stCxn xmlns:a="http://schemas.openxmlformats.org/drawingml/2006/main" id="12" idx="3"/>
            <a:endCxn xmlns:a="http://schemas.openxmlformats.org/drawingml/2006/main" id="15" idx="1"/>
          </p:cNvCxnSpPr>
          <p:nvPr/>
        </p:nvCxnSpPr>
        <p:spPr>
          <a:xfrm xmlns:a="http://schemas.openxmlformats.org/drawingml/2006/main">
            <a:off x="8677275" y="3505200"/>
            <a:ext cx="409575" cy="0"/>
          </a:xfrm>
          <a:prstGeom xmlns:a="http://schemas.openxmlformats.org/drawingml/2006/main" prst="straightConnector1">
            <a:avLst/>
          </a:prstGeom>
          <a:ln xmlns:a="http://schemas.openxmlformats.org/drawingml/2006/main" w="19050">
            <a:solidFill>
              <a:srgbClr val="006D6D"/>
            </a:solidFill>
            <a:tailEnd type="triangle" w="sm" len="sm"/>
          </a:ln>
        </p:spPr>
      </p:cxnSp>
      <p:sp>
        <p:nvSpPr>
          <p:cNvPr id="20" name="text-30">
            <a:extLst xmlns:a="http://schemas.openxmlformats.org/drawingml/2006/main">
              <a:ext uri="{FF2B5EF4-FFF2-40B4-BE49-F238E27FC236}">
                <a16:creationId xmlns:a16="http://schemas.microsoft.com/office/drawing/2014/main" id="{6E95196D-A928-4AB4-AFB5-3449E7A1FB38}"/>
              </a:ext>
            </a:extLst>
          </p:cNvPr>
          <p:cNvSpPr>
            <a:spLocks xmlns:a="http://schemas.openxmlformats.org/drawingml/2006/main" noGrp="1"/>
          </p:cNvSpPr>
          <p:nvPr/>
        </p:nvSpPr>
        <p:spPr>
          <a:xfrm xmlns:a="http://schemas.openxmlformats.org/drawingml/2006/main">
            <a:off x="685800" y="5591175"/>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75" b="1">
                <a:solidFill>
                  <a:srgbClr val="006D6D"/>
                </a:solidFill>
                <a:latin typeface="Arial"/>
                <a:ea typeface="Arial"/>
                <a:cs typeface="Arial"/>
              </a:defRPr>
            </a:pPr>
            <a:r>
              <a:rPr sz="2175" b="1">
                <a:solidFill>
                  <a:srgbClr val="006D6D"/>
                </a:solidFill>
                <a:latin typeface="Arial"/>
                <a:ea typeface="Arial"/>
                <a:cs typeface="Arial"/>
              </a:rPr>
              <a:t>Every included delivery keeps a link to its supporting record.</a:t>
            </a:r>
          </a:p>
        </p:txBody>
      </p:sp>
    </p:spTree>
    <p:extLst>
      <p:ext uri="{BB962C8B-B14F-4D97-AF65-F5344CB8AC3E}">
        <p14:creationId xmlns:p14="http://schemas.microsoft.com/office/powerpoint/2010/main" val="55353590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31">
            <a:extLst xmlns:a="http://schemas.openxmlformats.org/drawingml/2006/main">
              <a:ext uri="{FF2B5EF4-FFF2-40B4-BE49-F238E27FC236}">
                <a16:creationId xmlns:a16="http://schemas.microsoft.com/office/drawing/2014/main" id="{8497DCC1-8A58-4141-8F99-5B2DA34CAD19}"/>
              </a:ext>
            </a:extLst>
          </p:cNvPr>
          <p:cNvSpPr>
            <a:spLocks xmlns:a="http://schemas.openxmlformats.org/drawingml/2006/main" noGrp="1"/>
          </p:cNvSpPr>
          <p:nvPr/>
        </p:nvSpPr>
        <p:spPr>
          <a:xfrm xmlns:a="http://schemas.openxmlformats.org/drawingml/2006/main">
            <a:off x="685800" y="5334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600" b="1">
                <a:solidFill>
                  <a:srgbClr val="16323F"/>
                </a:solidFill>
                <a:latin typeface="Arial"/>
                <a:ea typeface="Arial"/>
                <a:cs typeface="Arial"/>
              </a:defRPr>
            </a:pPr>
            <a:r>
              <a:rPr sz="3600" b="1">
                <a:solidFill>
                  <a:srgbClr val="16323F"/>
                </a:solidFill>
                <a:latin typeface="Arial"/>
                <a:ea typeface="Arial"/>
                <a:cs typeface="Arial"/>
              </a:rPr>
              <a:t>One review changes the drill scope</a:t>
            </a:r>
          </a:p>
        </p:txBody>
      </p:sp>
      <p:sp>
        <p:nvSpPr>
          <p:cNvPr id="2" name="text-32">
            <a:extLst xmlns:a="http://schemas.openxmlformats.org/drawingml/2006/main">
              <a:ext uri="{FF2B5EF4-FFF2-40B4-BE49-F238E27FC236}">
                <a16:creationId xmlns:a16="http://schemas.microsoft.com/office/drawing/2014/main" id="{C3517C20-4B07-41F3-851F-C95D314B9385}"/>
              </a:ext>
            </a:extLst>
          </p:cNvPr>
          <p:cNvSpPr>
            <a:spLocks xmlns:a="http://schemas.openxmlformats.org/drawingml/2006/main" noGrp="1"/>
          </p:cNvSpPr>
          <p:nvPr/>
        </p:nvSpPr>
        <p:spPr>
          <a:xfrm xmlns:a="http://schemas.openxmlformats.org/drawingml/2006/main">
            <a:off x="685800" y="1362075"/>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0">
                <a:solidFill>
                  <a:srgbClr val="58717A"/>
                </a:solidFill>
                <a:latin typeface="Arial"/>
                <a:ea typeface="Arial"/>
                <a:cs typeface="Arial"/>
              </a:defRPr>
            </a:pPr>
            <a:r>
              <a:rPr sz="1875" b="0">
                <a:solidFill>
                  <a:srgbClr val="58717A"/>
                </a:solidFill>
                <a:latin typeface="Arial"/>
                <a:ea typeface="Arial"/>
                <a:cs typeface="Arial"/>
              </a:rPr>
              <a:t>Synthetic demo: an operator resolves one ambiguous batch code</a:t>
            </a:r>
          </a:p>
        </p:txBody>
      </p:sp>
      <p:sp>
        <p:nvSpPr>
          <p:cNvPr id="3" name="text-33">
            <a:extLst xmlns:a="http://schemas.openxmlformats.org/drawingml/2006/main">
              <a:ext uri="{FF2B5EF4-FFF2-40B4-BE49-F238E27FC236}">
                <a16:creationId xmlns:a16="http://schemas.microsoft.com/office/drawing/2014/main" id="{DDE396A0-9128-40CC-8F51-8CC2ECFDB0F8}"/>
              </a:ext>
            </a:extLst>
          </p:cNvPr>
          <p:cNvSpPr>
            <a:spLocks xmlns:a="http://schemas.openxmlformats.org/drawingml/2006/main" noGrp="1"/>
          </p:cNvSpPr>
          <p:nvPr/>
        </p:nvSpPr>
        <p:spPr>
          <a:xfrm xmlns:a="http://schemas.openxmlformats.org/drawingml/2006/main">
            <a:off x="685800" y="6381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75" b="0">
                <a:solidFill>
                  <a:srgbClr val="58717A"/>
                </a:solidFill>
                <a:latin typeface="Arial"/>
                <a:ea typeface="Arial"/>
                <a:cs typeface="Arial"/>
              </a:defRPr>
            </a:pPr>
            <a:r>
              <a:rPr sz="1275" b="0">
                <a:solidFill>
                  <a:srgbClr val="58717A"/>
                </a:solidFill>
                <a:latin typeface="Arial"/>
                <a:ea typeface="Arial"/>
                <a:cs typeface="Arial"/>
              </a:rPr>
              <a:t>RecallScope</a:t>
            </a:r>
          </a:p>
        </p:txBody>
      </p:sp>
      <p:sp>
        <p:nvSpPr>
          <p:cNvPr id="4" name="text-34">
            <a:extLst xmlns:a="http://schemas.openxmlformats.org/drawingml/2006/main">
              <a:ext uri="{FF2B5EF4-FFF2-40B4-BE49-F238E27FC236}">
                <a16:creationId xmlns:a16="http://schemas.microsoft.com/office/drawing/2014/main" id="{A136B7AB-61B8-4B5D-BCA2-D371DA05756A}"/>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275" b="0">
                <a:solidFill>
                  <a:srgbClr val="58717A"/>
                </a:solidFill>
                <a:latin typeface="Arial"/>
                <a:ea typeface="Arial"/>
                <a:cs typeface="Arial"/>
              </a:defRPr>
            </a:pPr>
            <a:r>
              <a:rPr sz="1275" b="0">
                <a:solidFill>
                  <a:srgbClr val="58717A"/>
                </a:solidFill>
                <a:latin typeface="Arial"/>
                <a:ea typeface="Arial"/>
                <a:cs typeface="Arial"/>
              </a:rPr>
              <a:t>04</a:t>
            </a:r>
          </a:p>
        </p:txBody>
      </p:sp>
      <p:graphicFrame>
        <p:nvGraphicFramePr>
          <p:cNvPr id="13" name=""/>
          <p:cNvGraphicFramePr/>
          <p:nvPr/>
        </p:nvGraphicFramePr>
        <p:xfrm>
          <a:off xmlns:a="http://schemas.openxmlformats.org/drawingml/2006/main" x="685800" y="2133600"/>
          <a:ext xmlns:a="http://schemas.openxmlformats.org/drawingml/2006/main" cx="10820400" cy="3067050"/>
        </p:xfrm>
        <a:graphic xmlns:a="http://schemas.openxmlformats.org/drawingml/2006/main">
          <a:graphicData uri="http://schemas.openxmlformats.org/drawingml/2006/table">
            <a:tbl>
              <a:tblPr firstRow="0" bandRow="0"/>
              <a:tblGrid>
                <a:gridCol w="5105400"/>
                <a:gridCol w="2857500"/>
                <a:gridCol w="2857500"/>
              </a:tblGrid>
              <a:tr h="613410">
                <a:tc>
                  <a:txBody>
                    <a:bodyPr>
                      <a:noAutofit/>
                    </a:bodyPr>
                    <a:lstStyle/>
                    <a:p>
                      <a:pPr algn="l">
                        <a:buNone/>
                      </a:pPr>
                      <a:r>
                        <a:rPr sz="1725" b="1">
                          <a:solidFill>
                            <a:srgbClr val="FFFFFF"/>
                          </a:solidFill>
                          <a:latin typeface="Arial"/>
                          <a:ea typeface="Arial"/>
                          <a:cs typeface="Arial"/>
                        </a:rPr>
                        <a:t>Measure</a:t>
                      </a:r>
                    </a:p>
                  </a:txBody>
                  <a:tcPr marL="91440" marR="91440" marT="45720" marB="45720">
                    <a:solidFill>
                      <a:srgbClr val="0C2834"/>
                    </a:solidFill>
                  </a:tcPr>
                </a:tc>
                <a:tc>
                  <a:txBody>
                    <a:bodyPr>
                      <a:noAutofit/>
                    </a:bodyPr>
                    <a:lstStyle/>
                    <a:p>
                      <a:pPr algn="ctr">
                        <a:buNone/>
                      </a:pPr>
                      <a:r>
                        <a:rPr sz="1725" b="1">
                          <a:solidFill>
                            <a:srgbClr val="FFFFFF"/>
                          </a:solidFill>
                          <a:latin typeface="Arial"/>
                          <a:ea typeface="Arial"/>
                          <a:cs typeface="Arial"/>
                        </a:rPr>
                        <a:t>Initial trace</a:t>
                      </a:r>
                    </a:p>
                  </a:txBody>
                  <a:tcPr marL="91440" marR="91440" marT="45720" marB="45720">
                    <a:solidFill>
                      <a:srgbClr val="0C2834"/>
                    </a:solidFill>
                  </a:tcPr>
                </a:tc>
                <a:tc>
                  <a:txBody>
                    <a:bodyPr>
                      <a:noAutofit/>
                    </a:bodyPr>
                    <a:lstStyle/>
                    <a:p>
                      <a:pPr algn="ctr">
                        <a:buNone/>
                      </a:pPr>
                      <a:r>
                        <a:rPr sz="1725" b="1">
                          <a:solidFill>
                            <a:srgbClr val="FFFFFF"/>
                          </a:solidFill>
                          <a:latin typeface="Arial"/>
                          <a:ea typeface="Arial"/>
                          <a:cs typeface="Arial"/>
                        </a:rPr>
                        <a:t>After review</a:t>
                      </a:r>
                    </a:p>
                  </a:txBody>
                  <a:tcPr marL="91440" marR="91440" marT="45720" marB="45720">
                    <a:solidFill>
                      <a:srgbClr val="0C2834"/>
                    </a:solidFill>
                  </a:tcPr>
                </a:tc>
              </a:tr>
              <a:tr h="613410">
                <a:tc>
                  <a:txBody>
                    <a:bodyPr>
                      <a:noAutofit/>
                    </a:bodyPr>
                    <a:lstStyle/>
                    <a:p>
                      <a:pPr algn="l">
                        <a:buNone/>
                      </a:pPr>
                      <a:r>
                        <a:rPr sz="2175" b="0">
                          <a:solidFill>
                            <a:srgbClr val="16323F"/>
                          </a:solidFill>
                          <a:latin typeface="Arial"/>
                          <a:ea typeface="Arial"/>
                          <a:cs typeface="Arial"/>
                        </a:rPr>
                        <a:t>Affected production batches</a:t>
                      </a:r>
                    </a:p>
                  </a:txBody>
                  <a:tcPr marL="91440" marR="91440" marT="45720" marB="45720">
                    <a:solidFill>
                      <a:srgbClr val="F2F7F5"/>
                    </a:solidFill>
                  </a:tcPr>
                </a:tc>
                <a:tc>
                  <a:txBody>
                    <a:bodyPr>
                      <a:noAutofit/>
                    </a:bodyPr>
                    <a:lstStyle/>
                    <a:p>
                      <a:pPr algn="ctr">
                        <a:buNone/>
                      </a:pPr>
                      <a:r>
                        <a:rPr sz="2175" b="1">
                          <a:solidFill>
                            <a:srgbClr val="16323F"/>
                          </a:solidFill>
                          <a:latin typeface="Arial"/>
                          <a:ea typeface="Arial"/>
                          <a:cs typeface="Arial"/>
                        </a:rPr>
                        <a:t>2</a:t>
                      </a:r>
                    </a:p>
                  </a:txBody>
                  <a:tcPr marL="91440" marR="91440" marT="45720" marB="45720">
                    <a:solidFill>
                      <a:srgbClr val="F2F7F5"/>
                    </a:solidFill>
                  </a:tcPr>
                </a:tc>
                <a:tc>
                  <a:txBody>
                    <a:bodyPr>
                      <a:noAutofit/>
                    </a:bodyPr>
                    <a:lstStyle/>
                    <a:p>
                      <a:pPr algn="ctr">
                        <a:buNone/>
                      </a:pPr>
                      <a:r>
                        <a:rPr sz="2175" b="1">
                          <a:solidFill>
                            <a:srgbClr val="16323F"/>
                          </a:solidFill>
                          <a:latin typeface="Arial"/>
                          <a:ea typeface="Arial"/>
                          <a:cs typeface="Arial"/>
                        </a:rPr>
                        <a:t>3</a:t>
                      </a:r>
                    </a:p>
                  </a:txBody>
                  <a:tcPr marL="91440" marR="91440" marT="45720" marB="45720">
                    <a:solidFill>
                      <a:srgbClr val="F2F7F5"/>
                    </a:solidFill>
                  </a:tcPr>
                </a:tc>
              </a:tr>
              <a:tr h="613410">
                <a:tc>
                  <a:txBody>
                    <a:bodyPr>
                      <a:noAutofit/>
                    </a:bodyPr>
                    <a:lstStyle/>
                    <a:p>
                      <a:pPr algn="l">
                        <a:buNone/>
                      </a:pPr>
                      <a:r>
                        <a:rPr sz="2175" b="0">
                          <a:solidFill>
                            <a:srgbClr val="16323F"/>
                          </a:solidFill>
                          <a:latin typeface="Arial"/>
                          <a:ea typeface="Arial"/>
                          <a:cs typeface="Arial"/>
                        </a:rPr>
                        <a:t>Affected delivered packs</a:t>
                      </a:r>
                    </a:p>
                  </a:txBody>
                  <a:tcPr marL="91440" marR="91440" marT="45720" marB="45720">
                    <a:solidFill>
                      <a:srgbClr val="FFFFFF"/>
                    </a:solidFill>
                  </a:tcPr>
                </a:tc>
                <a:tc>
                  <a:txBody>
                    <a:bodyPr>
                      <a:noAutofit/>
                    </a:bodyPr>
                    <a:lstStyle/>
                    <a:p>
                      <a:pPr algn="ctr">
                        <a:buNone/>
                      </a:pPr>
                      <a:r>
                        <a:rPr sz="2175" b="1">
                          <a:solidFill>
                            <a:srgbClr val="16323F"/>
                          </a:solidFill>
                          <a:latin typeface="Arial"/>
                          <a:ea typeface="Arial"/>
                          <a:cs typeface="Arial"/>
                        </a:rPr>
                        <a:t>720</a:t>
                      </a:r>
                    </a:p>
                  </a:txBody>
                  <a:tcPr marL="91440" marR="91440" marT="45720" marB="45720">
                    <a:solidFill>
                      <a:srgbClr val="FFFFFF"/>
                    </a:solidFill>
                  </a:tcPr>
                </a:tc>
                <a:tc>
                  <a:txBody>
                    <a:bodyPr>
                      <a:noAutofit/>
                    </a:bodyPr>
                    <a:lstStyle/>
                    <a:p>
                      <a:pPr algn="ctr">
                        <a:buNone/>
                      </a:pPr>
                      <a:r>
                        <a:rPr sz="2175" b="1">
                          <a:solidFill>
                            <a:srgbClr val="16323F"/>
                          </a:solidFill>
                          <a:latin typeface="Arial"/>
                          <a:ea typeface="Arial"/>
                          <a:cs typeface="Arial"/>
                        </a:rPr>
                        <a:t>1,080</a:t>
                      </a:r>
                    </a:p>
                  </a:txBody>
                  <a:tcPr marL="91440" marR="91440" marT="45720" marB="45720">
                    <a:solidFill>
                      <a:srgbClr val="FFFFFF"/>
                    </a:solidFill>
                  </a:tcPr>
                </a:tc>
              </a:tr>
              <a:tr h="613410">
                <a:tc>
                  <a:txBody>
                    <a:bodyPr>
                      <a:noAutofit/>
                    </a:bodyPr>
                    <a:lstStyle/>
                    <a:p>
                      <a:pPr algn="l">
                        <a:buNone/>
                      </a:pPr>
                      <a:r>
                        <a:rPr sz="2175" b="0">
                          <a:solidFill>
                            <a:srgbClr val="16323F"/>
                          </a:solidFill>
                          <a:latin typeface="Arial"/>
                          <a:ea typeface="Arial"/>
                          <a:cs typeface="Arial"/>
                        </a:rPr>
                        <a:t>Affected customers</a:t>
                      </a:r>
                    </a:p>
                  </a:txBody>
                  <a:tcPr marL="91440" marR="91440" marT="45720" marB="45720">
                    <a:solidFill>
                      <a:srgbClr val="F2F7F5"/>
                    </a:solidFill>
                  </a:tcPr>
                </a:tc>
                <a:tc>
                  <a:txBody>
                    <a:bodyPr>
                      <a:noAutofit/>
                    </a:bodyPr>
                    <a:lstStyle/>
                    <a:p>
                      <a:pPr algn="ctr">
                        <a:buNone/>
                      </a:pPr>
                      <a:r>
                        <a:rPr sz="2175" b="1">
                          <a:solidFill>
                            <a:srgbClr val="16323F"/>
                          </a:solidFill>
                          <a:latin typeface="Arial"/>
                          <a:ea typeface="Arial"/>
                          <a:cs typeface="Arial"/>
                        </a:rPr>
                        <a:t>2</a:t>
                      </a:r>
                    </a:p>
                  </a:txBody>
                  <a:tcPr marL="91440" marR="91440" marT="45720" marB="45720">
                    <a:solidFill>
                      <a:srgbClr val="F2F7F5"/>
                    </a:solidFill>
                  </a:tcPr>
                </a:tc>
                <a:tc>
                  <a:txBody>
                    <a:bodyPr>
                      <a:noAutofit/>
                    </a:bodyPr>
                    <a:lstStyle/>
                    <a:p>
                      <a:pPr algn="ctr">
                        <a:buNone/>
                      </a:pPr>
                      <a:r>
                        <a:rPr sz="2175" b="1">
                          <a:solidFill>
                            <a:srgbClr val="16323F"/>
                          </a:solidFill>
                          <a:latin typeface="Arial"/>
                          <a:ea typeface="Arial"/>
                          <a:cs typeface="Arial"/>
                        </a:rPr>
                        <a:t>3</a:t>
                      </a:r>
                    </a:p>
                  </a:txBody>
                  <a:tcPr marL="91440" marR="91440" marT="45720" marB="45720">
                    <a:solidFill>
                      <a:srgbClr val="F2F7F5"/>
                    </a:solidFill>
                  </a:tcPr>
                </a:tc>
              </a:tr>
              <a:tr h="613410">
                <a:tc>
                  <a:txBody>
                    <a:bodyPr>
                      <a:noAutofit/>
                    </a:bodyPr>
                    <a:lstStyle/>
                    <a:p>
                      <a:pPr algn="l">
                        <a:buNone/>
                      </a:pPr>
                      <a:r>
                        <a:rPr sz="2175" b="0">
                          <a:solidFill>
                            <a:srgbClr val="B87519"/>
                          </a:solidFill>
                          <a:latin typeface="Arial"/>
                          <a:ea typeface="Arial"/>
                          <a:cs typeface="Arial"/>
                        </a:rPr>
                        <a:t>Packs with unresolved linkage</a:t>
                      </a:r>
                    </a:p>
                  </a:txBody>
                  <a:tcPr marL="91440" marR="91440" marT="45720" marB="45720">
                    <a:solidFill>
                      <a:srgbClr val="FFF2DC"/>
                    </a:solidFill>
                  </a:tcPr>
                </a:tc>
                <a:tc>
                  <a:txBody>
                    <a:bodyPr>
                      <a:noAutofit/>
                    </a:bodyPr>
                    <a:lstStyle/>
                    <a:p>
                      <a:pPr algn="ctr">
                        <a:buNone/>
                      </a:pPr>
                      <a:r>
                        <a:rPr sz="2175" b="1">
                          <a:solidFill>
                            <a:srgbClr val="B87519"/>
                          </a:solidFill>
                          <a:latin typeface="Arial"/>
                          <a:ea typeface="Arial"/>
                          <a:cs typeface="Arial"/>
                        </a:rPr>
                        <a:t>720</a:t>
                      </a:r>
                    </a:p>
                  </a:txBody>
                  <a:tcPr marL="91440" marR="91440" marT="45720" marB="45720">
                    <a:solidFill>
                      <a:srgbClr val="FFF2DC"/>
                    </a:solidFill>
                  </a:tcPr>
                </a:tc>
                <a:tc>
                  <a:txBody>
                    <a:bodyPr>
                      <a:noAutofit/>
                    </a:bodyPr>
                    <a:lstStyle/>
                    <a:p>
                      <a:pPr algn="ctr">
                        <a:buNone/>
                      </a:pPr>
                      <a:r>
                        <a:rPr sz="2175" b="1">
                          <a:solidFill>
                            <a:srgbClr val="B87519"/>
                          </a:solidFill>
                          <a:latin typeface="Arial"/>
                          <a:ea typeface="Arial"/>
                          <a:cs typeface="Arial"/>
                        </a:rPr>
                        <a:t>360</a:t>
                      </a:r>
                    </a:p>
                  </a:txBody>
                  <a:tcPr marL="91440" marR="91440" marT="45720" marB="45720">
                    <a:solidFill>
                      <a:srgbClr val="FFF2DC"/>
                    </a:solidFill>
                  </a:tcPr>
                </a:tc>
              </a:tr>
            </a:tbl>
          </a:graphicData>
        </a:graphic>
      </p:graphicFrame>
      <p:sp>
        <p:nvSpPr>
          <p:cNvPr id="6" name="text-35">
            <a:extLst xmlns:a="http://schemas.openxmlformats.org/drawingml/2006/main">
              <a:ext uri="{FF2B5EF4-FFF2-40B4-BE49-F238E27FC236}">
                <a16:creationId xmlns:a16="http://schemas.microsoft.com/office/drawing/2014/main" id="{7E33698F-7A7A-4A16-9843-C981A3785068}"/>
              </a:ext>
            </a:extLst>
          </p:cNvPr>
          <p:cNvSpPr>
            <a:spLocks xmlns:a="http://schemas.openxmlformats.org/drawingml/2006/main" noGrp="1"/>
          </p:cNvSpPr>
          <p:nvPr/>
        </p:nvSpPr>
        <p:spPr>
          <a:xfrm xmlns:a="http://schemas.openxmlformats.org/drawingml/2006/main">
            <a:off x="685800" y="54483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B87519"/>
                </a:solidFill>
                <a:latin typeface="Arial"/>
                <a:ea typeface="Arial"/>
                <a:cs typeface="Arial"/>
              </a:defRPr>
            </a:pPr>
            <a:r>
              <a:rPr sz="2025" b="1">
                <a:solidFill>
                  <a:srgbClr val="B87519"/>
                </a:solidFill>
                <a:latin typeface="Arial"/>
                <a:ea typeface="Arial"/>
                <a:cs typeface="Arial"/>
              </a:rPr>
              <a:t>360 packs remain unresolved because another production sheet is missing.</a:t>
            </a:r>
          </a:p>
        </p:txBody>
      </p:sp>
    </p:spTree>
    <p:extLst>
      <p:ext uri="{BB962C8B-B14F-4D97-AF65-F5344CB8AC3E}">
        <p14:creationId xmlns:p14="http://schemas.microsoft.com/office/powerpoint/2010/main" val="153506003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36">
            <a:extLst xmlns:a="http://schemas.openxmlformats.org/drawingml/2006/main">
              <a:ext uri="{FF2B5EF4-FFF2-40B4-BE49-F238E27FC236}">
                <a16:creationId xmlns:a16="http://schemas.microsoft.com/office/drawing/2014/main" id="{B6D7D8C4-A4A3-4F11-BD72-A44CF8538F55}"/>
              </a:ext>
            </a:extLst>
          </p:cNvPr>
          <p:cNvSpPr>
            <a:spLocks xmlns:a="http://schemas.openxmlformats.org/drawingml/2006/main" noGrp="1"/>
          </p:cNvSpPr>
          <p:nvPr/>
        </p:nvSpPr>
        <p:spPr>
          <a:xfrm xmlns:a="http://schemas.openxmlformats.org/drawingml/2006/main">
            <a:off x="685800" y="5334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600" b="1">
                <a:solidFill>
                  <a:srgbClr val="16323F"/>
                </a:solidFill>
                <a:latin typeface="Arial"/>
                <a:ea typeface="Arial"/>
                <a:cs typeface="Arial"/>
              </a:defRPr>
            </a:pPr>
            <a:r>
              <a:rPr sz="3600" b="1">
                <a:solidFill>
                  <a:srgbClr val="16323F"/>
                </a:solidFill>
                <a:latin typeface="Arial"/>
                <a:ea typeface="Arial"/>
                <a:cs typeface="Arial"/>
              </a:rPr>
              <a:t>How RecallScope reaches a result</a:t>
            </a:r>
          </a:p>
        </p:txBody>
      </p:sp>
      <p:sp>
        <p:nvSpPr>
          <p:cNvPr id="2" name="text-37">
            <a:extLst xmlns:a="http://schemas.openxmlformats.org/drawingml/2006/main">
              <a:ext uri="{FF2B5EF4-FFF2-40B4-BE49-F238E27FC236}">
                <a16:creationId xmlns:a16="http://schemas.microsoft.com/office/drawing/2014/main" id="{55A0BCD8-8A9F-4522-B272-E0CDF579529D}"/>
              </a:ext>
            </a:extLst>
          </p:cNvPr>
          <p:cNvSpPr>
            <a:spLocks xmlns:a="http://schemas.openxmlformats.org/drawingml/2006/main" noGrp="1"/>
          </p:cNvSpPr>
          <p:nvPr/>
        </p:nvSpPr>
        <p:spPr>
          <a:xfrm xmlns:a="http://schemas.openxmlformats.org/drawingml/2006/main">
            <a:off x="685800" y="1362075"/>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0">
                <a:solidFill>
                  <a:srgbClr val="58717A"/>
                </a:solidFill>
                <a:latin typeface="Arial"/>
                <a:ea typeface="Arial"/>
                <a:cs typeface="Arial"/>
              </a:defRPr>
            </a:pPr>
            <a:r>
              <a:rPr sz="1875" b="0">
                <a:solidFill>
                  <a:srgbClr val="58717A"/>
                </a:solidFill>
                <a:latin typeface="Arial"/>
                <a:ea typeface="Arial"/>
                <a:cs typeface="Arial"/>
              </a:rPr>
              <a:t>AI proposes records. The operator reviews. Code calculates.</a:t>
            </a:r>
          </a:p>
        </p:txBody>
      </p:sp>
      <p:sp>
        <p:nvSpPr>
          <p:cNvPr id="3" name="text-38">
            <a:extLst xmlns:a="http://schemas.openxmlformats.org/drawingml/2006/main">
              <a:ext uri="{FF2B5EF4-FFF2-40B4-BE49-F238E27FC236}">
                <a16:creationId xmlns:a16="http://schemas.microsoft.com/office/drawing/2014/main" id="{B05D8BBD-3E00-4B2A-B66E-7419CE4DA76D}"/>
              </a:ext>
            </a:extLst>
          </p:cNvPr>
          <p:cNvSpPr>
            <a:spLocks xmlns:a="http://schemas.openxmlformats.org/drawingml/2006/main" noGrp="1"/>
          </p:cNvSpPr>
          <p:nvPr/>
        </p:nvSpPr>
        <p:spPr>
          <a:xfrm xmlns:a="http://schemas.openxmlformats.org/drawingml/2006/main">
            <a:off x="685800" y="6381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75" b="0">
                <a:solidFill>
                  <a:srgbClr val="58717A"/>
                </a:solidFill>
                <a:latin typeface="Arial"/>
                <a:ea typeface="Arial"/>
                <a:cs typeface="Arial"/>
              </a:defRPr>
            </a:pPr>
            <a:r>
              <a:rPr sz="1275" b="0">
                <a:solidFill>
                  <a:srgbClr val="58717A"/>
                </a:solidFill>
                <a:latin typeface="Arial"/>
                <a:ea typeface="Arial"/>
                <a:cs typeface="Arial"/>
              </a:rPr>
              <a:t>RecallScope</a:t>
            </a:r>
          </a:p>
        </p:txBody>
      </p:sp>
      <p:sp>
        <p:nvSpPr>
          <p:cNvPr id="4" name="text-39">
            <a:extLst xmlns:a="http://schemas.openxmlformats.org/drawingml/2006/main">
              <a:ext uri="{FF2B5EF4-FFF2-40B4-BE49-F238E27FC236}">
                <a16:creationId xmlns:a16="http://schemas.microsoft.com/office/drawing/2014/main" id="{950778AE-C47C-446C-9CA7-8429A5571A0C}"/>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275" b="0">
                <a:solidFill>
                  <a:srgbClr val="58717A"/>
                </a:solidFill>
                <a:latin typeface="Arial"/>
                <a:ea typeface="Arial"/>
                <a:cs typeface="Arial"/>
              </a:defRPr>
            </a:pPr>
            <a:r>
              <a:rPr sz="1275" b="0">
                <a:solidFill>
                  <a:srgbClr val="58717A"/>
                </a:solidFill>
                <a:latin typeface="Arial"/>
                <a:ea typeface="Arial"/>
                <a:cs typeface="Arial"/>
              </a:rPr>
              <a:t>05</a:t>
            </a:r>
          </a:p>
        </p:txBody>
      </p:sp>
      <p:sp>
        <p:nvSpPr>
          <p:cNvPr id="5" name="architecture-node-1">
            <a:extLst xmlns:a="http://schemas.openxmlformats.org/drawingml/2006/main">
              <a:ext uri="{FF2B5EF4-FFF2-40B4-BE49-F238E27FC236}">
                <a16:creationId xmlns:a16="http://schemas.microsoft.com/office/drawing/2014/main" id="{994A5478-DF14-4C12-82C5-72B61F932A3F}"/>
              </a:ext>
            </a:extLst>
          </p:cNvPr>
          <p:cNvSpPr>
            <a:spLocks xmlns:a="http://schemas.openxmlformats.org/drawingml/2006/main" noGrp="1"/>
          </p:cNvSpPr>
          <p:nvPr/>
        </p:nvSpPr>
        <p:spPr>
          <a:xfrm xmlns:a="http://schemas.openxmlformats.org/drawingml/2006/main">
            <a:off x="685800" y="2705100"/>
            <a:ext cx="3219450" cy="790575"/>
          </a:xfrm>
          <a:prstGeom xmlns:a="http://schemas.openxmlformats.org/drawingml/2006/main" prst="rect">
            <a:avLst/>
          </a:prstGeom>
          <a:solidFill xmlns:a="http://schemas.openxmlformats.org/drawingml/2006/main">
            <a:srgbClr val="F2F7F5"/>
          </a:solidFill>
          <a:ln xmlns:a="http://schemas.openxmlformats.org/drawingml/2006/main" w="19050">
            <a:solidFill>
              <a:srgbClr val="006D6D"/>
            </a:solidFill>
          </a:ln>
        </p:spPr>
        <p:txBody>
          <a:bodyPr xmlns:a="http://schemas.openxmlformats.org/drawingml/2006/main">
            <a:noAutofit/>
          </a:bodyPr>
          <a:lstStyle xmlns:a="http://schemas.openxmlformats.org/drawingml/2006/main"/>
          <a:p xmlns:a="http://schemas.openxmlformats.org/drawingml/2006/main">
            <a:pPr algn="ctr">
              <a:buNone/>
              <a:defRPr sz="2175" b="1">
                <a:solidFill>
                  <a:srgbClr val="006D6D"/>
                </a:solidFill>
                <a:latin typeface="Arial"/>
                <a:ea typeface="Arial"/>
                <a:cs typeface="Arial"/>
              </a:defRPr>
            </a:pPr>
            <a:r>
              <a:rPr sz="2175" b="1">
                <a:solidFill>
                  <a:srgbClr val="006D6D"/>
                </a:solidFill>
                <a:latin typeface="Arial"/>
                <a:ea typeface="Arial"/>
                <a:cs typeface="Arial"/>
              </a:rPr>
              <a:t>AI proposes</a:t>
            </a:r>
          </a:p>
        </p:txBody>
      </p:sp>
      <p:sp>
        <p:nvSpPr>
          <p:cNvPr id="6" name="text-40">
            <a:extLst xmlns:a="http://schemas.openxmlformats.org/drawingml/2006/main">
              <a:ext uri="{FF2B5EF4-FFF2-40B4-BE49-F238E27FC236}">
                <a16:creationId xmlns:a16="http://schemas.microsoft.com/office/drawing/2014/main" id="{6BFAD0D5-DD63-434C-AADD-510A4F39931F}"/>
              </a:ext>
            </a:extLst>
          </p:cNvPr>
          <p:cNvSpPr>
            <a:spLocks xmlns:a="http://schemas.openxmlformats.org/drawingml/2006/main" noGrp="1"/>
          </p:cNvSpPr>
          <p:nvPr/>
        </p:nvSpPr>
        <p:spPr>
          <a:xfrm xmlns:a="http://schemas.openxmlformats.org/drawingml/2006/main">
            <a:off x="685800" y="3800475"/>
            <a:ext cx="32194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0">
                <a:solidFill>
                  <a:srgbClr val="16323F"/>
                </a:solidFill>
                <a:latin typeface="Arial"/>
                <a:ea typeface="Arial"/>
                <a:cs typeface="Arial"/>
              </a:defRPr>
            </a:pPr>
            <a:r>
              <a:rPr sz="2025" b="0">
                <a:solidFill>
                  <a:srgbClr val="16323F"/>
                </a:solidFill>
                <a:latin typeface="Arial"/>
                <a:ea typeface="Arial"/>
                <a:cs typeface="Arial"/>
              </a:rPr>
              <a:t>Reads text and PDF page images into record proposals.</a:t>
            </a:r>
          </a:p>
        </p:txBody>
      </p:sp>
      <p:sp>
        <p:nvSpPr>
          <p:cNvPr id="7" name="architecture-node-2">
            <a:extLst xmlns:a="http://schemas.openxmlformats.org/drawingml/2006/main">
              <a:ext uri="{FF2B5EF4-FFF2-40B4-BE49-F238E27FC236}">
                <a16:creationId xmlns:a16="http://schemas.microsoft.com/office/drawing/2014/main" id="{960E5E7E-5950-45F7-A769-F0277DA3CC6D}"/>
              </a:ext>
            </a:extLst>
          </p:cNvPr>
          <p:cNvSpPr>
            <a:spLocks xmlns:a="http://schemas.openxmlformats.org/drawingml/2006/main" noGrp="1"/>
          </p:cNvSpPr>
          <p:nvPr/>
        </p:nvSpPr>
        <p:spPr>
          <a:xfrm xmlns:a="http://schemas.openxmlformats.org/drawingml/2006/main">
            <a:off x="4486275" y="2705100"/>
            <a:ext cx="3219450" cy="790575"/>
          </a:xfrm>
          <a:prstGeom xmlns:a="http://schemas.openxmlformats.org/drawingml/2006/main" prst="rect">
            <a:avLst/>
          </a:prstGeom>
          <a:solidFill xmlns:a="http://schemas.openxmlformats.org/drawingml/2006/main">
            <a:srgbClr val="FFF2DC"/>
          </a:solidFill>
          <a:ln xmlns:a="http://schemas.openxmlformats.org/drawingml/2006/main" w="19050">
            <a:solidFill>
              <a:srgbClr val="B87519"/>
            </a:solidFill>
          </a:ln>
        </p:spPr>
        <p:txBody>
          <a:bodyPr xmlns:a="http://schemas.openxmlformats.org/drawingml/2006/main">
            <a:noAutofit/>
          </a:bodyPr>
          <a:lstStyle xmlns:a="http://schemas.openxmlformats.org/drawingml/2006/main"/>
          <a:p xmlns:a="http://schemas.openxmlformats.org/drawingml/2006/main">
            <a:pPr algn="ctr">
              <a:buNone/>
              <a:defRPr sz="2175" b="1">
                <a:solidFill>
                  <a:srgbClr val="B87519"/>
                </a:solidFill>
                <a:latin typeface="Arial"/>
                <a:ea typeface="Arial"/>
                <a:cs typeface="Arial"/>
              </a:defRPr>
            </a:pPr>
            <a:r>
              <a:rPr sz="2175" b="1">
                <a:solidFill>
                  <a:srgbClr val="B87519"/>
                </a:solidFill>
                <a:latin typeface="Arial"/>
                <a:ea typeface="Arial"/>
                <a:cs typeface="Arial"/>
              </a:rPr>
              <a:t>Operator reviews</a:t>
            </a:r>
          </a:p>
        </p:txBody>
      </p:sp>
      <p:sp>
        <p:nvSpPr>
          <p:cNvPr id="8" name="text-41">
            <a:extLst xmlns:a="http://schemas.openxmlformats.org/drawingml/2006/main">
              <a:ext uri="{FF2B5EF4-FFF2-40B4-BE49-F238E27FC236}">
                <a16:creationId xmlns:a16="http://schemas.microsoft.com/office/drawing/2014/main" id="{63C79194-B62F-4339-A086-877F7ED29710}"/>
              </a:ext>
            </a:extLst>
          </p:cNvPr>
          <p:cNvSpPr>
            <a:spLocks xmlns:a="http://schemas.openxmlformats.org/drawingml/2006/main" noGrp="1"/>
          </p:cNvSpPr>
          <p:nvPr/>
        </p:nvSpPr>
        <p:spPr>
          <a:xfrm xmlns:a="http://schemas.openxmlformats.org/drawingml/2006/main">
            <a:off x="4486275" y="3800475"/>
            <a:ext cx="32194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0">
                <a:solidFill>
                  <a:srgbClr val="16323F"/>
                </a:solidFill>
                <a:latin typeface="Arial"/>
                <a:ea typeface="Arial"/>
                <a:cs typeface="Arial"/>
              </a:defRPr>
            </a:pPr>
            <a:r>
              <a:rPr sz="2025" b="0">
                <a:solidFill>
                  <a:srgbClr val="16323F"/>
                </a:solidFill>
                <a:latin typeface="Arial"/>
                <a:ea typeface="Arial"/>
                <a:cs typeface="Arial"/>
              </a:rPr>
              <a:t>Checks evidence and accepts or corrects links.</a:t>
            </a:r>
          </a:p>
        </p:txBody>
      </p:sp>
      <p:sp>
        <p:nvSpPr>
          <p:cNvPr id="9" name="architecture-node-3">
            <a:extLst xmlns:a="http://schemas.openxmlformats.org/drawingml/2006/main">
              <a:ext uri="{FF2B5EF4-FFF2-40B4-BE49-F238E27FC236}">
                <a16:creationId xmlns:a16="http://schemas.microsoft.com/office/drawing/2014/main" id="{266E1728-1AE6-4A13-97FA-918BE33B7589}"/>
              </a:ext>
            </a:extLst>
          </p:cNvPr>
          <p:cNvSpPr>
            <a:spLocks xmlns:a="http://schemas.openxmlformats.org/drawingml/2006/main" noGrp="1"/>
          </p:cNvSpPr>
          <p:nvPr/>
        </p:nvSpPr>
        <p:spPr>
          <a:xfrm xmlns:a="http://schemas.openxmlformats.org/drawingml/2006/main">
            <a:off x="8286750" y="2705100"/>
            <a:ext cx="3219450" cy="790575"/>
          </a:xfrm>
          <a:prstGeom xmlns:a="http://schemas.openxmlformats.org/drawingml/2006/main" prst="rect">
            <a:avLst/>
          </a:prstGeom>
          <a:solidFill xmlns:a="http://schemas.openxmlformats.org/drawingml/2006/main">
            <a:srgbClr val="F2F7F5"/>
          </a:solidFill>
          <a:ln xmlns:a="http://schemas.openxmlformats.org/drawingml/2006/main" w="19050">
            <a:solidFill>
              <a:srgbClr val="006D6D"/>
            </a:solidFill>
          </a:ln>
        </p:spPr>
        <p:txBody>
          <a:bodyPr xmlns:a="http://schemas.openxmlformats.org/drawingml/2006/main">
            <a:noAutofit/>
          </a:bodyPr>
          <a:lstStyle xmlns:a="http://schemas.openxmlformats.org/drawingml/2006/main"/>
          <a:p xmlns:a="http://schemas.openxmlformats.org/drawingml/2006/main">
            <a:pPr algn="ctr">
              <a:buNone/>
              <a:defRPr sz="2175" b="1">
                <a:solidFill>
                  <a:srgbClr val="006D6D"/>
                </a:solidFill>
                <a:latin typeface="Arial"/>
                <a:ea typeface="Arial"/>
                <a:cs typeface="Arial"/>
              </a:defRPr>
            </a:pPr>
            <a:r>
              <a:rPr sz="2175" b="1">
                <a:solidFill>
                  <a:srgbClr val="006D6D"/>
                </a:solidFill>
                <a:latin typeface="Arial"/>
                <a:ea typeface="Arial"/>
                <a:cs typeface="Arial"/>
              </a:rPr>
              <a:t>Code calculates</a:t>
            </a:r>
          </a:p>
        </p:txBody>
      </p:sp>
      <p:sp>
        <p:nvSpPr>
          <p:cNvPr id="10" name="text-42">
            <a:extLst xmlns:a="http://schemas.openxmlformats.org/drawingml/2006/main">
              <a:ext uri="{FF2B5EF4-FFF2-40B4-BE49-F238E27FC236}">
                <a16:creationId xmlns:a16="http://schemas.microsoft.com/office/drawing/2014/main" id="{4973362D-71BB-47F7-8C64-42C8C87952AE}"/>
              </a:ext>
            </a:extLst>
          </p:cNvPr>
          <p:cNvSpPr>
            <a:spLocks xmlns:a="http://schemas.openxmlformats.org/drawingml/2006/main" noGrp="1"/>
          </p:cNvSpPr>
          <p:nvPr/>
        </p:nvSpPr>
        <p:spPr>
          <a:xfrm xmlns:a="http://schemas.openxmlformats.org/drawingml/2006/main">
            <a:off x="8286750" y="3800475"/>
            <a:ext cx="32194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0">
                <a:solidFill>
                  <a:srgbClr val="16323F"/>
                </a:solidFill>
                <a:latin typeface="Arial"/>
                <a:ea typeface="Arial"/>
                <a:cs typeface="Arial"/>
              </a:defRPr>
            </a:pPr>
            <a:r>
              <a:rPr sz="2025" b="0">
                <a:solidFill>
                  <a:srgbClr val="16323F"/>
                </a:solidFill>
                <a:latin typeface="Arial"/>
                <a:ea typeface="Arial"/>
                <a:cs typeface="Arial"/>
              </a:rPr>
              <a:t>Traces accepted links and totals affected deliveries.</a:t>
            </a:r>
          </a:p>
        </p:txBody>
      </p:sp>
      <p:cxnSp>
        <p:nvCxnSpPr>
          <p:cNvPr id="48" name=""/>
          <p:cNvCxnSpPr>
            <a:stCxn xmlns:a="http://schemas.openxmlformats.org/drawingml/2006/main" id="5" idx="3"/>
            <a:endCxn xmlns:a="http://schemas.openxmlformats.org/drawingml/2006/main" id="7" idx="1"/>
          </p:cNvCxnSpPr>
          <p:nvPr/>
        </p:nvCxnSpPr>
        <p:spPr>
          <a:xfrm xmlns:a="http://schemas.openxmlformats.org/drawingml/2006/main">
            <a:off x="3905250" y="3100388"/>
            <a:ext cx="581025" cy="0"/>
          </a:xfrm>
          <a:prstGeom xmlns:a="http://schemas.openxmlformats.org/drawingml/2006/main" prst="straightConnector1">
            <a:avLst/>
          </a:prstGeom>
          <a:ln xmlns:a="http://schemas.openxmlformats.org/drawingml/2006/main" w="19050">
            <a:solidFill>
              <a:srgbClr val="006D6D"/>
            </a:solidFill>
            <a:tailEnd type="triangle" w="sm" len="sm"/>
          </a:ln>
        </p:spPr>
      </p:cxnSp>
      <p:cxnSp>
        <p:nvCxnSpPr>
          <p:cNvPr id="49" name=""/>
          <p:cNvCxnSpPr>
            <a:stCxn xmlns:a="http://schemas.openxmlformats.org/drawingml/2006/main" id="7" idx="3"/>
            <a:endCxn xmlns:a="http://schemas.openxmlformats.org/drawingml/2006/main" id="9" idx="1"/>
          </p:cNvCxnSpPr>
          <p:nvPr/>
        </p:nvCxnSpPr>
        <p:spPr>
          <a:xfrm xmlns:a="http://schemas.openxmlformats.org/drawingml/2006/main">
            <a:off x="7705725" y="3100388"/>
            <a:ext cx="581025" cy="0"/>
          </a:xfrm>
          <a:prstGeom xmlns:a="http://schemas.openxmlformats.org/drawingml/2006/main" prst="straightConnector1">
            <a:avLst/>
          </a:prstGeom>
          <a:ln xmlns:a="http://schemas.openxmlformats.org/drawingml/2006/main" w="19050">
            <a:solidFill>
              <a:srgbClr val="006D6D"/>
            </a:solidFill>
            <a:tailEnd type="triangle" w="sm" len="sm"/>
          </a:ln>
        </p:spPr>
      </p:cxnSp>
      <p:sp>
        <p:nvSpPr>
          <p:cNvPr id="13" name="text-43">
            <a:extLst xmlns:a="http://schemas.openxmlformats.org/drawingml/2006/main">
              <a:ext uri="{FF2B5EF4-FFF2-40B4-BE49-F238E27FC236}">
                <a16:creationId xmlns:a16="http://schemas.microsoft.com/office/drawing/2014/main" id="{C6BB2BD8-AB85-4504-9B5C-A86F80DFE5D8}"/>
              </a:ext>
            </a:extLst>
          </p:cNvPr>
          <p:cNvSpPr>
            <a:spLocks xmlns:a="http://schemas.openxmlformats.org/drawingml/2006/main" noGrp="1"/>
          </p:cNvSpPr>
          <p:nvPr/>
        </p:nvSpPr>
        <p:spPr>
          <a:xfrm xmlns:a="http://schemas.openxmlformats.org/drawingml/2006/main">
            <a:off x="685800" y="53435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6D6D"/>
                </a:solidFill>
                <a:latin typeface="Arial"/>
                <a:ea typeface="Arial"/>
                <a:cs typeface="Arial"/>
              </a:defRPr>
            </a:pPr>
            <a:r>
              <a:rPr sz="2025" b="1">
                <a:solidFill>
                  <a:srgbClr val="006D6D"/>
                </a:solidFill>
                <a:latin typeface="Arial"/>
                <a:ea typeface="Arial"/>
                <a:cs typeface="Arial"/>
              </a:rPr>
              <a:t>Live Fireworks checks on synthetic text and PDF: 3 records each.
Reviewed PDF import: 180 confirmed packs, 0 unresolved.</a:t>
            </a:r>
          </a:p>
        </p:txBody>
      </p:sp>
    </p:spTree>
    <p:extLst>
      <p:ext uri="{BB962C8B-B14F-4D97-AF65-F5344CB8AC3E}">
        <p14:creationId xmlns:p14="http://schemas.microsoft.com/office/powerpoint/2010/main" val="525679561"/>
      </p:ext>
    </p:extLst>
  </p:cSld>
</p:sld>
</file>

<file path=ppt/slides/slide6.xml><?xml version="1.0" encoding="utf-8"?>
<p:sld xmlns:p="http://schemas.openxmlformats.org/presentationml/2006/main">
  <p:cSld>
    <p:bg>
      <p:bgPr>
        <a:solidFill xmlns:a="http://schemas.openxmlformats.org/drawingml/2006/main">
          <a:srgbClr val="0C2834"/>
        </a:solidFill>
      </p:bgPr>
    </p:bg>
    <p:spTree>
      <p:nvGrpSpPr>
        <p:cNvPr id="1" name=""/>
        <p:cNvGrpSpPr/>
        <p:nvPr/>
      </p:nvGrpSpPr>
      <p:grpSpPr>
        <a:xfrm xmlns:a="http://schemas.openxmlformats.org/drawingml/2006/main"/>
      </p:grpSpPr>
      <p:sp>
        <p:nvSpPr>
          <p:cNvPr id="11" name="text-44">
            <a:extLst xmlns:a="http://schemas.openxmlformats.org/drawingml/2006/main">
              <a:ext uri="{FF2B5EF4-FFF2-40B4-BE49-F238E27FC236}">
                <a16:creationId xmlns:a16="http://schemas.microsoft.com/office/drawing/2014/main" id="{5A8DE06E-CB4D-4CA6-99FB-E0B31360EFA0}"/>
              </a:ext>
            </a:extLst>
          </p:cNvPr>
          <p:cNvSpPr>
            <a:spLocks xmlns:a="http://schemas.openxmlformats.org/drawingml/2006/main" noGrp="1"/>
          </p:cNvSpPr>
          <p:nvPr/>
        </p:nvSpPr>
        <p:spPr>
          <a:xfrm xmlns:a="http://schemas.openxmlformats.org/drawingml/2006/main">
            <a:off x="685800" y="5334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600" b="1">
                <a:solidFill>
                  <a:srgbClr val="FFFFFF"/>
                </a:solidFill>
                <a:latin typeface="Arial"/>
                <a:ea typeface="Arial"/>
                <a:cs typeface="Arial"/>
              </a:defRPr>
            </a:pPr>
            <a:r>
              <a:rPr sz="3600" b="1">
                <a:solidFill>
                  <a:srgbClr val="FFFFFF"/>
                </a:solidFill>
                <a:latin typeface="Arial"/>
                <a:ea typeface="Arial"/>
                <a:cs typeface="Arial"/>
              </a:rPr>
              <a:t>A focused buyer and pricing hypothesis</a:t>
            </a:r>
          </a:p>
        </p:txBody>
      </p:sp>
      <p:sp>
        <p:nvSpPr>
          <p:cNvPr id="2" name="text-45">
            <a:extLst xmlns:a="http://schemas.openxmlformats.org/drawingml/2006/main">
              <a:ext uri="{FF2B5EF4-FFF2-40B4-BE49-F238E27FC236}">
                <a16:creationId xmlns:a16="http://schemas.microsoft.com/office/drawing/2014/main" id="{7DCD32A1-4CAC-440C-8BC8-44425C78FEEA}"/>
              </a:ext>
            </a:extLst>
          </p:cNvPr>
          <p:cNvSpPr>
            <a:spLocks xmlns:a="http://schemas.openxmlformats.org/drawingml/2006/main" noGrp="1"/>
          </p:cNvSpPr>
          <p:nvPr/>
        </p:nvSpPr>
        <p:spPr>
          <a:xfrm xmlns:a="http://schemas.openxmlformats.org/drawingml/2006/main">
            <a:off x="685800" y="6381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75" b="0">
                <a:solidFill>
                  <a:srgbClr val="9CDED0"/>
                </a:solidFill>
                <a:latin typeface="Arial"/>
                <a:ea typeface="Arial"/>
                <a:cs typeface="Arial"/>
              </a:defRPr>
            </a:pPr>
            <a:r>
              <a:rPr sz="1275" b="0">
                <a:solidFill>
                  <a:srgbClr val="9CDED0"/>
                </a:solidFill>
                <a:latin typeface="Arial"/>
                <a:ea typeface="Arial"/>
                <a:cs typeface="Arial"/>
              </a:rPr>
              <a:t>RecallScope</a:t>
            </a:r>
          </a:p>
        </p:txBody>
      </p:sp>
      <p:sp>
        <p:nvSpPr>
          <p:cNvPr id="3" name="text-46">
            <a:extLst xmlns:a="http://schemas.openxmlformats.org/drawingml/2006/main">
              <a:ext uri="{FF2B5EF4-FFF2-40B4-BE49-F238E27FC236}">
                <a16:creationId xmlns:a16="http://schemas.microsoft.com/office/drawing/2014/main" id="{B5FFA655-C607-4BFC-9F11-8F0BCC8D56CF}"/>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275" b="0">
                <a:solidFill>
                  <a:srgbClr val="9CDED0"/>
                </a:solidFill>
                <a:latin typeface="Arial"/>
                <a:ea typeface="Arial"/>
                <a:cs typeface="Arial"/>
              </a:defRPr>
            </a:pPr>
            <a:r>
              <a:rPr sz="1275" b="0">
                <a:solidFill>
                  <a:srgbClr val="9CDED0"/>
                </a:solidFill>
                <a:latin typeface="Arial"/>
                <a:ea typeface="Arial"/>
                <a:cs typeface="Arial"/>
              </a:rPr>
              <a:t>06</a:t>
            </a:r>
          </a:p>
        </p:txBody>
      </p:sp>
      <p:sp>
        <p:nvSpPr>
          <p:cNvPr id="4" name="text-47">
            <a:extLst xmlns:a="http://schemas.openxmlformats.org/drawingml/2006/main">
              <a:ext uri="{FF2B5EF4-FFF2-40B4-BE49-F238E27FC236}">
                <a16:creationId xmlns:a16="http://schemas.microsoft.com/office/drawing/2014/main" id="{4EC216D6-278F-45F2-9BEC-8084550735D9}"/>
              </a:ext>
            </a:extLst>
          </p:cNvPr>
          <p:cNvSpPr>
            <a:spLocks xmlns:a="http://schemas.openxmlformats.org/drawingml/2006/main" noGrp="1"/>
          </p:cNvSpPr>
          <p:nvPr/>
        </p:nvSpPr>
        <p:spPr>
          <a:xfrm xmlns:a="http://schemas.openxmlformats.org/drawingml/2006/main">
            <a:off x="685800" y="2009775"/>
            <a:ext cx="10763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6225" b="1">
                <a:solidFill>
                  <a:srgbClr val="FFFFFF"/>
                </a:solidFill>
                <a:latin typeface="Arial"/>
                <a:ea typeface="Arial"/>
                <a:cs typeface="Arial"/>
              </a:defRPr>
            </a:pPr>
            <a:r>
              <a:rPr sz="6225" b="1">
                <a:solidFill>
                  <a:srgbClr val="FFFFFF"/>
                </a:solidFill>
                <a:latin typeface="Arial"/>
                <a:ea typeface="Arial"/>
                <a:cs typeface="Arial"/>
              </a:rPr>
              <a:t>₹3,000–10,000</a:t>
            </a:r>
          </a:p>
        </p:txBody>
      </p:sp>
      <p:sp>
        <p:nvSpPr>
          <p:cNvPr id="5" name="text-48">
            <a:extLst xmlns:a="http://schemas.openxmlformats.org/drawingml/2006/main">
              <a:ext uri="{FF2B5EF4-FFF2-40B4-BE49-F238E27FC236}">
                <a16:creationId xmlns:a16="http://schemas.microsoft.com/office/drawing/2014/main" id="{0A11C173-4EB9-4D8F-BFA2-67F274DDD631}"/>
              </a:ext>
            </a:extLst>
          </p:cNvPr>
          <p:cNvSpPr>
            <a:spLocks xmlns:a="http://schemas.openxmlformats.org/drawingml/2006/main" noGrp="1"/>
          </p:cNvSpPr>
          <p:nvPr/>
        </p:nvSpPr>
        <p:spPr>
          <a:xfrm xmlns:a="http://schemas.openxmlformats.org/drawingml/2006/main">
            <a:off x="733425" y="3276600"/>
            <a:ext cx="857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550" b="0">
                <a:solidFill>
                  <a:srgbClr val="9CDED0"/>
                </a:solidFill>
                <a:latin typeface="Arial"/>
                <a:ea typeface="Arial"/>
                <a:cs typeface="Arial"/>
              </a:defRPr>
            </a:pPr>
            <a:r>
              <a:rPr sz="2550" b="0">
                <a:solidFill>
                  <a:srgbClr val="9CDED0"/>
                </a:solidFill>
                <a:latin typeface="Arial"/>
                <a:ea typeface="Arial"/>
                <a:cs typeface="Arial"/>
              </a:rPr>
              <a:t>per site per month</a:t>
            </a:r>
          </a:p>
        </p:txBody>
      </p:sp>
      <p:sp>
        <p:nvSpPr>
          <p:cNvPr id="6" name="text-49">
            <a:extLst xmlns:a="http://schemas.openxmlformats.org/drawingml/2006/main">
              <a:ext uri="{FF2B5EF4-FFF2-40B4-BE49-F238E27FC236}">
                <a16:creationId xmlns:a16="http://schemas.microsoft.com/office/drawing/2014/main" id="{CD423B72-0059-4892-A3ED-0ACE75955B35}"/>
              </a:ext>
            </a:extLst>
          </p:cNvPr>
          <p:cNvSpPr>
            <a:spLocks xmlns:a="http://schemas.openxmlformats.org/drawingml/2006/main" noGrp="1"/>
          </p:cNvSpPr>
          <p:nvPr/>
        </p:nvSpPr>
        <p:spPr>
          <a:xfrm xmlns:a="http://schemas.openxmlformats.org/drawingml/2006/main">
            <a:off x="733425" y="3962400"/>
            <a:ext cx="885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E9B864"/>
                </a:solidFill>
                <a:latin typeface="Arial"/>
                <a:ea typeface="Arial"/>
                <a:cs typeface="Arial"/>
              </a:defRPr>
            </a:pPr>
            <a:r>
              <a:rPr sz="1950" b="0">
                <a:solidFill>
                  <a:srgbClr val="E9B864"/>
                </a:solidFill>
                <a:latin typeface="Arial"/>
                <a:ea typeface="Arial"/>
                <a:cs typeface="Arial"/>
              </a:rPr>
              <a:t>Proposed range to test with buyers</a:t>
            </a:r>
          </a:p>
        </p:txBody>
      </p:sp>
      <p:sp>
        <p:nvSpPr>
          <p:cNvPr id="7" name="text-50">
            <a:extLst xmlns:a="http://schemas.openxmlformats.org/drawingml/2006/main">
              <a:ext uri="{FF2B5EF4-FFF2-40B4-BE49-F238E27FC236}">
                <a16:creationId xmlns:a16="http://schemas.microsoft.com/office/drawing/2014/main" id="{8804C1D7-F2CD-4803-B77A-FE07A843744D}"/>
              </a:ext>
            </a:extLst>
          </p:cNvPr>
          <p:cNvSpPr>
            <a:spLocks xmlns:a="http://schemas.openxmlformats.org/drawingml/2006/main" noGrp="1"/>
          </p:cNvSpPr>
          <p:nvPr/>
        </p:nvSpPr>
        <p:spPr>
          <a:xfrm xmlns:a="http://schemas.openxmlformats.org/drawingml/2006/main">
            <a:off x="733425" y="4886325"/>
            <a:ext cx="2905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1">
                <a:solidFill>
                  <a:srgbClr val="9CDED0"/>
                </a:solidFill>
                <a:latin typeface="Arial"/>
                <a:ea typeface="Arial"/>
                <a:cs typeface="Arial"/>
              </a:defRPr>
            </a:pPr>
            <a:r>
              <a:rPr sz="1875" b="1">
                <a:solidFill>
                  <a:srgbClr val="9CDED0"/>
                </a:solidFill>
                <a:latin typeface="Arial"/>
                <a:ea typeface="Arial"/>
                <a:cs typeface="Arial"/>
              </a:rPr>
              <a:t>Buyer</a:t>
            </a:r>
          </a:p>
        </p:txBody>
      </p:sp>
      <p:sp>
        <p:nvSpPr>
          <p:cNvPr id="8" name="text-51">
            <a:extLst xmlns:a="http://schemas.openxmlformats.org/drawingml/2006/main">
              <a:ext uri="{FF2B5EF4-FFF2-40B4-BE49-F238E27FC236}">
                <a16:creationId xmlns:a16="http://schemas.microsoft.com/office/drawing/2014/main" id="{12F9F252-0A7E-4787-8B62-2FC97C5DD460}"/>
              </a:ext>
            </a:extLst>
          </p:cNvPr>
          <p:cNvSpPr>
            <a:spLocks xmlns:a="http://schemas.openxmlformats.org/drawingml/2006/main" noGrp="1"/>
          </p:cNvSpPr>
          <p:nvPr/>
        </p:nvSpPr>
        <p:spPr>
          <a:xfrm xmlns:a="http://schemas.openxmlformats.org/drawingml/2006/main">
            <a:off x="733425" y="5343525"/>
            <a:ext cx="5048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00" b="0">
                <a:solidFill>
                  <a:srgbClr val="FFFFFF"/>
                </a:solidFill>
                <a:latin typeface="Arial"/>
                <a:ea typeface="Arial"/>
                <a:cs typeface="Arial"/>
              </a:defRPr>
            </a:pPr>
            <a:r>
              <a:rPr sz="2100" b="0">
                <a:solidFill>
                  <a:srgbClr val="FFFFFF"/>
                </a:solidFill>
                <a:latin typeface="Arial"/>
                <a:ea typeface="Arial"/>
                <a:cs typeface="Arial"/>
              </a:rPr>
              <a:t>Quality or operations lead</a:t>
            </a:r>
          </a:p>
        </p:txBody>
      </p:sp>
      <p:sp>
        <p:nvSpPr>
          <p:cNvPr id="9" name="text-52">
            <a:extLst xmlns:a="http://schemas.openxmlformats.org/drawingml/2006/main">
              <a:ext uri="{FF2B5EF4-FFF2-40B4-BE49-F238E27FC236}">
                <a16:creationId xmlns:a16="http://schemas.microsoft.com/office/drawing/2014/main" id="{A237156E-9F97-4C15-B56E-E254FE7F36E9}"/>
              </a:ext>
            </a:extLst>
          </p:cNvPr>
          <p:cNvSpPr>
            <a:spLocks xmlns:a="http://schemas.openxmlformats.org/drawingml/2006/main" noGrp="1"/>
          </p:cNvSpPr>
          <p:nvPr/>
        </p:nvSpPr>
        <p:spPr>
          <a:xfrm xmlns:a="http://schemas.openxmlformats.org/drawingml/2006/main">
            <a:off x="6429375" y="4886325"/>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1">
                <a:solidFill>
                  <a:srgbClr val="9CDED0"/>
                </a:solidFill>
                <a:latin typeface="Arial"/>
                <a:ea typeface="Arial"/>
                <a:cs typeface="Arial"/>
              </a:defRPr>
            </a:pPr>
            <a:r>
              <a:rPr sz="1875" b="1">
                <a:solidFill>
                  <a:srgbClr val="9CDED0"/>
                </a:solidFill>
                <a:latin typeface="Arial"/>
                <a:ea typeface="Arial"/>
                <a:cs typeface="Arial"/>
              </a:rPr>
              <a:t>First offer</a:t>
            </a:r>
          </a:p>
        </p:txBody>
      </p:sp>
      <p:sp>
        <p:nvSpPr>
          <p:cNvPr id="10" name="text-53">
            <a:extLst xmlns:a="http://schemas.openxmlformats.org/drawingml/2006/main">
              <a:ext uri="{FF2B5EF4-FFF2-40B4-BE49-F238E27FC236}">
                <a16:creationId xmlns:a16="http://schemas.microsoft.com/office/drawing/2014/main" id="{192FDDD5-2377-4DBA-A6B7-1EE646FB7B2E}"/>
              </a:ext>
            </a:extLst>
          </p:cNvPr>
          <p:cNvSpPr>
            <a:spLocks xmlns:a="http://schemas.openxmlformats.org/drawingml/2006/main" noGrp="1"/>
          </p:cNvSpPr>
          <p:nvPr/>
        </p:nvSpPr>
        <p:spPr>
          <a:xfrm xmlns:a="http://schemas.openxmlformats.org/drawingml/2006/main">
            <a:off x="6429375" y="5343525"/>
            <a:ext cx="50577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00" b="0">
                <a:solidFill>
                  <a:srgbClr val="FFFFFF"/>
                </a:solidFill>
                <a:latin typeface="Arial"/>
                <a:ea typeface="Arial"/>
                <a:cs typeface="Arial"/>
              </a:defRPr>
            </a:pPr>
            <a:r>
              <a:rPr sz="2100" b="0">
                <a:solidFill>
                  <a:srgbClr val="FFFFFF"/>
                </a:solidFill>
                <a:latin typeface="Arial"/>
                <a:ea typeface="Arial"/>
                <a:cs typeface="Arial"/>
              </a:rPr>
              <a:t>A guided recall drill with an evidence report</a:t>
            </a:r>
          </a:p>
        </p:txBody>
      </p:sp>
    </p:spTree>
    <p:extLst>
      <p:ext uri="{BB962C8B-B14F-4D97-AF65-F5344CB8AC3E}">
        <p14:creationId xmlns:p14="http://schemas.microsoft.com/office/powerpoint/2010/main" val="14858511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54">
            <a:extLst xmlns:a="http://schemas.openxmlformats.org/drawingml/2006/main">
              <a:ext uri="{FF2B5EF4-FFF2-40B4-BE49-F238E27FC236}">
                <a16:creationId xmlns:a16="http://schemas.microsoft.com/office/drawing/2014/main" id="{766CA229-0C2F-47BA-B510-68A405A18D79}"/>
              </a:ext>
            </a:extLst>
          </p:cNvPr>
          <p:cNvSpPr>
            <a:spLocks xmlns:a="http://schemas.openxmlformats.org/drawingml/2006/main" noGrp="1"/>
          </p:cNvSpPr>
          <p:nvPr/>
        </p:nvSpPr>
        <p:spPr>
          <a:xfrm xmlns:a="http://schemas.openxmlformats.org/drawingml/2006/main">
            <a:off x="685800" y="5334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600" b="1">
                <a:solidFill>
                  <a:srgbClr val="16323F"/>
                </a:solidFill>
                <a:latin typeface="Arial"/>
                <a:ea typeface="Arial"/>
                <a:cs typeface="Arial"/>
              </a:defRPr>
            </a:pPr>
            <a:r>
              <a:rPr sz="3600" b="1">
                <a:solidFill>
                  <a:srgbClr val="16323F"/>
                </a:solidFill>
                <a:latin typeface="Arial"/>
                <a:ea typeface="Arial"/>
                <a:cs typeface="Arial"/>
              </a:rPr>
              <a:t>Pilot validation</a:t>
            </a:r>
          </a:p>
        </p:txBody>
      </p:sp>
      <p:sp>
        <p:nvSpPr>
          <p:cNvPr id="2" name="text-55">
            <a:extLst xmlns:a="http://schemas.openxmlformats.org/drawingml/2006/main">
              <a:ext uri="{FF2B5EF4-FFF2-40B4-BE49-F238E27FC236}">
                <a16:creationId xmlns:a16="http://schemas.microsoft.com/office/drawing/2014/main" id="{40076F88-02AE-469B-89D0-A0C497EBED32}"/>
              </a:ext>
            </a:extLst>
          </p:cNvPr>
          <p:cNvSpPr>
            <a:spLocks xmlns:a="http://schemas.openxmlformats.org/drawingml/2006/main" noGrp="1"/>
          </p:cNvSpPr>
          <p:nvPr/>
        </p:nvSpPr>
        <p:spPr>
          <a:xfrm xmlns:a="http://schemas.openxmlformats.org/drawingml/2006/main">
            <a:off x="685800" y="1362075"/>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0">
                <a:solidFill>
                  <a:srgbClr val="58717A"/>
                </a:solidFill>
                <a:latin typeface="Arial"/>
                <a:ea typeface="Arial"/>
                <a:cs typeface="Arial"/>
              </a:defRPr>
            </a:pPr>
            <a:r>
              <a:rPr sz="1875" b="0">
                <a:solidFill>
                  <a:srgbClr val="58717A"/>
                </a:solidFill>
                <a:latin typeface="Arial"/>
                <a:ea typeface="Arial"/>
                <a:cs typeface="Arial"/>
              </a:rPr>
              <a:t>Next: compare manual and RecallScope drills on manufacturer records</a:t>
            </a:r>
          </a:p>
        </p:txBody>
      </p:sp>
      <p:sp>
        <p:nvSpPr>
          <p:cNvPr id="3" name="text-56">
            <a:extLst xmlns:a="http://schemas.openxmlformats.org/drawingml/2006/main">
              <a:ext uri="{FF2B5EF4-FFF2-40B4-BE49-F238E27FC236}">
                <a16:creationId xmlns:a16="http://schemas.microsoft.com/office/drawing/2014/main" id="{03D48801-2347-4CA4-9284-3FDC3201B35D}"/>
              </a:ext>
            </a:extLst>
          </p:cNvPr>
          <p:cNvSpPr>
            <a:spLocks xmlns:a="http://schemas.openxmlformats.org/drawingml/2006/main" noGrp="1"/>
          </p:cNvSpPr>
          <p:nvPr/>
        </p:nvSpPr>
        <p:spPr>
          <a:xfrm xmlns:a="http://schemas.openxmlformats.org/drawingml/2006/main">
            <a:off x="685800" y="6381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75" b="0">
                <a:solidFill>
                  <a:srgbClr val="58717A"/>
                </a:solidFill>
                <a:latin typeface="Arial"/>
                <a:ea typeface="Arial"/>
                <a:cs typeface="Arial"/>
              </a:defRPr>
            </a:pPr>
            <a:r>
              <a:rPr sz="1275" b="0">
                <a:solidFill>
                  <a:srgbClr val="58717A"/>
                </a:solidFill>
                <a:latin typeface="Arial"/>
                <a:ea typeface="Arial"/>
                <a:cs typeface="Arial"/>
              </a:rPr>
              <a:t>RecallScope</a:t>
            </a:r>
          </a:p>
        </p:txBody>
      </p:sp>
      <p:sp>
        <p:nvSpPr>
          <p:cNvPr id="4" name="text-57">
            <a:extLst xmlns:a="http://schemas.openxmlformats.org/drawingml/2006/main">
              <a:ext uri="{FF2B5EF4-FFF2-40B4-BE49-F238E27FC236}">
                <a16:creationId xmlns:a16="http://schemas.microsoft.com/office/drawing/2014/main" id="{9902654C-9852-45A7-883B-1FAA27E1D6CA}"/>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275" b="0">
                <a:solidFill>
                  <a:srgbClr val="58717A"/>
                </a:solidFill>
                <a:latin typeface="Arial"/>
                <a:ea typeface="Arial"/>
                <a:cs typeface="Arial"/>
              </a:defRPr>
            </a:pPr>
            <a:r>
              <a:rPr sz="1275" b="0">
                <a:solidFill>
                  <a:srgbClr val="58717A"/>
                </a:solidFill>
                <a:latin typeface="Arial"/>
                <a:ea typeface="Arial"/>
                <a:cs typeface="Arial"/>
              </a:rPr>
              <a:t>07</a:t>
            </a:r>
          </a:p>
        </p:txBody>
      </p:sp>
      <p:graphicFrame>
        <p:nvGraphicFramePr>
          <p:cNvPr id="13" name=""/>
          <p:cNvGraphicFramePr/>
          <p:nvPr/>
        </p:nvGraphicFramePr>
        <p:xfrm>
          <a:off xmlns:a="http://schemas.openxmlformats.org/drawingml/2006/main" x="685800" y="2190750"/>
          <a:ext xmlns:a="http://schemas.openxmlformats.org/drawingml/2006/main" cx="10820400" cy="3067050"/>
        </p:xfrm>
        <a:graphic xmlns:a="http://schemas.openxmlformats.org/drawingml/2006/main">
          <a:graphicData uri="http://schemas.openxmlformats.org/drawingml/2006/table">
            <a:tbl>
              <a:tblPr firstRow="0" bandRow="0"/>
              <a:tblGrid>
                <a:gridCol w="5410200"/>
                <a:gridCol w="5410200"/>
              </a:tblGrid>
              <a:tr h="613410">
                <a:tc>
                  <a:txBody>
                    <a:bodyPr>
                      <a:noAutofit/>
                    </a:bodyPr>
                    <a:lstStyle/>
                    <a:p>
                      <a:pPr algn="l">
                        <a:buNone/>
                      </a:pPr>
                      <a:r>
                        <a:rPr sz="1725" b="1">
                          <a:solidFill>
                            <a:srgbClr val="FFFFFF"/>
                          </a:solidFill>
                          <a:latin typeface="Arial"/>
                          <a:ea typeface="Arial"/>
                          <a:cs typeface="Arial"/>
                        </a:rPr>
                        <a:t>Question</a:t>
                      </a:r>
                    </a:p>
                  </a:txBody>
                  <a:tcPr marL="91440" marR="91440" marT="45720" marB="45720">
                    <a:solidFill>
                      <a:srgbClr val="0C2834"/>
                    </a:solidFill>
                  </a:tcPr>
                </a:tc>
                <a:tc>
                  <a:txBody>
                    <a:bodyPr>
                      <a:noAutofit/>
                    </a:bodyPr>
                    <a:lstStyle/>
                    <a:p>
                      <a:pPr algn="ctr">
                        <a:buNone/>
                      </a:pPr>
                      <a:r>
                        <a:rPr sz="1725" b="1">
                          <a:solidFill>
                            <a:srgbClr val="FFFFFF"/>
                          </a:solidFill>
                          <a:latin typeface="Arial"/>
                          <a:ea typeface="Arial"/>
                          <a:cs typeface="Arial"/>
                        </a:rPr>
                        <a:t>What we measure</a:t>
                      </a:r>
                    </a:p>
                  </a:txBody>
                  <a:tcPr marL="91440" marR="91440" marT="45720" marB="45720">
                    <a:solidFill>
                      <a:srgbClr val="0C2834"/>
                    </a:solidFill>
                  </a:tcPr>
                </a:tc>
              </a:tr>
              <a:tr h="613410">
                <a:tc>
                  <a:txBody>
                    <a:bodyPr>
                      <a:noAutofit/>
                    </a:bodyPr>
                    <a:lstStyle/>
                    <a:p>
                      <a:pPr algn="l">
                        <a:buNone/>
                      </a:pPr>
                      <a:r>
                        <a:rPr sz="2175" b="0">
                          <a:solidFill>
                            <a:srgbClr val="16323F"/>
                          </a:solidFill>
                          <a:latin typeface="Arial"/>
                          <a:ea typeface="Arial"/>
                          <a:cs typeface="Arial"/>
                        </a:rPr>
                        <a:t>Does the scope match the records?</a:t>
                      </a:r>
                    </a:p>
                  </a:txBody>
                  <a:tcPr marL="91440" marR="91440" marT="45720" marB="45720">
                    <a:solidFill>
                      <a:srgbClr val="F2F7F5"/>
                    </a:solidFill>
                  </a:tcPr>
                </a:tc>
                <a:tc>
                  <a:txBody>
                    <a:bodyPr>
                      <a:noAutofit/>
                    </a:bodyPr>
                    <a:lstStyle/>
                    <a:p>
                      <a:pPr algn="ctr">
                        <a:buNone/>
                      </a:pPr>
                      <a:r>
                        <a:rPr sz="2175" b="1">
                          <a:solidFill>
                            <a:srgbClr val="16323F"/>
                          </a:solidFill>
                          <a:latin typeface="Arial"/>
                          <a:ea typeface="Arial"/>
                          <a:cs typeface="Arial"/>
                        </a:rPr>
                        <a:t>Affected batch and delivery coverage</a:t>
                      </a:r>
                    </a:p>
                  </a:txBody>
                  <a:tcPr marL="91440" marR="91440" marT="45720" marB="45720">
                    <a:solidFill>
                      <a:srgbClr val="F2F7F5"/>
                    </a:solidFill>
                  </a:tcPr>
                </a:tc>
              </a:tr>
              <a:tr h="613410">
                <a:tc>
                  <a:txBody>
                    <a:bodyPr>
                      <a:noAutofit/>
                    </a:bodyPr>
                    <a:lstStyle/>
                    <a:p>
                      <a:pPr algn="l">
                        <a:buNone/>
                      </a:pPr>
                      <a:r>
                        <a:rPr sz="2175" b="0">
                          <a:solidFill>
                            <a:srgbClr val="16323F"/>
                          </a:solidFill>
                          <a:latin typeface="Arial"/>
                          <a:ea typeface="Arial"/>
                          <a:cs typeface="Arial"/>
                        </a:rPr>
                        <a:t>Does the report expose gaps?</a:t>
                      </a:r>
                    </a:p>
                  </a:txBody>
                  <a:tcPr marL="91440" marR="91440" marT="45720" marB="45720">
                    <a:solidFill>
                      <a:srgbClr val="FFFFFF"/>
                    </a:solidFill>
                  </a:tcPr>
                </a:tc>
                <a:tc>
                  <a:txBody>
                    <a:bodyPr>
                      <a:noAutofit/>
                    </a:bodyPr>
                    <a:lstStyle/>
                    <a:p>
                      <a:pPr algn="ctr">
                        <a:buNone/>
                      </a:pPr>
                      <a:r>
                        <a:rPr sz="2175" b="1">
                          <a:solidFill>
                            <a:srgbClr val="16323F"/>
                          </a:solidFill>
                          <a:latin typeface="Arial"/>
                          <a:ea typeface="Arial"/>
                          <a:cs typeface="Arial"/>
                        </a:rPr>
                        <a:t>Missing and ambiguous links surfaced</a:t>
                      </a:r>
                    </a:p>
                  </a:txBody>
                  <a:tcPr marL="91440" marR="91440" marT="45720" marB="45720">
                    <a:solidFill>
                      <a:srgbClr val="FFFFFF"/>
                    </a:solidFill>
                  </a:tcPr>
                </a:tc>
              </a:tr>
              <a:tr h="613410">
                <a:tc>
                  <a:txBody>
                    <a:bodyPr>
                      <a:noAutofit/>
                    </a:bodyPr>
                    <a:lstStyle/>
                    <a:p>
                      <a:pPr algn="l">
                        <a:buNone/>
                      </a:pPr>
                      <a:r>
                        <a:rPr sz="2175" b="0">
                          <a:solidFill>
                            <a:srgbClr val="16323F"/>
                          </a:solidFill>
                          <a:latin typeface="Arial"/>
                          <a:ea typeface="Arial"/>
                          <a:cs typeface="Arial"/>
                        </a:rPr>
                        <a:t>How much review does it need?</a:t>
                      </a:r>
                    </a:p>
                  </a:txBody>
                  <a:tcPr marL="91440" marR="91440" marT="45720" marB="45720">
                    <a:solidFill>
                      <a:srgbClr val="F2F7F5"/>
                    </a:solidFill>
                  </a:tcPr>
                </a:tc>
                <a:tc>
                  <a:txBody>
                    <a:bodyPr>
                      <a:noAutofit/>
                    </a:bodyPr>
                    <a:lstStyle/>
                    <a:p>
                      <a:pPr algn="ctr">
                        <a:buNone/>
                      </a:pPr>
                      <a:r>
                        <a:rPr sz="2175" b="1">
                          <a:solidFill>
                            <a:srgbClr val="16323F"/>
                          </a:solidFill>
                          <a:latin typeface="Arial"/>
                          <a:ea typeface="Arial"/>
                          <a:cs typeface="Arial"/>
                        </a:rPr>
                        <a:t>Corrections and operator review effort</a:t>
                      </a:r>
                    </a:p>
                  </a:txBody>
                  <a:tcPr marL="91440" marR="91440" marT="45720" marB="45720">
                    <a:solidFill>
                      <a:srgbClr val="F2F7F5"/>
                    </a:solidFill>
                  </a:tcPr>
                </a:tc>
              </a:tr>
              <a:tr h="613410">
                <a:tc>
                  <a:txBody>
                    <a:bodyPr>
                      <a:noAutofit/>
                    </a:bodyPr>
                    <a:lstStyle/>
                    <a:p>
                      <a:pPr algn="l">
                        <a:buNone/>
                      </a:pPr>
                      <a:r>
                        <a:rPr sz="2175" b="0">
                          <a:solidFill>
                            <a:srgbClr val="16323F"/>
                          </a:solidFill>
                          <a:latin typeface="Arial"/>
                          <a:ea typeface="Arial"/>
                          <a:cs typeface="Arial"/>
                        </a:rPr>
                        <a:t>Does the workflow help the team?</a:t>
                      </a:r>
                    </a:p>
                  </a:txBody>
                  <a:tcPr marL="91440" marR="91440" marT="45720" marB="45720">
                    <a:solidFill>
                      <a:srgbClr val="FFFFFF"/>
                    </a:solidFill>
                  </a:tcPr>
                </a:tc>
                <a:tc>
                  <a:txBody>
                    <a:bodyPr>
                      <a:noAutofit/>
                    </a:bodyPr>
                    <a:lstStyle/>
                    <a:p>
                      <a:pPr algn="ctr">
                        <a:buNone/>
                      </a:pPr>
                      <a:r>
                        <a:rPr sz="2175" b="1">
                          <a:solidFill>
                            <a:srgbClr val="16323F"/>
                          </a:solidFill>
                          <a:latin typeface="Arial"/>
                          <a:ea typeface="Arial"/>
                          <a:cs typeface="Arial"/>
                        </a:rPr>
                        <a:t>Completion time and willingness to pay</a:t>
                      </a:r>
                    </a:p>
                  </a:txBody>
                  <a:tcPr marL="91440" marR="91440" marT="45720" marB="45720">
                    <a:solidFill>
                      <a:srgbClr val="FFFFFF"/>
                    </a:solidFill>
                  </a:tcPr>
                </a:tc>
              </a:tr>
            </a:tbl>
          </a:graphicData>
        </a:graphic>
      </p:graphicFrame>
      <p:sp>
        <p:nvSpPr>
          <p:cNvPr id="6" name="text-58">
            <a:extLst xmlns:a="http://schemas.openxmlformats.org/drawingml/2006/main">
              <a:ext uri="{FF2B5EF4-FFF2-40B4-BE49-F238E27FC236}">
                <a16:creationId xmlns:a16="http://schemas.microsoft.com/office/drawing/2014/main" id="{F5105D54-B89F-4410-823B-1098C0773A0A}"/>
              </a:ext>
            </a:extLst>
          </p:cNvPr>
          <p:cNvSpPr>
            <a:spLocks xmlns:a="http://schemas.openxmlformats.org/drawingml/2006/main" noGrp="1"/>
          </p:cNvSpPr>
          <p:nvPr/>
        </p:nvSpPr>
        <p:spPr>
          <a:xfrm xmlns:a="http://schemas.openxmlformats.org/drawingml/2006/main">
            <a:off x="685800" y="547687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00" b="1">
                <a:solidFill>
                  <a:srgbClr val="006D6D"/>
                </a:solidFill>
                <a:latin typeface="Arial"/>
                <a:ea typeface="Arial"/>
                <a:cs typeface="Arial"/>
              </a:defRPr>
            </a:pPr>
            <a:r>
              <a:rPr sz="2100" b="1">
                <a:solidFill>
                  <a:srgbClr val="006D6D"/>
                </a:solidFill>
                <a:latin typeface="Arial"/>
                <a:ea typeface="Arial"/>
                <a:cs typeface="Arial"/>
              </a:rPr>
              <a:t>Manufacturer pilots, public deployment and the final video remain pending.</a:t>
            </a:r>
          </a:p>
        </p:txBody>
      </p:sp>
    </p:spTree>
    <p:extLst>
      <p:ext uri="{BB962C8B-B14F-4D97-AF65-F5344CB8AC3E}">
        <p14:creationId xmlns:p14="http://schemas.microsoft.com/office/powerpoint/2010/main" val="619848806"/>
      </p:ext>
    </p:extLst>
  </p:cSld>
</p:sld>
</file>

<file path=ppt/slides/slide8.xml><?xml version="1.0" encoding="utf-8"?>
<p:sld xmlns:p="http://schemas.openxmlformats.org/presentationml/2006/main">
  <p:cSld>
    <p:bg>
      <p:bgPr>
        <a:solidFill xmlns:a="http://schemas.openxmlformats.org/drawingml/2006/main">
          <a:srgbClr val="0C2834"/>
        </a:solidFill>
      </p:bgPr>
    </p:bg>
    <p:spTree>
      <p:nvGrpSpPr>
        <p:cNvPr id="1" name=""/>
        <p:cNvGrpSpPr/>
        <p:nvPr/>
      </p:nvGrpSpPr>
      <p:grpSpPr>
        <a:xfrm xmlns:a="http://schemas.openxmlformats.org/drawingml/2006/main"/>
      </p:grpSpPr>
      <p:sp>
        <p:nvSpPr>
          <p:cNvPr id="7" name="text-59">
            <a:extLst xmlns:a="http://schemas.openxmlformats.org/drawingml/2006/main">
              <a:ext uri="{FF2B5EF4-FFF2-40B4-BE49-F238E27FC236}">
                <a16:creationId xmlns:a16="http://schemas.microsoft.com/office/drawing/2014/main" id="{C1C6630F-758A-411B-A9D4-B1EF2E95FEB3}"/>
              </a:ext>
            </a:extLst>
          </p:cNvPr>
          <p:cNvSpPr>
            <a:spLocks xmlns:a="http://schemas.openxmlformats.org/drawingml/2006/main" noGrp="1"/>
          </p:cNvSpPr>
          <p:nvPr/>
        </p:nvSpPr>
        <p:spPr>
          <a:xfrm xmlns:a="http://schemas.openxmlformats.org/drawingml/2006/main">
            <a:off x="685800" y="53340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600" b="1">
                <a:solidFill>
                  <a:srgbClr val="FFFFFF"/>
                </a:solidFill>
                <a:latin typeface="Arial"/>
                <a:ea typeface="Arial"/>
                <a:cs typeface="Arial"/>
              </a:defRPr>
            </a:pPr>
            <a:r>
              <a:rPr sz="3600" b="1">
                <a:solidFill>
                  <a:srgbClr val="FFFFFF"/>
                </a:solidFill>
                <a:latin typeface="Arial"/>
                <a:ea typeface="Arial"/>
                <a:cs typeface="Arial"/>
              </a:rPr>
              <a:t>Seeking one pilot manufacturer</a:t>
            </a:r>
          </a:p>
        </p:txBody>
      </p:sp>
      <p:sp>
        <p:nvSpPr>
          <p:cNvPr id="2" name="text-60">
            <a:extLst xmlns:a="http://schemas.openxmlformats.org/drawingml/2006/main">
              <a:ext uri="{FF2B5EF4-FFF2-40B4-BE49-F238E27FC236}">
                <a16:creationId xmlns:a16="http://schemas.microsoft.com/office/drawing/2014/main" id="{3F514630-AE7A-4CCA-9DDF-BB25F0974BCB}"/>
              </a:ext>
            </a:extLst>
          </p:cNvPr>
          <p:cNvSpPr>
            <a:spLocks xmlns:a="http://schemas.openxmlformats.org/drawingml/2006/main" noGrp="1"/>
          </p:cNvSpPr>
          <p:nvPr/>
        </p:nvSpPr>
        <p:spPr>
          <a:xfrm xmlns:a="http://schemas.openxmlformats.org/drawingml/2006/main">
            <a:off x="685800" y="6381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75" b="0">
                <a:solidFill>
                  <a:srgbClr val="9CDED0"/>
                </a:solidFill>
                <a:latin typeface="Arial"/>
                <a:ea typeface="Arial"/>
                <a:cs typeface="Arial"/>
              </a:defRPr>
            </a:pPr>
            <a:r>
              <a:rPr sz="1275" b="0">
                <a:solidFill>
                  <a:srgbClr val="9CDED0"/>
                </a:solidFill>
                <a:latin typeface="Arial"/>
                <a:ea typeface="Arial"/>
                <a:cs typeface="Arial"/>
              </a:rPr>
              <a:t>RecallScope</a:t>
            </a:r>
          </a:p>
        </p:txBody>
      </p:sp>
      <p:sp>
        <p:nvSpPr>
          <p:cNvPr id="3" name="text-61">
            <a:extLst xmlns:a="http://schemas.openxmlformats.org/drawingml/2006/main">
              <a:ext uri="{FF2B5EF4-FFF2-40B4-BE49-F238E27FC236}">
                <a16:creationId xmlns:a16="http://schemas.microsoft.com/office/drawing/2014/main" id="{1FDD5E66-D1B3-4B36-84DF-2D4AA5494386}"/>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275" b="0">
                <a:solidFill>
                  <a:srgbClr val="9CDED0"/>
                </a:solidFill>
                <a:latin typeface="Arial"/>
                <a:ea typeface="Arial"/>
                <a:cs typeface="Arial"/>
              </a:defRPr>
            </a:pPr>
            <a:r>
              <a:rPr sz="1275" b="0">
                <a:solidFill>
                  <a:srgbClr val="9CDED0"/>
                </a:solidFill>
                <a:latin typeface="Arial"/>
                <a:ea typeface="Arial"/>
                <a:cs typeface="Arial"/>
              </a:rPr>
              <a:t>08</a:t>
            </a:r>
          </a:p>
        </p:txBody>
      </p:sp>
      <p:sp>
        <p:nvSpPr>
          <p:cNvPr id="4" name="text-62">
            <a:extLst xmlns:a="http://schemas.openxmlformats.org/drawingml/2006/main">
              <a:ext uri="{FF2B5EF4-FFF2-40B4-BE49-F238E27FC236}">
                <a16:creationId xmlns:a16="http://schemas.microsoft.com/office/drawing/2014/main" id="{DE93799E-A71E-4523-A7A7-02911DA364D8}"/>
              </a:ext>
            </a:extLst>
          </p:cNvPr>
          <p:cNvSpPr>
            <a:spLocks xmlns:a="http://schemas.openxmlformats.org/drawingml/2006/main" noGrp="1"/>
          </p:cNvSpPr>
          <p:nvPr/>
        </p:nvSpPr>
        <p:spPr>
          <a:xfrm xmlns:a="http://schemas.openxmlformats.org/drawingml/2006/main">
            <a:off x="685800" y="2057400"/>
            <a:ext cx="108204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4575" b="1">
                <a:solidFill>
                  <a:srgbClr val="FFFFFF"/>
                </a:solidFill>
                <a:latin typeface="Arial"/>
                <a:ea typeface="Arial"/>
                <a:cs typeface="Arial"/>
              </a:defRPr>
            </a:pPr>
            <a:r>
              <a:rPr sz="4575" b="1">
                <a:solidFill>
                  <a:srgbClr val="FFFFFF"/>
                </a:solidFill>
                <a:latin typeface="Arial"/>
                <a:ea typeface="Arial"/>
                <a:cs typeface="Arial"/>
              </a:rPr>
              <a:t>One quality lead.</a:t>
            </a:r>
          </a:p>
          <a:p xmlns:a="http://schemas.openxmlformats.org/drawingml/2006/main">
            <a:pPr algn="l">
              <a:buNone/>
              <a:defRPr sz="4575" b="1">
                <a:solidFill>
                  <a:srgbClr val="FFFFFF"/>
                </a:solidFill>
                <a:latin typeface="Arial"/>
                <a:ea typeface="Arial"/>
                <a:cs typeface="Arial"/>
              </a:defRPr>
            </a:pPr>
            <a:r>
              <a:rPr sz="4575" b="1">
                <a:solidFill>
                  <a:srgbClr val="FFFFFF"/>
                </a:solidFill>
                <a:latin typeface="Arial"/>
                <a:ea typeface="Arial"/>
                <a:cs typeface="Arial"/>
              </a:rPr>
              <a:t>One permissioned dataset.</a:t>
            </a:r>
          </a:p>
        </p:txBody>
      </p:sp>
      <p:sp>
        <p:nvSpPr>
          <p:cNvPr id="5" name="text-63">
            <a:extLst xmlns:a="http://schemas.openxmlformats.org/drawingml/2006/main">
              <a:ext uri="{FF2B5EF4-FFF2-40B4-BE49-F238E27FC236}">
                <a16:creationId xmlns:a16="http://schemas.microsoft.com/office/drawing/2014/main" id="{D36D38DA-4827-4F67-9B73-4FB2BA7255BC}"/>
              </a:ext>
            </a:extLst>
          </p:cNvPr>
          <p:cNvSpPr>
            <a:spLocks xmlns:a="http://schemas.openxmlformats.org/drawingml/2006/main" noGrp="1"/>
          </p:cNvSpPr>
          <p:nvPr/>
        </p:nvSpPr>
        <p:spPr>
          <a:xfrm xmlns:a="http://schemas.openxmlformats.org/drawingml/2006/main">
            <a:off x="733425" y="4133850"/>
            <a:ext cx="1000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550" b="0">
                <a:solidFill>
                  <a:srgbClr val="9CDED0"/>
                </a:solidFill>
                <a:latin typeface="Arial"/>
                <a:ea typeface="Arial"/>
                <a:cs typeface="Arial"/>
              </a:defRPr>
            </a:pPr>
            <a:r>
              <a:rPr sz="2550" b="0">
                <a:solidFill>
                  <a:srgbClr val="9CDED0"/>
                </a:solidFill>
                <a:latin typeface="Arial"/>
                <a:ea typeface="Arial"/>
                <a:cs typeface="Arial"/>
              </a:rPr>
              <a:t>We will run a recall drill together and compare the report with your team’s expected trace.</a:t>
            </a:r>
          </a:p>
        </p:txBody>
      </p:sp>
      <p:sp>
        <p:nvSpPr>
          <p:cNvPr id="6" name="text-64">
            <a:extLst xmlns:a="http://schemas.openxmlformats.org/drawingml/2006/main">
              <a:ext uri="{FF2B5EF4-FFF2-40B4-BE49-F238E27FC236}">
                <a16:creationId xmlns:a16="http://schemas.microsoft.com/office/drawing/2014/main" id="{ACB35869-753E-411A-973A-627A06E724D6}"/>
              </a:ext>
            </a:extLst>
          </p:cNvPr>
          <p:cNvSpPr>
            <a:spLocks xmlns:a="http://schemas.openxmlformats.org/drawingml/2006/main" noGrp="1"/>
          </p:cNvSpPr>
          <p:nvPr/>
        </p:nvSpPr>
        <p:spPr>
          <a:xfrm xmlns:a="http://schemas.openxmlformats.org/drawingml/2006/main">
            <a:off x="733425" y="5467350"/>
            <a:ext cx="10001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00" b="0">
                <a:solidFill>
                  <a:srgbClr val="FFFFFF"/>
                </a:solidFill>
                <a:latin typeface="Arial"/>
                <a:ea typeface="Arial"/>
                <a:cs typeface="Arial"/>
              </a:defRPr>
            </a:pPr>
            <a:r>
              <a:rPr sz="2100" b="0">
                <a:solidFill>
                  <a:srgbClr val="FFFFFF"/>
                </a:solidFill>
                <a:latin typeface="Arial"/>
                <a:ea typeface="Arial"/>
                <a:cs typeface="Arial"/>
              </a:rPr>
              <a:t>The goal: find what the records prove and what still needs review.</a:t>
            </a:r>
          </a:p>
        </p:txBody>
      </p:sp>
    </p:spTree>
    <p:extLst>
      <p:ext uri="{BB962C8B-B14F-4D97-AF65-F5344CB8AC3E}">
        <p14:creationId xmlns:p14="http://schemas.microsoft.com/office/powerpoint/2010/main" val="9246190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2026-09-12T11:03:55.8500000Z</dcterms:created>
  <dcterms:modified xsi:type="dcterms:W3CDTF">2026-09-12T11:03:55.8500000Z</dcterms:modified>
</coreProperties>
</file>
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54bfe0c17dd4baf" /><Relationship Type="http://schemas.openxmlformats.org/officeDocument/2006/relationships/extended-properties" Target="/docProps/app.xml" Id="Re4542dd2fa59495a" /><Relationship Type="http://schemas.openxmlformats.org/officeDocument/2006/relationships/officeDocument" Target="/ppt/presentation.xml" Id="R7a2b18900ed1445f" /></Relationships>
</file>

<file path=ppt/presentation.xml><?xml version="1.0" encoding="utf-8"?>
<p:presentation xmlns:p="http://schemas.openxmlformats.org/presentationml/2006/main">
  <p:sldMasterIdLst>
    <p:sldMasterId xmlns:r="http://schemas.openxmlformats.org/officeDocument/2006/relationships" id="2147483648" r:id="R124c4dbfd6cd4e6a"/>
  </p:sldMasterIdLst>
  <p:notesMasterIdLst>
    <p:notesMasterId xmlns:r="http://schemas.openxmlformats.org/officeDocument/2006/relationships" r:id="Ra3b6320366de4815"/>
  </p:notesMasterIdLst>
  <p:sldIdLst>
    <p:sldId xmlns:r="http://schemas.openxmlformats.org/officeDocument/2006/relationships" id="256" r:id="R4759f44b04e74632"/>
    <p:sldId xmlns:r="http://schemas.openxmlformats.org/officeDocument/2006/relationships" id="257" r:id="R27093f2b629a4b9e"/>
    <p:sldId xmlns:r="http://schemas.openxmlformats.org/officeDocument/2006/relationships" id="258" r:id="R496e03dcd5ea48be"/>
    <p:sldId xmlns:r="http://schemas.openxmlformats.org/officeDocument/2006/relationships" id="259" r:id="Re68260eeb7454c99"/>
    <p:sldId xmlns:r="http://schemas.openxmlformats.org/officeDocument/2006/relationships" id="260" r:id="R9f3eb2121a1b4dd0"/>
    <p:sldId xmlns:r="http://schemas.openxmlformats.org/officeDocument/2006/relationships" id="261" r:id="R573aee2736194e9e"/>
    <p:sldId xmlns:r="http://schemas.openxmlformats.org/officeDocument/2006/relationships" id="262" r:id="R8bd0b0ab0bde4e67"/>
    <p:sldId xmlns:r="http://schemas.openxmlformats.org/officeDocument/2006/relationships" id="263" r:id="R94e4a74ab8184e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f90f0c0d1a6449a" /><Relationship Type="http://schemas.openxmlformats.org/officeDocument/2006/relationships/slideMaster" Target="/ppt/slideMasters/slideMaster1.xml" Id="R124c4dbfd6cd4e6a" /><Relationship Type="http://schemas.openxmlformats.org/officeDocument/2006/relationships/notesMaster" Target="/ppt/notesMasters/notesMaster1.xml" Id="Ra3b6320366de4815" /><Relationship Type="http://schemas.openxmlformats.org/officeDocument/2006/relationships/presProps" Target="/ppt/presProps.xml" Id="R853f5b0fc7884be1" /><Relationship Type="http://schemas.openxmlformats.org/officeDocument/2006/relationships/tableStyles" Target="/ppt/tableStyles.xml" Id="Rc35b8b91b0604c5f" /><Relationship Type="http://schemas.openxmlformats.org/officeDocument/2006/relationships/slide" Target="/ppt/slides/slide1.xml" Id="R4759f44b04e74632" /><Relationship Type="http://schemas.openxmlformats.org/officeDocument/2006/relationships/slide" Target="/ppt/slides/slide2.xml" Id="R27093f2b629a4b9e" /><Relationship Type="http://schemas.openxmlformats.org/officeDocument/2006/relationships/slide" Target="/ppt/slides/slide3.xml" Id="R496e03dcd5ea48be" /><Relationship Type="http://schemas.openxmlformats.org/officeDocument/2006/relationships/slide" Target="/ppt/slides/slide4.xml" Id="Re68260eeb7454c99" /><Relationship Type="http://schemas.openxmlformats.org/officeDocument/2006/relationships/slide" Target="/ppt/slides/slide5.xml" Id="R9f3eb2121a1b4dd0" /><Relationship Type="http://schemas.openxmlformats.org/officeDocument/2006/relationships/slide" Target="/ppt/slides/slide6.xml" Id="R573aee2736194e9e" /><Relationship Type="http://schemas.openxmlformats.org/officeDocument/2006/relationships/slide" Target="/ppt/slides/slide7.xml" Id="R8bd0b0ab0bde4e67" /><Relationship Type="http://schemas.openxmlformats.org/officeDocument/2006/relationships/slide" Target="/ppt/slides/slide8.xml" Id="R94e4a74ab8184e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1b6b1da718f43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ae660dd4fb4dd9" /><Relationship Type="http://schemas.openxmlformats.org/officeDocument/2006/relationships/notesMaster" Target="/ppt/notesMasters/notesMaster1.xml" Id="R159b1745f16349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3367f5e13d42f4" /><Relationship Type="http://schemas.openxmlformats.org/officeDocument/2006/relationships/notesMaster" Target="/ppt/notesMasters/notesMaster1.xml" Id="R4ee13d55a1b64e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3edbf1cd31d418a" /><Relationship Type="http://schemas.openxmlformats.org/officeDocument/2006/relationships/notesMaster" Target="/ppt/notesMasters/notesMaster1.xml" Id="R8a2c812792eb43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4159e8ac724e00" /><Relationship Type="http://schemas.openxmlformats.org/officeDocument/2006/relationships/notesMaster" Target="/ppt/notesMasters/notesMaster1.xml" Id="R863d32e94d3e48c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0ef33b4c884cc4" /><Relationship Type="http://schemas.openxmlformats.org/officeDocument/2006/relationships/notesMaster" Target="/ppt/notesMasters/notesMaster1.xml" Id="Rf508af7524d645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50405e6d524732" /><Relationship Type="http://schemas.openxmlformats.org/officeDocument/2006/relationships/notesMaster" Target="/ppt/notesMasters/notesMaster1.xml" Id="R54b0edea9d874e8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caeb459e644a7a" /><Relationship Type="http://schemas.openxmlformats.org/officeDocument/2006/relationships/notesMaster" Target="/ppt/notesMasters/notesMaster1.xml" Id="R932d4fda972c43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8447beb11514f69" /><Relationship Type="http://schemas.openxmlformats.org/officeDocument/2006/relationships/notesMaster" Target="/ppt/notesMasters/notesMaster1.xml" Id="Rdb67be14cbc140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Console. Track: AI in any startup. RecallScope connects ingredient lots, production batches and recorded customer deliveries. The displayed bakery dataset is fictional sample data. Official team source repository: https://github.com/HackIndiaXYZ/ai-first-startup-hackathon-build-a-startup-using-ai-only-console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target and buying role are hypotheses, with no completed customer-research results. FDA describes food traceability as linking production, processing and distribution in both directions: https://www.fda.gov/food/new-era-smarter-food-safety/tracking-and-tracing-food . FSSAI published recall procedure describes distribution records including suppliers, customers, dates, lots and batches: https://fssai.gov.in/upload/uploadfiles/files/Chapter9.pdf . These sources establish the operational context, not demand for RecallScope or regulatory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workflow stores uploaded source files, proposes extracted records for operator review, and calculates trace results from accepted relationships. Fireworks text and single-page PDF extraction checks have passed on labelled synthetic fixtures. The PDF path rasterizes pages before sending the resulting images to the configured model. Original PDFs, AI page images, provider/model identity and SHA-256 hashes remain available as provenance. The pre-authored demonstration on slide 4 is separate from the live fixture result shown on slide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completeSampleWorkspace() and automated domain tests, verified 12 September 2026. Lot FL-260901-A: 4 batches, 1,440 delivered packs, 4 customer destinations, 96 kg ingredient used. Lot FL-260902-B: 1 batch, 360 packs, 1 destination, 24 kg used. Seven source documents support the workspace, including production sheets for batches CK-0904-01 and CK-0904-02. These are pre-authored fictional sample records, separate from live AI extraction. No customer outcomes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facts supplied by the RecallScope implementation lead: Fireworks API authentication succeeded. A real text extraction returned three correct records, including 180 delivered packs. A real single-page PDF was rasterized into a page image and sent to Fireworks model accounts/fireworks/models/kimi-k2p6. It returned three correct records. The operator reviewed and approved the import, producing 180 confirmed packs and zero unresolved packs. The application retained the original PDF, AI page images, provider/model identity and SHA-256 hashes. These are observed results on small labelled synthetic fixtures, not a general accuracy estimate, speed claim or real manufacturer validation. The OpenAI option remains available, but live OpenAI extraction is untested. Deterministic code computes trace totals from reviewed relationships. The operator remains responsible for evidence review and resolving unknown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displayed subscription range is a proposed commercial model, not earned revenue or a validated willingness-to-pay result. Target buyer: the quality or operations lead of a small food manufacturer. The product offer is a traceability workspace and saved evidence 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Observed local verification on 12 September 2026: all 47 domain/provider/SQL tests passed, TypeScript type checking passed, production build passed, and API integration passed. Coverage includes complete sample totals and source dependencies, immutable reports, duplicate imports, invalid units and dates, concurrent writes, session isolation and provider configuration. Live Fireworks fixture results are documented separately in docs/LIVE-AI-VALIDATION.md. These engineering results do not claim real manufacturer outcomes or certification. The public application is deployed at https://recallscope.console3096.chatgpt.site with a server-side Fireworks secret and an atomic daily AI request allowance. Sites reported successful deployment on 12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walkthrough close: select an ingredient lot, follow the connected production batches and deliveries, inspect the underlying documents, and create a fixed report. Team Console. Track: AI in any startup. Source repository: https://github.com/HackIndiaXYZ/ai-first-startup-hackathon-build-a-startup-using-ai-only-console . Public application: https://recallscope.console3096.chatgpt.site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782e02cdc54e4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240912f9e45406b" /><Relationship Type="http://schemas.openxmlformats.org/officeDocument/2006/relationships/slideLayout" Target="/ppt/slideLayouts/slideLayout1.xml" Id="Rd0e765e98d0a457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0e765e98d0a457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60ac77fdd4f4c84" /><Relationship Type="http://schemas.openxmlformats.org/officeDocument/2006/relationships/notesSlide" Target="/ppt/notesSlides/notesSlide1.xml" Id="Rbda80c92d9bb4c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d5c1f03f28b4ba5" /><Relationship Type="http://schemas.openxmlformats.org/officeDocument/2006/relationships/notesSlide" Target="/ppt/notesSlides/notesSlide2.xml" Id="R7129e4d6574d40e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c5ba01a4ef24175" /><Relationship Type="http://schemas.openxmlformats.org/officeDocument/2006/relationships/notesSlide" Target="/ppt/notesSlides/notesSlide3.xml" Id="R66c1d7a0f21f4d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3d4efa2ff7e481c" /><Relationship Type="http://schemas.openxmlformats.org/officeDocument/2006/relationships/notesSlide" Target="/ppt/notesSlides/notesSlide4.xml" Id="R127ed8d75c064e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a8def95bfe549c1" /><Relationship Type="http://schemas.openxmlformats.org/officeDocument/2006/relationships/notesSlide" Target="/ppt/notesSlides/notesSlide5.xml" Id="R8a1ef13f5c6c4f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a503a0e31b84ce6" /><Relationship Type="http://schemas.openxmlformats.org/officeDocument/2006/relationships/notesSlide" Target="/ppt/notesSlides/notesSlide6.xml" Id="Rbd4584b80e404b2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f7ed6873e1146de" /><Relationship Type="http://schemas.openxmlformats.org/officeDocument/2006/relationships/notesSlide" Target="/ppt/notesSlides/notesSlide7.xml" Id="Rbe2271889be14f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240baab0f3d4a74" /><Relationship Type="http://schemas.openxmlformats.org/officeDocument/2006/relationships/notesSlide" Target="/ppt/notesSlides/notesSlide8.xml" Id="Rc530f69cd0db40ef" /></Relationships>
</file>

<file path=ppt/slides/slide1.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DACAE5D1-5511-43B5-A707-5D9E8ADEDCAE}"/>
              </a:ext>
            </a:extLst>
          </p:cNvPr>
          <p:cNvSpPr>
            <a:spLocks xmlns:a="http://schemas.openxmlformats.org/drawingml/2006/main" noGrp="1"/>
          </p:cNvSpPr>
          <p:nvPr/>
        </p:nvSpPr>
        <p:spPr>
          <a:xfrm xmlns:a="http://schemas.openxmlformats.org/drawingml/2006/main">
            <a:off x="685800" y="1600200"/>
            <a:ext cx="108204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6900" b="1">
                <a:solidFill>
                  <a:srgbClr val="FFFFFF"/>
                </a:solidFill>
                <a:latin typeface="Arial"/>
                <a:ea typeface="Arial"/>
                <a:cs typeface="Arial"/>
              </a:defRPr>
            </a:pPr>
            <a:r>
              <a:rPr sz="6900" b="1">
                <a:solidFill>
                  <a:srgbClr val="FFFFFF"/>
                </a:solidFill>
                <a:latin typeface="Arial"/>
                <a:ea typeface="Arial"/>
                <a:cs typeface="Arial"/>
              </a:rPr>
              <a:t>RecallScope</a:t>
            </a:r>
          </a:p>
        </p:txBody>
      </p:sp>
      <p:sp>
        <p:nvSpPr>
          <p:cNvPr id="2" name="text-1">
            <a:extLst xmlns:a="http://schemas.openxmlformats.org/drawingml/2006/main">
              <a:ext uri="{FF2B5EF4-FFF2-40B4-BE49-F238E27FC236}">
                <a16:creationId xmlns:a16="http://schemas.microsoft.com/office/drawing/2014/main" id="{A53AACA4-1E3D-41A9-9BCB-BDC8ED71C168}"/>
              </a:ext>
            </a:extLst>
          </p:cNvPr>
          <p:cNvSpPr>
            <a:spLocks xmlns:a="http://schemas.openxmlformats.org/drawingml/2006/main" noGrp="1"/>
          </p:cNvSpPr>
          <p:nvPr/>
        </p:nvSpPr>
        <p:spPr>
          <a:xfrm xmlns:a="http://schemas.openxmlformats.org/drawingml/2006/main">
            <a:off x="723900" y="3105150"/>
            <a:ext cx="10439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450" b="0">
                <a:solidFill>
                  <a:srgbClr val="9CDED0"/>
                </a:solidFill>
                <a:latin typeface="Arial"/>
                <a:ea typeface="Arial"/>
                <a:cs typeface="Arial"/>
              </a:defRPr>
            </a:pPr>
            <a:r>
              <a:rPr sz="3450" b="0">
                <a:solidFill>
                  <a:srgbClr val="9CDED0"/>
                </a:solidFill>
                <a:latin typeface="Arial"/>
                <a:ea typeface="Arial"/>
                <a:cs typeface="Arial"/>
              </a:rPr>
              <a:t>Ingredient-to-customer traceability</a:t>
            </a:r>
          </a:p>
        </p:txBody>
      </p:sp>
      <p:sp>
        <p:nvSpPr>
          <p:cNvPr id="3" name="text-2">
            <a:extLst xmlns:a="http://schemas.openxmlformats.org/drawingml/2006/main">
              <a:ext uri="{FF2B5EF4-FFF2-40B4-BE49-F238E27FC236}">
                <a16:creationId xmlns:a16="http://schemas.microsoft.com/office/drawing/2014/main" id="{6A622FA5-DD0B-4D92-8257-C7F476B18059}"/>
              </a:ext>
            </a:extLst>
          </p:cNvPr>
          <p:cNvSpPr>
            <a:spLocks xmlns:a="http://schemas.openxmlformats.org/drawingml/2006/main" noGrp="1"/>
          </p:cNvSpPr>
          <p:nvPr/>
        </p:nvSpPr>
        <p:spPr>
          <a:xfrm xmlns:a="http://schemas.openxmlformats.org/drawingml/2006/main">
            <a:off x="733425" y="4057650"/>
            <a:ext cx="9715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250" b="0">
                <a:solidFill>
                  <a:srgbClr val="FFFFFF"/>
                </a:solidFill>
                <a:latin typeface="Arial"/>
                <a:ea typeface="Arial"/>
                <a:cs typeface="Arial"/>
              </a:defRPr>
            </a:pPr>
            <a:r>
              <a:rPr sz="2250" b="0">
                <a:solidFill>
                  <a:srgbClr val="FFFFFF"/>
                </a:solidFill>
                <a:latin typeface="Arial"/>
                <a:ea typeface="Arial"/>
                <a:cs typeface="Arial"/>
              </a:rPr>
              <a:t>For small food makers</a:t>
            </a:r>
          </a:p>
        </p:txBody>
      </p:sp>
      <p:sp>
        <p:nvSpPr>
          <p:cNvPr id="4" name="text-3">
            <a:extLst xmlns:a="http://schemas.openxmlformats.org/drawingml/2006/main">
              <a:ext uri="{FF2B5EF4-FFF2-40B4-BE49-F238E27FC236}">
                <a16:creationId xmlns:a16="http://schemas.microsoft.com/office/drawing/2014/main" id="{205DDD21-67B2-46CF-8B1E-5C731C98E003}"/>
              </a:ext>
            </a:extLst>
          </p:cNvPr>
          <p:cNvSpPr>
            <a:spLocks xmlns:a="http://schemas.openxmlformats.org/drawingml/2006/main" noGrp="1"/>
          </p:cNvSpPr>
          <p:nvPr/>
        </p:nvSpPr>
        <p:spPr>
          <a:xfrm xmlns:a="http://schemas.openxmlformats.org/drawingml/2006/main">
            <a:off x="733425" y="5848350"/>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575" b="0">
                <a:solidFill>
                  <a:srgbClr val="9CDED0"/>
                </a:solidFill>
                <a:latin typeface="Arial"/>
                <a:ea typeface="Arial"/>
                <a:cs typeface="Arial"/>
              </a:defRPr>
            </a:pPr>
            <a:r>
              <a:rPr sz="1575" b="0">
                <a:solidFill>
                  <a:srgbClr val="9CDED0"/>
                </a:solidFill>
                <a:latin typeface="Arial"/>
                <a:ea typeface="Arial"/>
                <a:cs typeface="Arial"/>
              </a:rPr>
              <a:t>Team Console</a:t>
            </a:r>
          </a:p>
        </p:txBody>
      </p:sp>
      <p:sp>
        <p:nvSpPr>
          <p:cNvPr id="5" name="text-4">
            <a:extLst xmlns:a="http://schemas.openxmlformats.org/drawingml/2006/main">
              <a:ext uri="{FF2B5EF4-FFF2-40B4-BE49-F238E27FC236}">
                <a16:creationId xmlns:a16="http://schemas.microsoft.com/office/drawing/2014/main" id="{820E418A-63EB-4778-AFED-71CAB5EF03CF}"/>
              </a:ext>
            </a:extLst>
          </p:cNvPr>
          <p:cNvSpPr>
            <a:spLocks xmlns:a="http://schemas.openxmlformats.org/drawingml/2006/main" noGrp="1"/>
          </p:cNvSpPr>
          <p:nvPr/>
        </p:nvSpPr>
        <p:spPr>
          <a:xfrm xmlns:a="http://schemas.openxmlformats.org/drawingml/2006/main">
            <a:off x="6429375" y="5848350"/>
            <a:ext cx="5038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575" b="0">
                <a:solidFill>
                  <a:srgbClr val="9CDED0"/>
                </a:solidFill>
                <a:latin typeface="Arial"/>
                <a:ea typeface="Arial"/>
                <a:cs typeface="Arial"/>
              </a:defRPr>
            </a:pPr>
            <a:r>
              <a:rPr sz="1575" b="0">
                <a:solidFill>
                  <a:srgbClr val="9CDED0"/>
                </a:solidFill>
                <a:latin typeface="Arial"/>
                <a:ea typeface="Arial"/>
                <a:cs typeface="Arial"/>
              </a:rPr>
              <a:t>Track: AI in any startup</a:t>
            </a:r>
          </a:p>
        </p:txBody>
      </p:sp>
    </p:spTree>
    <p:extLst>
      <p:ext uri="{BB962C8B-B14F-4D97-AF65-F5344CB8AC3E}">
        <p14:creationId xmlns:p14="http://schemas.microsoft.com/office/powerpoint/2010/main" val="71270475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5">
            <a:extLst xmlns:a="http://schemas.openxmlformats.org/drawingml/2006/main">
              <a:ext uri="{FF2B5EF4-FFF2-40B4-BE49-F238E27FC236}">
                <a16:creationId xmlns:a16="http://schemas.microsoft.com/office/drawing/2014/main" id="{1852209E-C518-4E31-9669-7AC699527B1E}"/>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The quality lead's question</a:t>
            </a:r>
          </a:p>
        </p:txBody>
      </p:sp>
      <p:sp>
        <p:nvSpPr>
          <p:cNvPr id="2" name="text-6">
            <a:extLst xmlns:a="http://schemas.openxmlformats.org/drawingml/2006/main">
              <a:ext uri="{FF2B5EF4-FFF2-40B4-BE49-F238E27FC236}">
                <a16:creationId xmlns:a16="http://schemas.microsoft.com/office/drawing/2014/main" id="{5261EB46-07FF-4663-999F-FA338691906A}"/>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3" name="text-7">
            <a:extLst xmlns:a="http://schemas.openxmlformats.org/drawingml/2006/main">
              <a:ext uri="{FF2B5EF4-FFF2-40B4-BE49-F238E27FC236}">
                <a16:creationId xmlns:a16="http://schemas.microsoft.com/office/drawing/2014/main" id="{B7EA3325-F9A0-432E-B4B2-3771EBFF642B}"/>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02</a:t>
            </a:r>
          </a:p>
        </p:txBody>
      </p:sp>
      <p:sp>
        <p:nvSpPr>
          <p:cNvPr id="4" name="text-8">
            <a:extLst xmlns:a="http://schemas.openxmlformats.org/drawingml/2006/main">
              <a:ext uri="{FF2B5EF4-FFF2-40B4-BE49-F238E27FC236}">
                <a16:creationId xmlns:a16="http://schemas.microsoft.com/office/drawing/2014/main" id="{B51CA4F0-50EB-40CE-873E-88952755A8C1}"/>
              </a:ext>
            </a:extLst>
          </p:cNvPr>
          <p:cNvSpPr>
            <a:spLocks xmlns:a="http://schemas.openxmlformats.org/drawingml/2006/main" noGrp="1"/>
          </p:cNvSpPr>
          <p:nvPr/>
        </p:nvSpPr>
        <p:spPr>
          <a:xfrm xmlns:a="http://schemas.openxmlformats.org/drawingml/2006/main">
            <a:off x="685800" y="1943100"/>
            <a:ext cx="9525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0">
                <a:solidFill>
                  <a:srgbClr val="58717A"/>
                </a:solidFill>
                <a:latin typeface="Arial"/>
                <a:ea typeface="Arial"/>
                <a:cs typeface="Arial"/>
              </a:defRPr>
            </a:pPr>
            <a:r>
              <a:rPr sz="2175" b="0">
                <a:solidFill>
                  <a:srgbClr val="58717A"/>
                </a:solidFill>
                <a:latin typeface="Arial"/>
                <a:ea typeface="Arial"/>
                <a:cs typeface="Arial"/>
              </a:rPr>
              <a:t>A supplier flags one ingredient lot.</a:t>
            </a:r>
          </a:p>
        </p:txBody>
      </p:sp>
      <p:sp>
        <p:nvSpPr>
          <p:cNvPr id="5" name="text-9">
            <a:extLst xmlns:a="http://schemas.openxmlformats.org/drawingml/2006/main">
              <a:ext uri="{FF2B5EF4-FFF2-40B4-BE49-F238E27FC236}">
                <a16:creationId xmlns:a16="http://schemas.microsoft.com/office/drawing/2014/main" id="{9086C8AE-9800-4DAE-8EFA-05E448F0785F}"/>
              </a:ext>
            </a:extLst>
          </p:cNvPr>
          <p:cNvSpPr>
            <a:spLocks xmlns:a="http://schemas.openxmlformats.org/drawingml/2006/main" noGrp="1"/>
          </p:cNvSpPr>
          <p:nvPr/>
        </p:nvSpPr>
        <p:spPr>
          <a:xfrm xmlns:a="http://schemas.openxmlformats.org/drawingml/2006/main">
            <a:off x="685800" y="2609850"/>
            <a:ext cx="10620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4050" b="1">
                <a:solidFill>
                  <a:srgbClr val="006D6D"/>
                </a:solidFill>
                <a:latin typeface="Arial"/>
                <a:ea typeface="Arial"/>
                <a:cs typeface="Arial"/>
              </a:defRPr>
            </a:pPr>
            <a:r>
              <a:rPr sz="4050" b="1">
                <a:solidFill>
                  <a:srgbClr val="006D6D"/>
                </a:solidFill>
                <a:latin typeface="Arial"/>
                <a:ea typeface="Arial"/>
                <a:cs typeface="Arial"/>
              </a:rPr>
              <a:t>Which deliveries are affected?</a:t>
            </a:r>
          </a:p>
        </p:txBody>
      </p:sp>
      <p:sp>
        <p:nvSpPr>
          <p:cNvPr id="6" name="text-10">
            <a:extLst xmlns:a="http://schemas.openxmlformats.org/drawingml/2006/main">
              <a:ext uri="{FF2B5EF4-FFF2-40B4-BE49-F238E27FC236}">
                <a16:creationId xmlns:a16="http://schemas.microsoft.com/office/drawing/2014/main" id="{69971635-C510-4B79-94F3-9F44F3CAAB51}"/>
              </a:ext>
            </a:extLst>
          </p:cNvPr>
          <p:cNvSpPr>
            <a:spLocks xmlns:a="http://schemas.openxmlformats.org/drawingml/2006/main" noGrp="1"/>
          </p:cNvSpPr>
          <p:nvPr/>
        </p:nvSpPr>
        <p:spPr>
          <a:xfrm xmlns:a="http://schemas.openxmlformats.org/drawingml/2006/main">
            <a:off x="685800" y="3619500"/>
            <a:ext cx="657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325" b="0">
                <a:solidFill>
                  <a:srgbClr val="16323F"/>
                </a:solidFill>
                <a:latin typeface="Arial"/>
                <a:ea typeface="Arial"/>
                <a:cs typeface="Arial"/>
              </a:defRPr>
            </a:pPr>
            <a:r>
              <a:rPr sz="2325" b="0">
                <a:solidFill>
                  <a:srgbClr val="16323F"/>
                </a:solidFill>
                <a:latin typeface="Arial"/>
                <a:ea typeface="Arial"/>
                <a:cs typeface="Arial"/>
              </a:rPr>
              <a:t>The answer must connect a supplier lot to production batches and customer deliveries.</a:t>
            </a:r>
          </a:p>
        </p:txBody>
      </p:sp>
      <p:sp>
        <p:nvSpPr>
          <p:cNvPr id="7" name="text-11">
            <a:extLst xmlns:a="http://schemas.openxmlformats.org/drawingml/2006/main">
              <a:ext uri="{FF2B5EF4-FFF2-40B4-BE49-F238E27FC236}">
                <a16:creationId xmlns:a16="http://schemas.microsoft.com/office/drawing/2014/main" id="{1721EA6A-004C-451E-9E09-7A09DB3EDC72}"/>
              </a:ext>
            </a:extLst>
          </p:cNvPr>
          <p:cNvSpPr>
            <a:spLocks xmlns:a="http://schemas.openxmlformats.org/drawingml/2006/main" noGrp="1"/>
          </p:cNvSpPr>
          <p:nvPr/>
        </p:nvSpPr>
        <p:spPr>
          <a:xfrm xmlns:a="http://schemas.openxmlformats.org/drawingml/2006/main">
            <a:off x="8267700" y="37147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16323F"/>
                </a:solidFill>
                <a:latin typeface="Arial"/>
                <a:ea typeface="Arial"/>
                <a:cs typeface="Arial"/>
              </a:defRPr>
            </a:pPr>
            <a:r>
              <a:rPr sz="2025" b="1">
                <a:solidFill>
                  <a:srgbClr val="16323F"/>
                </a:solidFill>
                <a:latin typeface="Arial"/>
                <a:ea typeface="Arial"/>
                <a:cs typeface="Arial"/>
              </a:rPr>
              <a:t>Source records</a:t>
            </a:r>
          </a:p>
        </p:txBody>
      </p:sp>
      <p:sp>
        <p:nvSpPr>
          <p:cNvPr id="8" name="text-12">
            <a:extLst xmlns:a="http://schemas.openxmlformats.org/drawingml/2006/main">
              <a:ext uri="{FF2B5EF4-FFF2-40B4-BE49-F238E27FC236}">
                <a16:creationId xmlns:a16="http://schemas.microsoft.com/office/drawing/2014/main" id="{F1BC9EE8-94C9-41C4-8559-18A16E442D63}"/>
              </a:ext>
            </a:extLst>
          </p:cNvPr>
          <p:cNvSpPr>
            <a:spLocks xmlns:a="http://schemas.openxmlformats.org/drawingml/2006/main" noGrp="1"/>
          </p:cNvSpPr>
          <p:nvPr/>
        </p:nvSpPr>
        <p:spPr>
          <a:xfrm xmlns:a="http://schemas.openxmlformats.org/drawingml/2006/main">
            <a:off x="8267700" y="4248150"/>
            <a:ext cx="32385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950" b="0">
                <a:solidFill>
                  <a:srgbClr val="58717A"/>
                </a:solidFill>
                <a:latin typeface="Arial"/>
                <a:ea typeface="Arial"/>
                <a:cs typeface="Arial"/>
              </a:defRPr>
            </a:pPr>
            <a:r>
              <a:rPr sz="1950" b="0">
                <a:solidFill>
                  <a:srgbClr val="58717A"/>
                </a:solidFill>
                <a:latin typeface="Arial"/>
                <a:ea typeface="Arial"/>
                <a:cs typeface="Arial"/>
              </a:rPr>
              <a:t>Receiving logs</a:t>
            </a:r>
          </a:p>
          <a:p xmlns:a="http://schemas.openxmlformats.org/drawingml/2006/main">
            <a:pPr algn="l">
              <a:buNone/>
              <a:defRPr sz="1950" b="0">
                <a:solidFill>
                  <a:srgbClr val="58717A"/>
                </a:solidFill>
                <a:latin typeface="Arial"/>
                <a:ea typeface="Arial"/>
                <a:cs typeface="Arial"/>
              </a:defRPr>
            </a:pPr>
            <a:r>
              <a:rPr sz="1950" b="0">
                <a:solidFill>
                  <a:srgbClr val="58717A"/>
                </a:solidFill>
                <a:latin typeface="Arial"/>
                <a:ea typeface="Arial"/>
                <a:cs typeface="Arial"/>
              </a:rPr>
              <a:t>Production sheets</a:t>
            </a:r>
          </a:p>
          <a:p xmlns:a="http://schemas.openxmlformats.org/drawingml/2006/main">
            <a:pPr algn="l">
              <a:buNone/>
              <a:defRPr sz="1950" b="0">
                <a:solidFill>
                  <a:srgbClr val="58717A"/>
                </a:solidFill>
                <a:latin typeface="Arial"/>
                <a:ea typeface="Arial"/>
                <a:cs typeface="Arial"/>
              </a:defRPr>
            </a:pPr>
            <a:r>
              <a:rPr sz="1950" b="0">
                <a:solidFill>
                  <a:srgbClr val="58717A"/>
                </a:solidFill>
                <a:latin typeface="Arial"/>
                <a:ea typeface="Arial"/>
                <a:cs typeface="Arial"/>
              </a:rPr>
              <a:t>Dispatch records</a:t>
            </a:r>
          </a:p>
        </p:txBody>
      </p:sp>
      <p:sp>
        <p:nvSpPr>
          <p:cNvPr id="9" name="text-13">
            <a:extLst xmlns:a="http://schemas.openxmlformats.org/drawingml/2006/main">
              <a:ext uri="{FF2B5EF4-FFF2-40B4-BE49-F238E27FC236}">
                <a16:creationId xmlns:a16="http://schemas.microsoft.com/office/drawing/2014/main" id="{0197A588-AB62-4EE6-8986-65CF43341BAD}"/>
              </a:ext>
            </a:extLst>
          </p:cNvPr>
          <p:cNvSpPr>
            <a:spLocks xmlns:a="http://schemas.openxmlformats.org/drawingml/2006/main" noGrp="1"/>
          </p:cNvSpPr>
          <p:nvPr/>
        </p:nvSpPr>
        <p:spPr>
          <a:xfrm xmlns:a="http://schemas.openxmlformats.org/drawingml/2006/main">
            <a:off x="685800" y="5419725"/>
            <a:ext cx="67722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725" b="0">
                <a:solidFill>
                  <a:srgbClr val="58717A"/>
                </a:solidFill>
                <a:latin typeface="Arial"/>
                <a:ea typeface="Arial"/>
                <a:cs typeface="Arial"/>
              </a:defRPr>
            </a:pPr>
            <a:r>
              <a:rPr sz="1725" b="0">
                <a:solidFill>
                  <a:srgbClr val="58717A"/>
                </a:solidFill>
                <a:latin typeface="Arial"/>
                <a:ea typeface="Arial"/>
                <a:cs typeface="Arial"/>
              </a:rPr>
              <a:t>Target user: the quality or operations lead at a small food manufacturer.</a:t>
            </a:r>
          </a:p>
        </p:txBody>
      </p:sp>
    </p:spTree>
    <p:extLst>
      <p:ext uri="{BB962C8B-B14F-4D97-AF65-F5344CB8AC3E}">
        <p14:creationId xmlns:p14="http://schemas.microsoft.com/office/powerpoint/2010/main" val="15329733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14">
            <a:extLst xmlns:a="http://schemas.openxmlformats.org/drawingml/2006/main">
              <a:ext uri="{FF2B5EF4-FFF2-40B4-BE49-F238E27FC236}">
                <a16:creationId xmlns:a16="http://schemas.microsoft.com/office/drawing/2014/main" id="{3666995B-A720-433C-B77A-7E63BF3158D3}"/>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A trace built around source records</a:t>
            </a:r>
          </a:p>
        </p:txBody>
      </p:sp>
      <p:sp>
        <p:nvSpPr>
          <p:cNvPr id="2" name="text-15">
            <a:extLst xmlns:a="http://schemas.openxmlformats.org/drawingml/2006/main">
              <a:ext uri="{FF2B5EF4-FFF2-40B4-BE49-F238E27FC236}">
                <a16:creationId xmlns:a16="http://schemas.microsoft.com/office/drawing/2014/main" id="{7B56DDAD-A86F-4C04-A0A3-F6B8DE2F7941}"/>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One workspace from source documents to a saved report</a:t>
            </a:r>
          </a:p>
        </p:txBody>
      </p:sp>
      <p:sp>
        <p:nvSpPr>
          <p:cNvPr id="3" name="text-16">
            <a:extLst xmlns:a="http://schemas.openxmlformats.org/drawingml/2006/main">
              <a:ext uri="{FF2B5EF4-FFF2-40B4-BE49-F238E27FC236}">
                <a16:creationId xmlns:a16="http://schemas.microsoft.com/office/drawing/2014/main" id="{C31083D4-D62F-48D9-9987-6C37CAE64A00}"/>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17">
            <a:extLst xmlns:a="http://schemas.openxmlformats.org/drawingml/2006/main">
              <a:ext uri="{FF2B5EF4-FFF2-40B4-BE49-F238E27FC236}">
                <a16:creationId xmlns:a16="http://schemas.microsoft.com/office/drawing/2014/main" id="{3C0FA6B4-055C-4AEF-8449-7080ABF56989}"/>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03</a:t>
            </a:r>
          </a:p>
        </p:txBody>
      </p:sp>
      <p:sp>
        <p:nvSpPr>
          <p:cNvPr id="5" name="text-18">
            <a:extLst xmlns:a="http://schemas.openxmlformats.org/drawingml/2006/main">
              <a:ext uri="{FF2B5EF4-FFF2-40B4-BE49-F238E27FC236}">
                <a16:creationId xmlns:a16="http://schemas.microsoft.com/office/drawing/2014/main" id="{03ABF5BE-DBCA-460E-ADE5-D67B49ED1A0E}"/>
              </a:ext>
            </a:extLst>
          </p:cNvPr>
          <p:cNvSpPr>
            <a:spLocks xmlns:a="http://schemas.openxmlformats.org/drawingml/2006/main" noGrp="1"/>
          </p:cNvSpPr>
          <p:nvPr/>
        </p:nvSpPr>
        <p:spPr>
          <a:xfrm xmlns:a="http://schemas.openxmlformats.org/drawingml/2006/main">
            <a:off x="68580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006D6D"/>
                </a:solidFill>
                <a:latin typeface="Arial"/>
                <a:ea typeface="Arial"/>
                <a:cs typeface="Arial"/>
              </a:defRPr>
            </a:pPr>
            <a:r>
              <a:rPr sz="3000" b="1">
                <a:solidFill>
                  <a:srgbClr val="006D6D"/>
                </a:solidFill>
                <a:latin typeface="Arial"/>
                <a:ea typeface="Arial"/>
                <a:cs typeface="Arial"/>
              </a:rPr>
              <a:t>01</a:t>
            </a:r>
          </a:p>
        </p:txBody>
      </p:sp>
      <p:sp>
        <p:nvSpPr>
          <p:cNvPr id="6" name="text-19">
            <a:extLst xmlns:a="http://schemas.openxmlformats.org/drawingml/2006/main">
              <a:ext uri="{FF2B5EF4-FFF2-40B4-BE49-F238E27FC236}">
                <a16:creationId xmlns:a16="http://schemas.microsoft.com/office/drawing/2014/main" id="{78BD6350-64CA-4C99-B14B-E9A391463486}"/>
              </a:ext>
            </a:extLst>
          </p:cNvPr>
          <p:cNvSpPr>
            <a:spLocks xmlns:a="http://schemas.openxmlformats.org/drawingml/2006/main" noGrp="1"/>
          </p:cNvSpPr>
          <p:nvPr/>
        </p:nvSpPr>
        <p:spPr>
          <a:xfrm xmlns:a="http://schemas.openxmlformats.org/drawingml/2006/main">
            <a:off x="68580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Import records</a:t>
            </a:r>
          </a:p>
        </p:txBody>
      </p:sp>
      <p:sp>
        <p:nvSpPr>
          <p:cNvPr id="7" name="text-20">
            <a:extLst xmlns:a="http://schemas.openxmlformats.org/drawingml/2006/main">
              <a:ext uri="{FF2B5EF4-FFF2-40B4-BE49-F238E27FC236}">
                <a16:creationId xmlns:a16="http://schemas.microsoft.com/office/drawing/2014/main" id="{1747E250-1380-4CC9-82C2-383A202416CC}"/>
              </a:ext>
            </a:extLst>
          </p:cNvPr>
          <p:cNvSpPr>
            <a:spLocks xmlns:a="http://schemas.openxmlformats.org/drawingml/2006/main" noGrp="1"/>
          </p:cNvSpPr>
          <p:nvPr/>
        </p:nvSpPr>
        <p:spPr>
          <a:xfrm xmlns:a="http://schemas.openxmlformats.org/drawingml/2006/main">
            <a:off x="68580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Use receiving, production and dispatch records.</a:t>
            </a:r>
          </a:p>
        </p:txBody>
      </p:sp>
      <p:sp>
        <p:nvSpPr>
          <p:cNvPr id="8" name="text-21">
            <a:extLst xmlns:a="http://schemas.openxmlformats.org/drawingml/2006/main">
              <a:ext uri="{FF2B5EF4-FFF2-40B4-BE49-F238E27FC236}">
                <a16:creationId xmlns:a16="http://schemas.microsoft.com/office/drawing/2014/main" id="{4C0B9A0B-D9D7-47A9-ACDD-4E45F533CE1F}"/>
              </a:ext>
            </a:extLst>
          </p:cNvPr>
          <p:cNvSpPr>
            <a:spLocks xmlns:a="http://schemas.openxmlformats.org/drawingml/2006/main" noGrp="1"/>
          </p:cNvSpPr>
          <p:nvPr/>
        </p:nvSpPr>
        <p:spPr>
          <a:xfrm xmlns:a="http://schemas.openxmlformats.org/drawingml/2006/main">
            <a:off x="348615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006D6D"/>
                </a:solidFill>
                <a:latin typeface="Arial"/>
                <a:ea typeface="Arial"/>
                <a:cs typeface="Arial"/>
              </a:defRPr>
            </a:pPr>
            <a:r>
              <a:rPr sz="3000" b="1">
                <a:solidFill>
                  <a:srgbClr val="006D6D"/>
                </a:solidFill>
                <a:latin typeface="Arial"/>
                <a:ea typeface="Arial"/>
                <a:cs typeface="Arial"/>
              </a:rPr>
              <a:t>02</a:t>
            </a:r>
          </a:p>
        </p:txBody>
      </p:sp>
      <p:sp>
        <p:nvSpPr>
          <p:cNvPr id="9" name="text-22">
            <a:extLst xmlns:a="http://schemas.openxmlformats.org/drawingml/2006/main">
              <a:ext uri="{FF2B5EF4-FFF2-40B4-BE49-F238E27FC236}">
                <a16:creationId xmlns:a16="http://schemas.microsoft.com/office/drawing/2014/main" id="{D2D157AC-4AE9-45B0-A5B2-834AA560F515}"/>
              </a:ext>
            </a:extLst>
          </p:cNvPr>
          <p:cNvSpPr>
            <a:spLocks xmlns:a="http://schemas.openxmlformats.org/drawingml/2006/main" noGrp="1"/>
          </p:cNvSpPr>
          <p:nvPr/>
        </p:nvSpPr>
        <p:spPr>
          <a:xfrm xmlns:a="http://schemas.openxmlformats.org/drawingml/2006/main">
            <a:off x="348615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Choose a lot</a:t>
            </a:r>
          </a:p>
        </p:txBody>
      </p:sp>
      <p:sp>
        <p:nvSpPr>
          <p:cNvPr id="10" name="text-23">
            <a:extLst xmlns:a="http://schemas.openxmlformats.org/drawingml/2006/main">
              <a:ext uri="{FF2B5EF4-FFF2-40B4-BE49-F238E27FC236}">
                <a16:creationId xmlns:a16="http://schemas.microsoft.com/office/drawing/2014/main" id="{5819B844-619B-495E-8737-5566B7A2FAF4}"/>
              </a:ext>
            </a:extLst>
          </p:cNvPr>
          <p:cNvSpPr>
            <a:spLocks xmlns:a="http://schemas.openxmlformats.org/drawingml/2006/main" noGrp="1"/>
          </p:cNvSpPr>
          <p:nvPr/>
        </p:nvSpPr>
        <p:spPr>
          <a:xfrm xmlns:a="http://schemas.openxmlformats.org/drawingml/2006/main">
            <a:off x="348615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Trace ingredients into production and deliveries.</a:t>
            </a:r>
          </a:p>
        </p:txBody>
      </p:sp>
      <p:sp>
        <p:nvSpPr>
          <p:cNvPr id="11" name="text-24">
            <a:extLst xmlns:a="http://schemas.openxmlformats.org/drawingml/2006/main">
              <a:ext uri="{FF2B5EF4-FFF2-40B4-BE49-F238E27FC236}">
                <a16:creationId xmlns:a16="http://schemas.microsoft.com/office/drawing/2014/main" id="{50850FDE-59BE-4521-87B1-49BDD4EC981C}"/>
              </a:ext>
            </a:extLst>
          </p:cNvPr>
          <p:cNvSpPr>
            <a:spLocks xmlns:a="http://schemas.openxmlformats.org/drawingml/2006/main" noGrp="1"/>
          </p:cNvSpPr>
          <p:nvPr/>
        </p:nvSpPr>
        <p:spPr>
          <a:xfrm xmlns:a="http://schemas.openxmlformats.org/drawingml/2006/main">
            <a:off x="628650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B87519"/>
                </a:solidFill>
                <a:latin typeface="Arial"/>
                <a:ea typeface="Arial"/>
                <a:cs typeface="Arial"/>
              </a:defRPr>
            </a:pPr>
            <a:r>
              <a:rPr sz="3000" b="1">
                <a:solidFill>
                  <a:srgbClr val="B87519"/>
                </a:solidFill>
                <a:latin typeface="Arial"/>
                <a:ea typeface="Arial"/>
                <a:cs typeface="Arial"/>
              </a:rPr>
              <a:t>03</a:t>
            </a:r>
          </a:p>
        </p:txBody>
      </p:sp>
      <p:sp>
        <p:nvSpPr>
          <p:cNvPr id="12" name="text-25">
            <a:extLst xmlns:a="http://schemas.openxmlformats.org/drawingml/2006/main">
              <a:ext uri="{FF2B5EF4-FFF2-40B4-BE49-F238E27FC236}">
                <a16:creationId xmlns:a16="http://schemas.microsoft.com/office/drawing/2014/main" id="{DD574A4E-52C1-48F6-AADA-95062F59C168}"/>
              </a:ext>
            </a:extLst>
          </p:cNvPr>
          <p:cNvSpPr>
            <a:spLocks xmlns:a="http://schemas.openxmlformats.org/drawingml/2006/main" noGrp="1"/>
          </p:cNvSpPr>
          <p:nvPr/>
        </p:nvSpPr>
        <p:spPr>
          <a:xfrm xmlns:a="http://schemas.openxmlformats.org/drawingml/2006/main">
            <a:off x="628650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Explore evidence</a:t>
            </a:r>
          </a:p>
        </p:txBody>
      </p:sp>
      <p:sp>
        <p:nvSpPr>
          <p:cNvPr id="13" name="text-26">
            <a:extLst xmlns:a="http://schemas.openxmlformats.org/drawingml/2006/main">
              <a:ext uri="{FF2B5EF4-FFF2-40B4-BE49-F238E27FC236}">
                <a16:creationId xmlns:a16="http://schemas.microsoft.com/office/drawing/2014/main" id="{BE07CB2F-C7F6-4B17-B76C-BF92D49F5D59}"/>
              </a:ext>
            </a:extLst>
          </p:cNvPr>
          <p:cNvSpPr>
            <a:spLocks xmlns:a="http://schemas.openxmlformats.org/drawingml/2006/main" noGrp="1"/>
          </p:cNvSpPr>
          <p:nvPr/>
        </p:nvSpPr>
        <p:spPr>
          <a:xfrm xmlns:a="http://schemas.openxmlformats.org/drawingml/2006/main">
            <a:off x="628650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Open the source behind each connected batch and delivery.</a:t>
            </a:r>
          </a:p>
        </p:txBody>
      </p:sp>
      <p:sp>
        <p:nvSpPr>
          <p:cNvPr id="14" name="text-27">
            <a:extLst xmlns:a="http://schemas.openxmlformats.org/drawingml/2006/main">
              <a:ext uri="{FF2B5EF4-FFF2-40B4-BE49-F238E27FC236}">
                <a16:creationId xmlns:a16="http://schemas.microsoft.com/office/drawing/2014/main" id="{51F43873-0500-4316-8617-6DA6FFD2BFB9}"/>
              </a:ext>
            </a:extLst>
          </p:cNvPr>
          <p:cNvSpPr>
            <a:spLocks xmlns:a="http://schemas.openxmlformats.org/drawingml/2006/main" noGrp="1"/>
          </p:cNvSpPr>
          <p:nvPr/>
        </p:nvSpPr>
        <p:spPr>
          <a:xfrm xmlns:a="http://schemas.openxmlformats.org/drawingml/2006/main">
            <a:off x="908685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006D6D"/>
                </a:solidFill>
                <a:latin typeface="Arial"/>
                <a:ea typeface="Arial"/>
                <a:cs typeface="Arial"/>
              </a:defRPr>
            </a:pPr>
            <a:r>
              <a:rPr sz="3000" b="1">
                <a:solidFill>
                  <a:srgbClr val="006D6D"/>
                </a:solidFill>
                <a:latin typeface="Arial"/>
                <a:ea typeface="Arial"/>
                <a:cs typeface="Arial"/>
              </a:rPr>
              <a:t>04</a:t>
            </a:r>
          </a:p>
        </p:txBody>
      </p:sp>
      <p:sp>
        <p:nvSpPr>
          <p:cNvPr id="15" name="text-28">
            <a:extLst xmlns:a="http://schemas.openxmlformats.org/drawingml/2006/main">
              <a:ext uri="{FF2B5EF4-FFF2-40B4-BE49-F238E27FC236}">
                <a16:creationId xmlns:a16="http://schemas.microsoft.com/office/drawing/2014/main" id="{4262D0AE-71B9-42ED-BE96-E2E2E255310B}"/>
              </a:ext>
            </a:extLst>
          </p:cNvPr>
          <p:cNvSpPr>
            <a:spLocks xmlns:a="http://schemas.openxmlformats.org/drawingml/2006/main" noGrp="1"/>
          </p:cNvSpPr>
          <p:nvPr/>
        </p:nvSpPr>
        <p:spPr>
          <a:xfrm xmlns:a="http://schemas.openxmlformats.org/drawingml/2006/main">
            <a:off x="908685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Save the report</a:t>
            </a:r>
          </a:p>
        </p:txBody>
      </p:sp>
      <p:sp>
        <p:nvSpPr>
          <p:cNvPr id="16" name="text-29">
            <a:extLst xmlns:a="http://schemas.openxmlformats.org/drawingml/2006/main">
              <a:ext uri="{FF2B5EF4-FFF2-40B4-BE49-F238E27FC236}">
                <a16:creationId xmlns:a16="http://schemas.microsoft.com/office/drawing/2014/main" id="{C8093E74-55A6-4F25-A5BD-09AF2EF7DFE0}"/>
              </a:ext>
            </a:extLst>
          </p:cNvPr>
          <p:cNvSpPr>
            <a:spLocks xmlns:a="http://schemas.openxmlformats.org/drawingml/2006/main" noGrp="1"/>
          </p:cNvSpPr>
          <p:nvPr/>
        </p:nvSpPr>
        <p:spPr>
          <a:xfrm xmlns:a="http://schemas.openxmlformats.org/drawingml/2006/main">
            <a:off x="908685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Preserve delivered quantities and their supporting records.</a:t>
            </a:r>
          </a:p>
        </p:txBody>
      </p:sp>
      <p:cxnSp>
        <p:nvCxnSpPr>
          <p:cNvPr id="113" name=""/>
          <p:cNvCxnSpPr>
            <a:stCxn xmlns:a="http://schemas.openxmlformats.org/drawingml/2006/main" id="6" idx="3"/>
            <a:endCxn xmlns:a="http://schemas.openxmlformats.org/drawingml/2006/main" id="9" idx="1"/>
          </p:cNvCxnSpPr>
          <p:nvPr/>
        </p:nvCxnSpPr>
        <p:spPr>
          <a:xfrm xmlns:a="http://schemas.openxmlformats.org/drawingml/2006/main">
            <a:off x="307657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114" name=""/>
          <p:cNvCxnSpPr>
            <a:stCxn xmlns:a="http://schemas.openxmlformats.org/drawingml/2006/main" id="9" idx="3"/>
            <a:endCxn xmlns:a="http://schemas.openxmlformats.org/drawingml/2006/main" id="12" idx="1"/>
          </p:cNvCxnSpPr>
          <p:nvPr/>
        </p:nvCxnSpPr>
        <p:spPr>
          <a:xfrm xmlns:a="http://schemas.openxmlformats.org/drawingml/2006/main">
            <a:off x="587692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115" name=""/>
          <p:cNvCxnSpPr>
            <a:stCxn xmlns:a="http://schemas.openxmlformats.org/drawingml/2006/main" id="12" idx="3"/>
            <a:endCxn xmlns:a="http://schemas.openxmlformats.org/drawingml/2006/main" id="15" idx="1"/>
          </p:cNvCxnSpPr>
          <p:nvPr/>
        </p:nvCxnSpPr>
        <p:spPr>
          <a:xfrm xmlns:a="http://schemas.openxmlformats.org/drawingml/2006/main">
            <a:off x="867727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sp>
        <p:nvSpPr>
          <p:cNvPr id="20" name="text-30">
            <a:extLst xmlns:a="http://schemas.openxmlformats.org/drawingml/2006/main">
              <a:ext uri="{FF2B5EF4-FFF2-40B4-BE49-F238E27FC236}">
                <a16:creationId xmlns:a16="http://schemas.microsoft.com/office/drawing/2014/main" id="{6E95196D-A928-4AB4-AFB5-3449E7A1FB38}"/>
              </a:ext>
            </a:extLst>
          </p:cNvPr>
          <p:cNvSpPr>
            <a:spLocks xmlns:a="http://schemas.openxmlformats.org/drawingml/2006/main" noGrp="1"/>
          </p:cNvSpPr>
          <p:nvPr/>
        </p:nvSpPr>
        <p:spPr>
          <a:xfrm xmlns:a="http://schemas.openxmlformats.org/drawingml/2006/main">
            <a:off x="685800" y="559117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006D6D"/>
                </a:solidFill>
                <a:latin typeface="Arial"/>
                <a:ea typeface="Arial"/>
                <a:cs typeface="Arial"/>
              </a:defRPr>
            </a:pPr>
            <a:r>
              <a:rPr sz="2175" b="1">
                <a:solidFill>
                  <a:srgbClr val="006D6D"/>
                </a:solidFill>
                <a:latin typeface="Arial"/>
                <a:ea typeface="Arial"/>
                <a:cs typeface="Arial"/>
              </a:rPr>
              <a:t>Every included delivery keeps a link to its supporting record.</a:t>
            </a:r>
          </a:p>
        </p:txBody>
      </p:sp>
    </p:spTree>
    <p:extLst>
      <p:ext uri="{BB962C8B-B14F-4D97-AF65-F5344CB8AC3E}">
        <p14:creationId xmlns:p14="http://schemas.microsoft.com/office/powerpoint/2010/main" val="55353590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31">
            <a:extLst xmlns:a="http://schemas.openxmlformats.org/drawingml/2006/main">
              <a:ext uri="{FF2B5EF4-FFF2-40B4-BE49-F238E27FC236}">
                <a16:creationId xmlns:a16="http://schemas.microsoft.com/office/drawing/2014/main" id="{8497DCC1-8A58-4141-8F99-5B2DA34CAD19}"/>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A complete ingredient-to-customer trace</a:t>
            </a:r>
          </a:p>
        </p:txBody>
      </p:sp>
      <p:sp>
        <p:nvSpPr>
          <p:cNvPr id="2" name="text-32">
            <a:extLst xmlns:a="http://schemas.openxmlformats.org/drawingml/2006/main">
              <a:ext uri="{FF2B5EF4-FFF2-40B4-BE49-F238E27FC236}">
                <a16:creationId xmlns:a16="http://schemas.microsoft.com/office/drawing/2014/main" id="{C3517C20-4B07-41F3-851F-C95D314B9385}"/>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Sample workspace · Fieldwork Bakery · two ingredient lots</a:t>
            </a:r>
          </a:p>
        </p:txBody>
      </p:sp>
      <p:sp>
        <p:nvSpPr>
          <p:cNvPr id="3" name="text-33">
            <a:extLst xmlns:a="http://schemas.openxmlformats.org/drawingml/2006/main">
              <a:ext uri="{FF2B5EF4-FFF2-40B4-BE49-F238E27FC236}">
                <a16:creationId xmlns:a16="http://schemas.microsoft.com/office/drawing/2014/main" id="{DDE396A0-9128-40CC-8F51-8CC2ECFDB0F8}"/>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34">
            <a:extLst xmlns:a="http://schemas.openxmlformats.org/drawingml/2006/main">
              <a:ext uri="{FF2B5EF4-FFF2-40B4-BE49-F238E27FC236}">
                <a16:creationId xmlns:a16="http://schemas.microsoft.com/office/drawing/2014/main" id="{A136B7AB-61B8-4B5D-BCA2-D371DA05756A}"/>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04</a:t>
            </a:r>
          </a:p>
        </p:txBody>
      </p:sp>
      <p:graphicFrame>
        <p:nvGraphicFramePr>
          <p:cNvPr id="13" name=""/>
          <p:cNvGraphicFramePr/>
          <p:nvPr/>
        </p:nvGraphicFramePr>
        <p:xfrm>
          <a:off xmlns:a="http://schemas.openxmlformats.org/drawingml/2006/main" x="685800" y="2133600"/>
          <a:ext xmlns:a="http://schemas.openxmlformats.org/drawingml/2006/main" cx="10820400" cy="3067050"/>
        </p:xfrm>
        <a:graphic xmlns:a="http://schemas.openxmlformats.org/drawingml/2006/main">
          <a:graphicData uri="http://schemas.openxmlformats.org/drawingml/2006/table">
            <a:tbl>
              <a:tblPr firstRow="0" bandRow="0"/>
              <a:tblGrid>
                <a:gridCol w="5105400"/>
                <a:gridCol w="2857500"/>
                <a:gridCol w="2857500"/>
              </a:tblGrid>
              <a:tr h="613410">
                <a:tc>
                  <a:txBody>
                    <a:bodyPr>
                      <a:noAutofit/>
                    </a:bodyPr>
                    <a:lstStyle/>
                    <a:p>
                      <a:pPr algn="l">
                        <a:buNone/>
                      </a:pPr>
                      <a:r>
                        <a:rPr sz="1725" b="1">
                          <a:solidFill>
                            <a:srgbClr val="FFFFFF"/>
                          </a:solidFill>
                          <a:latin typeface="Arial"/>
                          <a:ea typeface="Arial"/>
                          <a:cs typeface="Arial"/>
                        </a:rPr>
                        <a:t>Measure</a:t>
                      </a:r>
                    </a:p>
                  </a:txBody>
                  <a:tcPr marL="91440" marR="91440" marT="45720" marB="45720">
                    <a:solidFill>
                      <a:srgbClr val="0C2834"/>
                    </a:solidFill>
                  </a:tcPr>
                </a:tc>
                <a:tc>
                  <a:txBody>
                    <a:bodyPr>
                      <a:noAutofit/>
                    </a:bodyPr>
                    <a:lstStyle/>
                    <a:p>
                      <a:pPr algn="ctr">
                        <a:buNone/>
                      </a:pPr>
                      <a:r>
                        <a:rPr sz="1725" b="1">
                          <a:solidFill>
                            <a:srgbClr val="FFFFFF"/>
                          </a:solidFill>
                          <a:latin typeface="Arial"/>
                          <a:ea typeface="Arial"/>
                          <a:cs typeface="Arial"/>
                        </a:rPr>
                        <a:t>FL-260901-A</a:t>
                      </a:r>
                    </a:p>
                  </a:txBody>
                  <a:tcPr marL="91440" marR="91440" marT="45720" marB="45720">
                    <a:solidFill>
                      <a:srgbClr val="0C2834"/>
                    </a:solidFill>
                  </a:tcPr>
                </a:tc>
                <a:tc>
                  <a:txBody>
                    <a:bodyPr>
                      <a:noAutofit/>
                    </a:bodyPr>
                    <a:lstStyle/>
                    <a:p>
                      <a:pPr algn="ctr">
                        <a:buNone/>
                      </a:pPr>
                      <a:r>
                        <a:rPr sz="1725" b="1">
                          <a:solidFill>
                            <a:srgbClr val="FFFFFF"/>
                          </a:solidFill>
                          <a:latin typeface="Arial"/>
                          <a:ea typeface="Arial"/>
                          <a:cs typeface="Arial"/>
                        </a:rPr>
                        <a:t>FL-260902-B</a:t>
                      </a:r>
                    </a:p>
                  </a:txBody>
                  <a:tcPr marL="91440" marR="91440" marT="45720" marB="45720">
                    <a:solidFill>
                      <a:srgbClr val="0C2834"/>
                    </a:solidFill>
                  </a:tcPr>
                </a:tc>
              </a:tr>
              <a:tr h="613410">
                <a:tc>
                  <a:txBody>
                    <a:bodyPr>
                      <a:noAutofit/>
                    </a:bodyPr>
                    <a:lstStyle/>
                    <a:p>
                      <a:pPr algn="l">
                        <a:buNone/>
                      </a:pPr>
                      <a:r>
                        <a:rPr sz="2175" b="0">
                          <a:solidFill>
                            <a:srgbClr val="16323F"/>
                          </a:solidFill>
                          <a:latin typeface="Arial"/>
                          <a:ea typeface="Arial"/>
                          <a:cs typeface="Arial"/>
                        </a:rPr>
                        <a:t>Production batches</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4</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1</a:t>
                      </a:r>
                    </a:p>
                  </a:txBody>
                  <a:tcPr marL="91440" marR="91440" marT="45720" marB="45720">
                    <a:solidFill>
                      <a:srgbClr val="F2F7F5"/>
                    </a:solidFill>
                  </a:tcPr>
                </a:tc>
              </a:tr>
              <a:tr h="613410">
                <a:tc>
                  <a:txBody>
                    <a:bodyPr>
                      <a:noAutofit/>
                    </a:bodyPr>
                    <a:lstStyle/>
                    <a:p>
                      <a:pPr algn="l">
                        <a:buNone/>
                      </a:pPr>
                      <a:r>
                        <a:rPr sz="2175" b="0">
                          <a:solidFill>
                            <a:srgbClr val="16323F"/>
                          </a:solidFill>
                          <a:latin typeface="Arial"/>
                          <a:ea typeface="Arial"/>
                          <a:cs typeface="Arial"/>
                        </a:rPr>
                        <a:t>Delivered packs</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1,440</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360</a:t>
                      </a:r>
                    </a:p>
                  </a:txBody>
                  <a:tcPr marL="91440" marR="91440" marT="45720" marB="45720">
                    <a:solidFill>
                      <a:srgbClr val="FFFFFF"/>
                    </a:solidFill>
                  </a:tcPr>
                </a:tc>
              </a:tr>
              <a:tr h="613410">
                <a:tc>
                  <a:txBody>
                    <a:bodyPr>
                      <a:noAutofit/>
                    </a:bodyPr>
                    <a:lstStyle/>
                    <a:p>
                      <a:pPr algn="l">
                        <a:buNone/>
                      </a:pPr>
                      <a:r>
                        <a:rPr sz="2175" b="0">
                          <a:solidFill>
                            <a:srgbClr val="16323F"/>
                          </a:solidFill>
                          <a:latin typeface="Arial"/>
                          <a:ea typeface="Arial"/>
                          <a:cs typeface="Arial"/>
                        </a:rPr>
                        <a:t>Customer destinations</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4</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1</a:t>
                      </a:r>
                    </a:p>
                  </a:txBody>
                  <a:tcPr marL="91440" marR="91440" marT="45720" marB="45720">
                    <a:solidFill>
                      <a:srgbClr val="F2F7F5"/>
                    </a:solidFill>
                  </a:tcPr>
                </a:tc>
              </a:tr>
              <a:tr h="613410">
                <a:tc>
                  <a:txBody>
                    <a:bodyPr>
                      <a:noAutofit/>
                    </a:bodyPr>
                    <a:lstStyle/>
                    <a:p>
                      <a:pPr algn="l">
                        <a:buNone/>
                      </a:pPr>
                      <a:r>
                        <a:rPr sz="2175" b="0">
                          <a:solidFill>
                            <a:srgbClr val="163541"/>
                          </a:solidFill>
                          <a:latin typeface="Arial"/>
                          <a:ea typeface="Arial"/>
                          <a:cs typeface="Arial"/>
                        </a:rPr>
                        <a:t>Ingredient used (kg)</a:t>
                      </a:r>
                    </a:p>
                  </a:txBody>
                  <a:tcPr marL="91440" marR="91440" marT="45720" marB="45720">
                    <a:solidFill>
                      <a:srgbClr val="FFFFFF"/>
                    </a:solidFill>
                  </a:tcPr>
                </a:tc>
                <a:tc>
                  <a:txBody>
                    <a:bodyPr>
                      <a:noAutofit/>
                    </a:bodyPr>
                    <a:lstStyle/>
                    <a:p>
                      <a:pPr algn="ctr">
                        <a:buNone/>
                      </a:pPr>
                      <a:r>
                        <a:rPr sz="2175" b="1">
                          <a:solidFill>
                            <a:srgbClr val="163541"/>
                          </a:solidFill>
                          <a:latin typeface="Arial"/>
                          <a:ea typeface="Arial"/>
                          <a:cs typeface="Arial"/>
                        </a:rPr>
                        <a:t>96</a:t>
                      </a:r>
                    </a:p>
                  </a:txBody>
                  <a:tcPr marL="91440" marR="91440" marT="45720" marB="45720">
                    <a:solidFill>
                      <a:srgbClr val="FFFFFF"/>
                    </a:solidFill>
                  </a:tcPr>
                </a:tc>
                <a:tc>
                  <a:txBody>
                    <a:bodyPr>
                      <a:noAutofit/>
                    </a:bodyPr>
                    <a:lstStyle/>
                    <a:p>
                      <a:pPr algn="ctr">
                        <a:buNone/>
                      </a:pPr>
                      <a:r>
                        <a:rPr sz="2175" b="1">
                          <a:solidFill>
                            <a:srgbClr val="163541"/>
                          </a:solidFill>
                          <a:latin typeface="Arial"/>
                          <a:ea typeface="Arial"/>
                          <a:cs typeface="Arial"/>
                        </a:rPr>
                        <a:t>24</a:t>
                      </a:r>
                    </a:p>
                  </a:txBody>
                  <a:tcPr marL="91440" marR="91440" marT="45720" marB="45720">
                    <a:solidFill>
                      <a:srgbClr val="FFFFFF"/>
                    </a:solidFill>
                  </a:tcPr>
                </a:tc>
              </a:tr>
            </a:tbl>
          </a:graphicData>
        </a:graphic>
      </p:graphicFrame>
      <p:sp>
        <p:nvSpPr>
          <p:cNvPr id="6" name="text-35">
            <a:extLst xmlns:a="http://schemas.openxmlformats.org/drawingml/2006/main">
              <a:ext uri="{FF2B5EF4-FFF2-40B4-BE49-F238E27FC236}">
                <a16:creationId xmlns:a16="http://schemas.microsoft.com/office/drawing/2014/main" id="{7E33698F-7A7A-4A16-9843-C981A3785068}"/>
              </a:ext>
            </a:extLst>
          </p:cNvPr>
          <p:cNvSpPr>
            <a:spLocks xmlns:a="http://schemas.openxmlformats.org/drawingml/2006/main" noGrp="1"/>
          </p:cNvSpPr>
          <p:nvPr/>
        </p:nvSpPr>
        <p:spPr>
          <a:xfrm xmlns:a="http://schemas.openxmlformats.org/drawingml/2006/main">
            <a:off x="685800" y="54483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B87519"/>
                </a:solidFill>
                <a:latin typeface="Arial"/>
                <a:ea typeface="Arial"/>
                <a:cs typeface="Arial"/>
              </a:defRPr>
            </a:pPr>
            <a:r>
              <a:rPr sz="2025" b="1">
                <a:solidFill>
                  <a:srgbClr val="007D82"/>
                </a:solidFill>
                <a:latin typeface="Arial"/>
                <a:ea typeface="Arial"/>
                <a:cs typeface="Arial"/>
              </a:rPr>
              <a:t>Every displayed delivery connects to its supporting source record.</a:t>
            </a:r>
          </a:p>
        </p:txBody>
      </p:sp>
    </p:spTree>
    <p:extLst>
      <p:ext uri="{BB962C8B-B14F-4D97-AF65-F5344CB8AC3E}">
        <p14:creationId xmlns:p14="http://schemas.microsoft.com/office/powerpoint/2010/main" val="15350600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36">
            <a:extLst xmlns:a="http://schemas.openxmlformats.org/drawingml/2006/main">
              <a:ext uri="{FF2B5EF4-FFF2-40B4-BE49-F238E27FC236}">
                <a16:creationId xmlns:a16="http://schemas.microsoft.com/office/drawing/2014/main" id="{B6D7D8C4-A4A3-4F11-BD72-A44CF8538F55}"/>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How RecallScope reaches a result</a:t>
            </a:r>
          </a:p>
        </p:txBody>
      </p:sp>
      <p:sp>
        <p:nvSpPr>
          <p:cNvPr id="2" name="text-37">
            <a:extLst xmlns:a="http://schemas.openxmlformats.org/drawingml/2006/main">
              <a:ext uri="{FF2B5EF4-FFF2-40B4-BE49-F238E27FC236}">
                <a16:creationId xmlns:a16="http://schemas.microsoft.com/office/drawing/2014/main" id="{55A0BCD8-8A9F-4522-B272-E0CDF579529D}"/>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AI extracts document fields for approval and deterministic tracing.</a:t>
            </a:r>
          </a:p>
        </p:txBody>
      </p:sp>
      <p:sp>
        <p:nvSpPr>
          <p:cNvPr id="3" name="text-38">
            <a:extLst xmlns:a="http://schemas.openxmlformats.org/drawingml/2006/main">
              <a:ext uri="{FF2B5EF4-FFF2-40B4-BE49-F238E27FC236}">
                <a16:creationId xmlns:a16="http://schemas.microsoft.com/office/drawing/2014/main" id="{B05D8BBD-3E00-4B2A-B66E-7419CE4DA76D}"/>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39">
            <a:extLst xmlns:a="http://schemas.openxmlformats.org/drawingml/2006/main">
              <a:ext uri="{FF2B5EF4-FFF2-40B4-BE49-F238E27FC236}">
                <a16:creationId xmlns:a16="http://schemas.microsoft.com/office/drawing/2014/main" id="{950778AE-C47C-446C-9CA7-8429A5571A0C}"/>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05</a:t>
            </a:r>
          </a:p>
        </p:txBody>
      </p:sp>
      <p:sp>
        <p:nvSpPr>
          <p:cNvPr id="5" name="architecture-node-1">
            <a:extLst xmlns:a="http://schemas.openxmlformats.org/drawingml/2006/main">
              <a:ext uri="{FF2B5EF4-FFF2-40B4-BE49-F238E27FC236}">
                <a16:creationId xmlns:a16="http://schemas.microsoft.com/office/drawing/2014/main" id="{994A5478-DF14-4C12-82C5-72B61F932A3F}"/>
              </a:ext>
            </a:extLst>
          </p:cNvPr>
          <p:cNvSpPr>
            <a:spLocks xmlns:a="http://schemas.openxmlformats.org/drawingml/2006/main" noGrp="1"/>
          </p:cNvSpPr>
          <p:nvPr/>
        </p:nvSpPr>
        <p:spPr>
          <a:xfrm xmlns:a="http://schemas.openxmlformats.org/drawingml/2006/main">
            <a:off x="685800" y="2705100"/>
            <a:ext cx="3219450" cy="790575"/>
          </a:xfrm>
          <a:prstGeom xmlns:a="http://schemas.openxmlformats.org/drawingml/2006/main" prst="rect">
            <a:avLst/>
          </a:prstGeom>
          <a:solidFill xmlns:a="http://schemas.openxmlformats.org/drawingml/2006/main">
            <a:srgbClr val="F2F7F5"/>
          </a:solidFill>
          <a:ln xmlns:a="http://schemas.openxmlformats.org/drawingml/2006/main" w="19050">
            <a:solidFill>
              <a:srgbClr val="006D6D"/>
            </a:solidFill>
          </a:ln>
        </p:spPr>
        <p:txBody>
          <a:bodyPr xmlns:a="http://schemas.openxmlformats.org/drawingml/2006/main">
            <a:noAutofit/>
          </a:bodyPr>
          <a:lstStyle xmlns:a="http://schemas.openxmlformats.org/drawingml/2006/main"/>
          <a:p xmlns:a="http://schemas.openxmlformats.org/drawingml/2006/main">
            <a:pPr algn="ctr">
              <a:buNone/>
              <a:defRPr sz="2175" b="1">
                <a:solidFill>
                  <a:srgbClr val="006D6D"/>
                </a:solidFill>
                <a:latin typeface="Arial"/>
                <a:ea typeface="Arial"/>
                <a:cs typeface="Arial"/>
              </a:defRPr>
            </a:pPr>
            <a:r>
              <a:rPr sz="2175" b="1">
                <a:solidFill>
                  <a:srgbClr val="006D6D"/>
                </a:solidFill>
                <a:latin typeface="Arial"/>
                <a:ea typeface="Arial"/>
                <a:cs typeface="Arial"/>
              </a:rPr>
              <a:t>AI proposes</a:t>
            </a:r>
          </a:p>
        </p:txBody>
      </p:sp>
      <p:sp>
        <p:nvSpPr>
          <p:cNvPr id="6" name="text-40">
            <a:extLst xmlns:a="http://schemas.openxmlformats.org/drawingml/2006/main">
              <a:ext uri="{FF2B5EF4-FFF2-40B4-BE49-F238E27FC236}">
                <a16:creationId xmlns:a16="http://schemas.microsoft.com/office/drawing/2014/main" id="{6BFAD0D5-DD63-434C-AADD-510A4F39931F}"/>
              </a:ext>
            </a:extLst>
          </p:cNvPr>
          <p:cNvSpPr>
            <a:spLocks xmlns:a="http://schemas.openxmlformats.org/drawingml/2006/main" noGrp="1"/>
          </p:cNvSpPr>
          <p:nvPr/>
        </p:nvSpPr>
        <p:spPr>
          <a:xfrm xmlns:a="http://schemas.openxmlformats.org/drawingml/2006/main">
            <a:off x="685800"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0">
                <a:solidFill>
                  <a:srgbClr val="16323F"/>
                </a:solidFill>
                <a:latin typeface="Arial"/>
                <a:ea typeface="Arial"/>
                <a:cs typeface="Arial"/>
              </a:defRPr>
            </a:pPr>
            <a:r>
              <a:rPr sz="2025" b="0">
                <a:solidFill>
                  <a:srgbClr val="16323F"/>
                </a:solidFill>
                <a:latin typeface="Arial"/>
                <a:ea typeface="Arial"/>
                <a:cs typeface="Arial"/>
              </a:rPr>
              <a:t>Reads text and PDF page images into record proposals.</a:t>
            </a:r>
          </a:p>
        </p:txBody>
      </p:sp>
      <p:sp>
        <p:nvSpPr>
          <p:cNvPr id="7" name="architecture-node-2">
            <a:extLst xmlns:a="http://schemas.openxmlformats.org/drawingml/2006/main">
              <a:ext uri="{FF2B5EF4-FFF2-40B4-BE49-F238E27FC236}">
                <a16:creationId xmlns:a16="http://schemas.microsoft.com/office/drawing/2014/main" id="{960E5E7E-5950-45F7-A769-F0277DA3CC6D}"/>
              </a:ext>
            </a:extLst>
          </p:cNvPr>
          <p:cNvSpPr>
            <a:spLocks xmlns:a="http://schemas.openxmlformats.org/drawingml/2006/main" noGrp="1"/>
          </p:cNvSpPr>
          <p:nvPr/>
        </p:nvSpPr>
        <p:spPr>
          <a:xfrm xmlns:a="http://schemas.openxmlformats.org/drawingml/2006/main">
            <a:off x="4486275" y="2705100"/>
            <a:ext cx="3219450" cy="790575"/>
          </a:xfrm>
          <a:prstGeom xmlns:a="http://schemas.openxmlformats.org/drawingml/2006/main" prst="rect">
            <a:avLst/>
          </a:prstGeom>
          <a:solidFill xmlns:a="http://schemas.openxmlformats.org/drawingml/2006/main">
            <a:srgbClr val="FFF2DC"/>
          </a:solidFill>
          <a:ln xmlns:a="http://schemas.openxmlformats.org/drawingml/2006/main" w="19050">
            <a:solidFill>
              <a:srgbClr val="B87519"/>
            </a:solidFill>
          </a:ln>
        </p:spPr>
        <p:txBody>
          <a:bodyPr xmlns:a="http://schemas.openxmlformats.org/drawingml/2006/main">
            <a:noAutofit/>
          </a:bodyPr>
          <a:lstStyle xmlns:a="http://schemas.openxmlformats.org/drawingml/2006/main"/>
          <a:p xmlns:a="http://schemas.openxmlformats.org/drawingml/2006/main">
            <a:pPr algn="ctr">
              <a:buNone/>
              <a:defRPr sz="2175" b="1">
                <a:solidFill>
                  <a:srgbClr val="B87519"/>
                </a:solidFill>
                <a:latin typeface="Arial"/>
                <a:ea typeface="Arial"/>
                <a:cs typeface="Arial"/>
              </a:defRPr>
            </a:pPr>
            <a:r>
              <a:rPr sz="2175" b="1">
                <a:solidFill>
                  <a:srgbClr val="B87519"/>
                </a:solidFill>
                <a:latin typeface="Arial"/>
                <a:ea typeface="Arial"/>
                <a:cs typeface="Arial"/>
              </a:rPr>
              <a:t>Approve records</a:t>
            </a:r>
          </a:p>
        </p:txBody>
      </p:sp>
      <p:sp>
        <p:nvSpPr>
          <p:cNvPr id="8" name="text-41">
            <a:extLst xmlns:a="http://schemas.openxmlformats.org/drawingml/2006/main">
              <a:ext uri="{FF2B5EF4-FFF2-40B4-BE49-F238E27FC236}">
                <a16:creationId xmlns:a16="http://schemas.microsoft.com/office/drawing/2014/main" id="{63C79194-B62F-4339-A086-877F7ED29710}"/>
              </a:ext>
            </a:extLst>
          </p:cNvPr>
          <p:cNvSpPr>
            <a:spLocks xmlns:a="http://schemas.openxmlformats.org/drawingml/2006/main" noGrp="1"/>
          </p:cNvSpPr>
          <p:nvPr/>
        </p:nvSpPr>
        <p:spPr>
          <a:xfrm xmlns:a="http://schemas.openxmlformats.org/drawingml/2006/main">
            <a:off x="4486275"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0">
                <a:solidFill>
                  <a:srgbClr val="16323F"/>
                </a:solidFill>
                <a:latin typeface="Arial"/>
                <a:ea typeface="Arial"/>
                <a:cs typeface="Arial"/>
              </a:defRPr>
            </a:pPr>
            <a:r>
              <a:rPr sz="2025" b="0">
                <a:solidFill>
                  <a:srgbClr val="16323F"/>
                </a:solidFill>
                <a:latin typeface="Arial"/>
                <a:ea typeface="Arial"/>
                <a:cs typeface="Arial"/>
              </a:rPr>
              <a:t>Compare source evidence and accept the records into the workspace.</a:t>
            </a:r>
          </a:p>
        </p:txBody>
      </p:sp>
      <p:sp>
        <p:nvSpPr>
          <p:cNvPr id="9" name="architecture-node-3">
            <a:extLst xmlns:a="http://schemas.openxmlformats.org/drawingml/2006/main">
              <a:ext uri="{FF2B5EF4-FFF2-40B4-BE49-F238E27FC236}">
                <a16:creationId xmlns:a16="http://schemas.microsoft.com/office/drawing/2014/main" id="{266E1728-1AE6-4A13-97FA-918BE33B7589}"/>
              </a:ext>
            </a:extLst>
          </p:cNvPr>
          <p:cNvSpPr>
            <a:spLocks xmlns:a="http://schemas.openxmlformats.org/drawingml/2006/main" noGrp="1"/>
          </p:cNvSpPr>
          <p:nvPr/>
        </p:nvSpPr>
        <p:spPr>
          <a:xfrm xmlns:a="http://schemas.openxmlformats.org/drawingml/2006/main">
            <a:off x="8286750" y="2705100"/>
            <a:ext cx="3219450" cy="790575"/>
          </a:xfrm>
          <a:prstGeom xmlns:a="http://schemas.openxmlformats.org/drawingml/2006/main" prst="rect">
            <a:avLst/>
          </a:prstGeom>
          <a:solidFill xmlns:a="http://schemas.openxmlformats.org/drawingml/2006/main">
            <a:srgbClr val="F2F7F5"/>
          </a:solidFill>
          <a:ln xmlns:a="http://schemas.openxmlformats.org/drawingml/2006/main" w="19050">
            <a:solidFill>
              <a:srgbClr val="006D6D"/>
            </a:solidFill>
          </a:ln>
        </p:spPr>
        <p:txBody>
          <a:bodyPr xmlns:a="http://schemas.openxmlformats.org/drawingml/2006/main">
            <a:noAutofit/>
          </a:bodyPr>
          <a:lstStyle xmlns:a="http://schemas.openxmlformats.org/drawingml/2006/main"/>
          <a:p xmlns:a="http://schemas.openxmlformats.org/drawingml/2006/main">
            <a:pPr algn="ctr">
              <a:buNone/>
              <a:defRPr sz="2175" b="1">
                <a:solidFill>
                  <a:srgbClr val="006D6D"/>
                </a:solidFill>
                <a:latin typeface="Arial"/>
                <a:ea typeface="Arial"/>
                <a:cs typeface="Arial"/>
              </a:defRPr>
            </a:pPr>
            <a:r>
              <a:rPr sz="2175" b="1">
                <a:solidFill>
                  <a:srgbClr val="006D6D"/>
                </a:solidFill>
                <a:latin typeface="Arial"/>
                <a:ea typeface="Arial"/>
                <a:cs typeface="Arial"/>
              </a:rPr>
              <a:t>Code calculates</a:t>
            </a:r>
          </a:p>
        </p:txBody>
      </p:sp>
      <p:sp>
        <p:nvSpPr>
          <p:cNvPr id="10" name="text-42">
            <a:extLst xmlns:a="http://schemas.openxmlformats.org/drawingml/2006/main">
              <a:ext uri="{FF2B5EF4-FFF2-40B4-BE49-F238E27FC236}">
                <a16:creationId xmlns:a16="http://schemas.microsoft.com/office/drawing/2014/main" id="{4973362D-71BB-47F7-8C64-42C8C87952AE}"/>
              </a:ext>
            </a:extLst>
          </p:cNvPr>
          <p:cNvSpPr>
            <a:spLocks xmlns:a="http://schemas.openxmlformats.org/drawingml/2006/main" noGrp="1"/>
          </p:cNvSpPr>
          <p:nvPr/>
        </p:nvSpPr>
        <p:spPr>
          <a:xfrm xmlns:a="http://schemas.openxmlformats.org/drawingml/2006/main">
            <a:off x="8286750"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0">
                <a:solidFill>
                  <a:srgbClr val="16323F"/>
                </a:solidFill>
                <a:latin typeface="Arial"/>
                <a:ea typeface="Arial"/>
                <a:cs typeface="Arial"/>
              </a:defRPr>
            </a:pPr>
            <a:r>
              <a:rPr sz="2025" b="0">
                <a:solidFill>
                  <a:srgbClr val="16323F"/>
                </a:solidFill>
                <a:latin typeface="Arial"/>
                <a:ea typeface="Arial"/>
                <a:cs typeface="Arial"/>
              </a:rPr>
              <a:t>Traces accepted links and totals affected deliveries.</a:t>
            </a:r>
          </a:p>
        </p:txBody>
      </p:sp>
      <p:cxnSp>
        <p:nvCxnSpPr>
          <p:cNvPr id="72" name=""/>
          <p:cNvCxnSpPr>
            <a:stCxn xmlns:a="http://schemas.openxmlformats.org/drawingml/2006/main" id="5" idx="3"/>
            <a:endCxn xmlns:a="http://schemas.openxmlformats.org/drawingml/2006/main" id="7" idx="1"/>
          </p:cNvCxnSpPr>
          <p:nvPr/>
        </p:nvCxnSpPr>
        <p:spPr>
          <a:xfrm xmlns:a="http://schemas.openxmlformats.org/drawingml/2006/main">
            <a:off x="3905250" y="3100388"/>
            <a:ext cx="58102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73" name=""/>
          <p:cNvCxnSpPr>
            <a:stCxn xmlns:a="http://schemas.openxmlformats.org/drawingml/2006/main" id="7" idx="3"/>
            <a:endCxn xmlns:a="http://schemas.openxmlformats.org/drawingml/2006/main" id="9" idx="1"/>
          </p:cNvCxnSpPr>
          <p:nvPr/>
        </p:nvCxnSpPr>
        <p:spPr>
          <a:xfrm xmlns:a="http://schemas.openxmlformats.org/drawingml/2006/main">
            <a:off x="7705725" y="3100388"/>
            <a:ext cx="581025" cy="0"/>
          </a:xfrm>
          <a:prstGeom xmlns:a="http://schemas.openxmlformats.org/drawingml/2006/main" prst="straightConnector1">
            <a:avLst/>
          </a:prstGeom>
          <a:ln xmlns:a="http://schemas.openxmlformats.org/drawingml/2006/main" w="19050">
            <a:solidFill>
              <a:srgbClr val="006D6D"/>
            </a:solidFill>
            <a:tailEnd type="triangle" w="sm" len="sm"/>
          </a:ln>
        </p:spPr>
      </p:cxnSp>
      <p:sp>
        <p:nvSpPr>
          <p:cNvPr id="13" name="text-43">
            <a:extLst xmlns:a="http://schemas.openxmlformats.org/drawingml/2006/main">
              <a:ext uri="{FF2B5EF4-FFF2-40B4-BE49-F238E27FC236}">
                <a16:creationId xmlns:a16="http://schemas.microsoft.com/office/drawing/2014/main" id="{C6BB2BD8-AB85-4504-9B5C-A86F80DFE5D8}"/>
              </a:ext>
            </a:extLst>
          </p:cNvPr>
          <p:cNvSpPr>
            <a:spLocks xmlns:a="http://schemas.openxmlformats.org/drawingml/2006/main" noGrp="1"/>
          </p:cNvSpPr>
          <p:nvPr/>
        </p:nvSpPr>
        <p:spPr>
          <a:xfrm xmlns:a="http://schemas.openxmlformats.org/drawingml/2006/main">
            <a:off x="685800" y="53435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006D6D"/>
                </a:solidFill>
                <a:latin typeface="Arial"/>
                <a:ea typeface="Arial"/>
                <a:cs typeface="Arial"/>
              </a:defRPr>
            </a:pPr>
            <a:r>
              <a:rPr sz="2025" b="1">
                <a:solidFill>
                  <a:srgbClr val="006D6D"/>
                </a:solidFill>
                <a:latin typeface="Arial"/>
                <a:ea typeface="Arial"/>
                <a:cs typeface="Arial"/>
              </a:rPr>
              <a:t>Live Fireworks extraction on sample text and PDF: 3 records each.</a:t>
            </a:r>
            <a:br/>
            <a:r>
              <a:rPr sz="2025" b="1">
                <a:solidFill>
                  <a:srgbClr val="006D6D"/>
                </a:solidFill>
                <a:latin typeface="Arial"/>
                <a:ea typeface="Arial"/>
                <a:cs typeface="Arial"/>
              </a:rPr>
              <a:t>Approved PDF import: 180 delivered packs with source evidence.</a:t>
            </a:r>
          </a:p>
        </p:txBody>
      </p:sp>
    </p:spTree>
    <p:extLst>
      <p:ext uri="{BB962C8B-B14F-4D97-AF65-F5344CB8AC3E}">
        <p14:creationId xmlns:p14="http://schemas.microsoft.com/office/powerpoint/2010/main" val="525679561"/>
      </p:ext>
    </p:extLst>
  </p:cSld>
</p:sld>
</file>

<file path=ppt/slides/slide6.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11" name="text-44">
            <a:extLst xmlns:a="http://schemas.openxmlformats.org/drawingml/2006/main">
              <a:ext uri="{FF2B5EF4-FFF2-40B4-BE49-F238E27FC236}">
                <a16:creationId xmlns:a16="http://schemas.microsoft.com/office/drawing/2014/main" id="{5A8DE06E-CB4D-4CA6-99FB-E0B31360EFA0}"/>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A focused buyer and subscription model</a:t>
            </a:r>
          </a:p>
        </p:txBody>
      </p:sp>
      <p:sp>
        <p:nvSpPr>
          <p:cNvPr id="2" name="text-45">
            <a:extLst xmlns:a="http://schemas.openxmlformats.org/drawingml/2006/main">
              <a:ext uri="{FF2B5EF4-FFF2-40B4-BE49-F238E27FC236}">
                <a16:creationId xmlns:a16="http://schemas.microsoft.com/office/drawing/2014/main" id="{7DCD32A1-4CAC-440C-8BC8-44425C78FEEA}"/>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9CDED0"/>
                </a:solidFill>
                <a:latin typeface="Arial"/>
                <a:ea typeface="Arial"/>
                <a:cs typeface="Arial"/>
              </a:defRPr>
            </a:pPr>
            <a:r>
              <a:rPr sz="1275" b="0">
                <a:solidFill>
                  <a:srgbClr val="9CDED0"/>
                </a:solidFill>
                <a:latin typeface="Arial"/>
                <a:ea typeface="Arial"/>
                <a:cs typeface="Arial"/>
              </a:rPr>
              <a:t>RecallScope</a:t>
            </a:r>
          </a:p>
        </p:txBody>
      </p:sp>
      <p:sp>
        <p:nvSpPr>
          <p:cNvPr id="3" name="text-46">
            <a:extLst xmlns:a="http://schemas.openxmlformats.org/drawingml/2006/main">
              <a:ext uri="{FF2B5EF4-FFF2-40B4-BE49-F238E27FC236}">
                <a16:creationId xmlns:a16="http://schemas.microsoft.com/office/drawing/2014/main" id="{B5FFA655-C607-4BFC-9F11-8F0BCC8D56CF}"/>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9CDED0"/>
                </a:solidFill>
                <a:latin typeface="Arial"/>
                <a:ea typeface="Arial"/>
                <a:cs typeface="Arial"/>
              </a:defRPr>
            </a:pPr>
            <a:r>
              <a:rPr sz="1275" b="0">
                <a:solidFill>
                  <a:srgbClr val="9CDED0"/>
                </a:solidFill>
                <a:latin typeface="Arial"/>
                <a:ea typeface="Arial"/>
                <a:cs typeface="Arial"/>
              </a:rPr>
              <a:t>06</a:t>
            </a:r>
          </a:p>
        </p:txBody>
      </p:sp>
      <p:sp>
        <p:nvSpPr>
          <p:cNvPr id="4" name="text-47">
            <a:extLst xmlns:a="http://schemas.openxmlformats.org/drawingml/2006/main">
              <a:ext uri="{FF2B5EF4-FFF2-40B4-BE49-F238E27FC236}">
                <a16:creationId xmlns:a16="http://schemas.microsoft.com/office/drawing/2014/main" id="{4EC216D6-278F-45F2-9BEC-8084550735D9}"/>
              </a:ext>
            </a:extLst>
          </p:cNvPr>
          <p:cNvSpPr>
            <a:spLocks xmlns:a="http://schemas.openxmlformats.org/drawingml/2006/main" noGrp="1"/>
          </p:cNvSpPr>
          <p:nvPr/>
        </p:nvSpPr>
        <p:spPr>
          <a:xfrm xmlns:a="http://schemas.openxmlformats.org/drawingml/2006/main">
            <a:off x="685800" y="2009775"/>
            <a:ext cx="10763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6225" b="1">
                <a:solidFill>
                  <a:srgbClr val="FFFFFF"/>
                </a:solidFill>
                <a:latin typeface="Arial"/>
                <a:ea typeface="Arial"/>
                <a:cs typeface="Arial"/>
              </a:defRPr>
            </a:pPr>
            <a:r>
              <a:rPr sz="6225" b="1">
                <a:solidFill>
                  <a:srgbClr val="FFFFFF"/>
                </a:solidFill>
                <a:latin typeface="Arial"/>
                <a:ea typeface="Arial"/>
                <a:cs typeface="Arial"/>
              </a:rPr>
              <a:t>₹3,000–10,000</a:t>
            </a:r>
          </a:p>
        </p:txBody>
      </p:sp>
      <p:sp>
        <p:nvSpPr>
          <p:cNvPr id="5" name="text-48">
            <a:extLst xmlns:a="http://schemas.openxmlformats.org/drawingml/2006/main">
              <a:ext uri="{FF2B5EF4-FFF2-40B4-BE49-F238E27FC236}">
                <a16:creationId xmlns:a16="http://schemas.microsoft.com/office/drawing/2014/main" id="{0A11C173-4EB9-4D8F-BFA2-67F274DDD631}"/>
              </a:ext>
            </a:extLst>
          </p:cNvPr>
          <p:cNvSpPr>
            <a:spLocks xmlns:a="http://schemas.openxmlformats.org/drawingml/2006/main" noGrp="1"/>
          </p:cNvSpPr>
          <p:nvPr/>
        </p:nvSpPr>
        <p:spPr>
          <a:xfrm xmlns:a="http://schemas.openxmlformats.org/drawingml/2006/main">
            <a:off x="733425" y="3276600"/>
            <a:ext cx="857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550" b="0">
                <a:solidFill>
                  <a:srgbClr val="9CDED0"/>
                </a:solidFill>
                <a:latin typeface="Arial"/>
                <a:ea typeface="Arial"/>
                <a:cs typeface="Arial"/>
              </a:defRPr>
            </a:pPr>
            <a:r>
              <a:rPr sz="2550" b="0">
                <a:solidFill>
                  <a:srgbClr val="9CDED0"/>
                </a:solidFill>
                <a:latin typeface="Arial"/>
                <a:ea typeface="Arial"/>
                <a:cs typeface="Arial"/>
              </a:rPr>
              <a:t>per site per month</a:t>
            </a:r>
          </a:p>
        </p:txBody>
      </p:sp>
      <p:sp>
        <p:nvSpPr>
          <p:cNvPr id="6" name="text-49">
            <a:extLst xmlns:a="http://schemas.openxmlformats.org/drawingml/2006/main">
              <a:ext uri="{FF2B5EF4-FFF2-40B4-BE49-F238E27FC236}">
                <a16:creationId xmlns:a16="http://schemas.microsoft.com/office/drawing/2014/main" id="{CD423B72-0059-4892-A3ED-0ACE75955B35}"/>
              </a:ext>
            </a:extLst>
          </p:cNvPr>
          <p:cNvSpPr>
            <a:spLocks xmlns:a="http://schemas.openxmlformats.org/drawingml/2006/main" noGrp="1"/>
          </p:cNvSpPr>
          <p:nvPr/>
        </p:nvSpPr>
        <p:spPr>
          <a:xfrm xmlns:a="http://schemas.openxmlformats.org/drawingml/2006/main">
            <a:off x="733425" y="3962400"/>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950" b="0">
                <a:solidFill>
                  <a:srgbClr val="E9B864"/>
                </a:solidFill>
                <a:latin typeface="Arial"/>
                <a:ea typeface="Arial"/>
                <a:cs typeface="Arial"/>
              </a:defRPr>
            </a:pPr>
            <a:r>
              <a:rPr sz="1950" b="0">
                <a:solidFill>
                  <a:srgbClr val="E9B864"/>
                </a:solidFill>
                <a:latin typeface="Arial"/>
                <a:ea typeface="Arial"/>
                <a:cs typeface="Arial"/>
              </a:rPr>
              <a:t>Proposed subscription range</a:t>
            </a:r>
          </a:p>
        </p:txBody>
      </p:sp>
      <p:sp>
        <p:nvSpPr>
          <p:cNvPr id="7" name="text-50">
            <a:extLst xmlns:a="http://schemas.openxmlformats.org/drawingml/2006/main">
              <a:ext uri="{FF2B5EF4-FFF2-40B4-BE49-F238E27FC236}">
                <a16:creationId xmlns:a16="http://schemas.microsoft.com/office/drawing/2014/main" id="{8804C1D7-F2CD-4803-B77A-FE07A843744D}"/>
              </a:ext>
            </a:extLst>
          </p:cNvPr>
          <p:cNvSpPr>
            <a:spLocks xmlns:a="http://schemas.openxmlformats.org/drawingml/2006/main" noGrp="1"/>
          </p:cNvSpPr>
          <p:nvPr/>
        </p:nvSpPr>
        <p:spPr>
          <a:xfrm xmlns:a="http://schemas.openxmlformats.org/drawingml/2006/main">
            <a:off x="733425" y="4886325"/>
            <a:ext cx="2905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1">
                <a:solidFill>
                  <a:srgbClr val="9CDED0"/>
                </a:solidFill>
                <a:latin typeface="Arial"/>
                <a:ea typeface="Arial"/>
                <a:cs typeface="Arial"/>
              </a:defRPr>
            </a:pPr>
            <a:r>
              <a:rPr sz="1875" b="1">
                <a:solidFill>
                  <a:srgbClr val="9CDED0"/>
                </a:solidFill>
                <a:latin typeface="Arial"/>
                <a:ea typeface="Arial"/>
                <a:cs typeface="Arial"/>
              </a:rPr>
              <a:t>Buyer</a:t>
            </a:r>
          </a:p>
        </p:txBody>
      </p:sp>
      <p:sp>
        <p:nvSpPr>
          <p:cNvPr id="8" name="text-51">
            <a:extLst xmlns:a="http://schemas.openxmlformats.org/drawingml/2006/main">
              <a:ext uri="{FF2B5EF4-FFF2-40B4-BE49-F238E27FC236}">
                <a16:creationId xmlns:a16="http://schemas.microsoft.com/office/drawing/2014/main" id="{12F9F252-0A7E-4787-8B62-2FC97C5DD460}"/>
              </a:ext>
            </a:extLst>
          </p:cNvPr>
          <p:cNvSpPr>
            <a:spLocks xmlns:a="http://schemas.openxmlformats.org/drawingml/2006/main" noGrp="1"/>
          </p:cNvSpPr>
          <p:nvPr/>
        </p:nvSpPr>
        <p:spPr>
          <a:xfrm xmlns:a="http://schemas.openxmlformats.org/drawingml/2006/main">
            <a:off x="733425" y="5343525"/>
            <a:ext cx="5048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Quality or operations lead</a:t>
            </a:r>
          </a:p>
        </p:txBody>
      </p:sp>
      <p:sp>
        <p:nvSpPr>
          <p:cNvPr id="9" name="text-52">
            <a:extLst xmlns:a="http://schemas.openxmlformats.org/drawingml/2006/main">
              <a:ext uri="{FF2B5EF4-FFF2-40B4-BE49-F238E27FC236}">
                <a16:creationId xmlns:a16="http://schemas.microsoft.com/office/drawing/2014/main" id="{A237156E-9F97-4C15-B56E-E254FE7F36E9}"/>
              </a:ext>
            </a:extLst>
          </p:cNvPr>
          <p:cNvSpPr>
            <a:spLocks xmlns:a="http://schemas.openxmlformats.org/drawingml/2006/main" noGrp="1"/>
          </p:cNvSpPr>
          <p:nvPr/>
        </p:nvSpPr>
        <p:spPr>
          <a:xfrm xmlns:a="http://schemas.openxmlformats.org/drawingml/2006/main">
            <a:off x="6429375" y="488632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1">
                <a:solidFill>
                  <a:srgbClr val="9CDED0"/>
                </a:solidFill>
                <a:latin typeface="Arial"/>
                <a:ea typeface="Arial"/>
                <a:cs typeface="Arial"/>
              </a:defRPr>
            </a:pPr>
            <a:r>
              <a:rPr sz="1875" b="1">
                <a:solidFill>
                  <a:srgbClr val="9CDED0"/>
                </a:solidFill>
                <a:latin typeface="Arial"/>
                <a:ea typeface="Arial"/>
                <a:cs typeface="Arial"/>
              </a:rPr>
              <a:t>Workspace includes</a:t>
            </a:r>
          </a:p>
        </p:txBody>
      </p:sp>
      <p:sp>
        <p:nvSpPr>
          <p:cNvPr id="10" name="text-53">
            <a:extLst xmlns:a="http://schemas.openxmlformats.org/drawingml/2006/main">
              <a:ext uri="{FF2B5EF4-FFF2-40B4-BE49-F238E27FC236}">
                <a16:creationId xmlns:a16="http://schemas.microsoft.com/office/drawing/2014/main" id="{192FDDD5-2377-4DBA-A6B7-1EE646FB7B2E}"/>
              </a:ext>
            </a:extLst>
          </p:cNvPr>
          <p:cNvSpPr>
            <a:spLocks xmlns:a="http://schemas.openxmlformats.org/drawingml/2006/main" noGrp="1"/>
          </p:cNvSpPr>
          <p:nvPr/>
        </p:nvSpPr>
        <p:spPr>
          <a:xfrm xmlns:a="http://schemas.openxmlformats.org/drawingml/2006/main">
            <a:off x="6429375" y="5343525"/>
            <a:ext cx="50577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Lot tracing and saved evidence reports</a:t>
            </a:r>
          </a:p>
        </p:txBody>
      </p:sp>
    </p:spTree>
    <p:extLst>
      <p:ext uri="{BB962C8B-B14F-4D97-AF65-F5344CB8AC3E}">
        <p14:creationId xmlns:p14="http://schemas.microsoft.com/office/powerpoint/2010/main" val="1485851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54">
            <a:extLst xmlns:a="http://schemas.openxmlformats.org/drawingml/2006/main">
              <a:ext uri="{FF2B5EF4-FFF2-40B4-BE49-F238E27FC236}">
                <a16:creationId xmlns:a16="http://schemas.microsoft.com/office/drawing/2014/main" id="{766CA229-0C2F-47BA-B510-68A405A18D79}"/>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Evidence and reliability</a:t>
            </a:r>
          </a:p>
        </p:txBody>
      </p:sp>
      <p:sp>
        <p:nvSpPr>
          <p:cNvPr id="2" name="text-55">
            <a:extLst xmlns:a="http://schemas.openxmlformats.org/drawingml/2006/main">
              <a:ext uri="{FF2B5EF4-FFF2-40B4-BE49-F238E27FC236}">
                <a16:creationId xmlns:a16="http://schemas.microsoft.com/office/drawing/2014/main" id="{40076F88-02AE-469B-89D0-A0C497EBED32}"/>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The recorded workflow is supported by </a:t>
            </a:r>
            <a:r>
              <a:rPr sz="1875" b="0">
                <a:solidFill>
                  <a:srgbClr val="58717A"/>
                </a:solidFill>
                <a:latin typeface="Arial"/>
                <a:ea typeface="Arial"/>
                <a:cs typeface="Arial"/>
              </a:rPr>
              <a:t>47 automated checks</a:t>
            </a:r>
          </a:p>
        </p:txBody>
      </p:sp>
      <p:sp>
        <p:nvSpPr>
          <p:cNvPr id="3" name="text-56">
            <a:extLst xmlns:a="http://schemas.openxmlformats.org/drawingml/2006/main">
              <a:ext uri="{FF2B5EF4-FFF2-40B4-BE49-F238E27FC236}">
                <a16:creationId xmlns:a16="http://schemas.microsoft.com/office/drawing/2014/main" id="{03D48801-2347-4CA4-9284-3FDC3201B35D}"/>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57">
            <a:extLst xmlns:a="http://schemas.openxmlformats.org/drawingml/2006/main">
              <a:ext uri="{FF2B5EF4-FFF2-40B4-BE49-F238E27FC236}">
                <a16:creationId xmlns:a16="http://schemas.microsoft.com/office/drawing/2014/main" id="{9902654C-9852-45A7-883B-1FAA27E1D6CA}"/>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07</a:t>
            </a:r>
          </a:p>
        </p:txBody>
      </p:sp>
      <p:graphicFrame>
        <p:nvGraphicFramePr>
          <p:cNvPr id="13" name=""/>
          <p:cNvGraphicFramePr/>
          <p:nvPr/>
        </p:nvGraphicFramePr>
        <p:xfrm>
          <a:off xmlns:a="http://schemas.openxmlformats.org/drawingml/2006/main" x="685800" y="2190750"/>
          <a:ext xmlns:a="http://schemas.openxmlformats.org/drawingml/2006/main" cx="10820400" cy="3067050"/>
        </p:xfrm>
        <a:graphic xmlns:a="http://schemas.openxmlformats.org/drawingml/2006/main">
          <a:graphicData uri="http://schemas.openxmlformats.org/drawingml/2006/table">
            <a:tbl>
              <a:tblPr firstRow="0" bandRow="0"/>
              <a:tblGrid>
                <a:gridCol w="5410200"/>
                <a:gridCol w="5410200"/>
              </a:tblGrid>
              <a:tr h="613410">
                <a:tc>
                  <a:txBody>
                    <a:bodyPr>
                      <a:noAutofit/>
                    </a:bodyPr>
                    <a:lstStyle/>
                    <a:p>
                      <a:pPr algn="l">
                        <a:buNone/>
                      </a:pPr>
                      <a:r>
                        <a:rPr sz="1725" b="1">
                          <a:solidFill>
                            <a:srgbClr val="FFFFFF"/>
                          </a:solidFill>
                          <a:latin typeface="Arial"/>
                          <a:ea typeface="Arial"/>
                          <a:cs typeface="Arial"/>
                        </a:rPr>
                        <a:t>Capability</a:t>
                      </a:r>
                    </a:p>
                  </a:txBody>
                  <a:tcPr marL="91440" marR="91440" marT="45720" marB="45720">
                    <a:solidFill>
                      <a:srgbClr val="0C2834"/>
                    </a:solidFill>
                  </a:tcPr>
                </a:tc>
                <a:tc>
                  <a:txBody>
                    <a:bodyPr>
                      <a:noAutofit/>
                    </a:bodyPr>
                    <a:lstStyle/>
                    <a:p>
                      <a:pPr algn="ctr">
                        <a:buNone/>
                      </a:pPr>
                      <a:r>
                        <a:rPr sz="1725" b="1">
                          <a:solidFill>
                            <a:srgbClr val="FFFFFF"/>
                          </a:solidFill>
                          <a:latin typeface="Arial"/>
                          <a:ea typeface="Arial"/>
                          <a:cs typeface="Arial"/>
                        </a:rPr>
                        <a:t>Verified behavior</a:t>
                      </a:r>
                    </a:p>
                  </a:txBody>
                  <a:tcPr marL="91440" marR="91440" marT="45720" marB="45720">
                    <a:solidFill>
                      <a:srgbClr val="0C2834"/>
                    </a:solidFill>
                  </a:tcPr>
                </a:tc>
              </a:tr>
              <a:tr h="613410">
                <a:tc>
                  <a:txBody>
                    <a:bodyPr>
                      <a:noAutofit/>
                    </a:bodyPr>
                    <a:lstStyle/>
                    <a:p>
                      <a:pPr algn="l">
                        <a:buNone/>
                      </a:pPr>
                      <a:r>
                        <a:rPr sz="2175" b="0">
                          <a:solidFill>
                            <a:srgbClr val="16323F"/>
                          </a:solidFill>
                          <a:latin typeface="Arial"/>
                          <a:ea typeface="Arial"/>
                          <a:cs typeface="Arial"/>
                        </a:rPr>
                        <a:t>Recorded scope</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Deterministic batch and pack totals</a:t>
                      </a:r>
                    </a:p>
                  </a:txBody>
                  <a:tcPr marL="91440" marR="91440" marT="45720" marB="45720">
                    <a:solidFill>
                      <a:srgbClr val="F2F7F5"/>
                    </a:solidFill>
                  </a:tcPr>
                </a:tc>
              </a:tr>
              <a:tr h="613410">
                <a:tc>
                  <a:txBody>
                    <a:bodyPr>
                      <a:noAutofit/>
                    </a:bodyPr>
                    <a:lstStyle/>
                    <a:p>
                      <a:pPr algn="l">
                        <a:buNone/>
                      </a:pPr>
                      <a:r>
                        <a:rPr sz="2175" b="0">
                          <a:solidFill>
                            <a:srgbClr val="16323F"/>
                          </a:solidFill>
                          <a:latin typeface="Arial"/>
                          <a:ea typeface="Arial"/>
                          <a:cs typeface="Arial"/>
                        </a:rPr>
                        <a:t>Original documents</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Source text and retained files</a:t>
                      </a:r>
                    </a:p>
                  </a:txBody>
                  <a:tcPr marL="91440" marR="91440" marT="45720" marB="45720">
                    <a:solidFill>
                      <a:srgbClr val="FFFFFF"/>
                    </a:solidFill>
                  </a:tcPr>
                </a:tc>
              </a:tr>
              <a:tr h="613410">
                <a:tc>
                  <a:txBody>
                    <a:bodyPr>
                      <a:noAutofit/>
                    </a:bodyPr>
                    <a:lstStyle/>
                    <a:p>
                      <a:pPr algn="l">
                        <a:buNone/>
                      </a:pPr>
                      <a:r>
                        <a:rPr sz="2175" b="0">
                          <a:solidFill>
                            <a:srgbClr val="16323F"/>
                          </a:solidFill>
                          <a:latin typeface="Arial"/>
                          <a:ea typeface="Arial"/>
                          <a:cs typeface="Arial"/>
                        </a:rPr>
                        <a:t>Saved reports</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Fixed snapshots with decision history</a:t>
                      </a:r>
                    </a:p>
                  </a:txBody>
                  <a:tcPr marL="91440" marR="91440" marT="45720" marB="45720">
                    <a:solidFill>
                      <a:srgbClr val="F2F7F5"/>
                    </a:solidFill>
                  </a:tcPr>
                </a:tc>
              </a:tr>
              <a:tr h="613410">
                <a:tc>
                  <a:txBody>
                    <a:bodyPr>
                      <a:noAutofit/>
                    </a:bodyPr>
                    <a:lstStyle/>
                    <a:p>
                      <a:pPr algn="l">
                        <a:buNone/>
                      </a:pPr>
                      <a:r>
                        <a:rPr sz="2175" b="0">
                          <a:solidFill>
                            <a:srgbClr val="16323F"/>
                          </a:solidFill>
                          <a:latin typeface="Arial"/>
                          <a:ea typeface="Arial"/>
                          <a:cs typeface="Arial"/>
                        </a:rPr>
                        <a:t>Session and import controls</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Isolation and validation checks</a:t>
                      </a:r>
                    </a:p>
                  </a:txBody>
                  <a:tcPr marL="91440" marR="91440" marT="45720" marB="45720">
                    <a:solidFill>
                      <a:srgbClr val="FFFFFF"/>
                    </a:solidFill>
                  </a:tcPr>
                </a:tc>
              </a:tr>
            </a:tbl>
          </a:graphicData>
        </a:graphic>
      </p:graphicFrame>
      <p:sp>
        <p:nvSpPr>
          <p:cNvPr id="6" name="text-58">
            <a:extLst xmlns:a="http://schemas.openxmlformats.org/drawingml/2006/main">
              <a:ext uri="{FF2B5EF4-FFF2-40B4-BE49-F238E27FC236}">
                <a16:creationId xmlns:a16="http://schemas.microsoft.com/office/drawing/2014/main" id="{F5105D54-B89F-4410-823B-1098C0773A0A}"/>
              </a:ext>
            </a:extLst>
          </p:cNvPr>
          <p:cNvSpPr>
            <a:spLocks xmlns:a="http://schemas.openxmlformats.org/drawingml/2006/main" noGrp="1"/>
          </p:cNvSpPr>
          <p:nvPr/>
        </p:nvSpPr>
        <p:spPr>
          <a:xfrm xmlns:a="http://schemas.openxmlformats.org/drawingml/2006/main">
            <a:off x="685800" y="54768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1">
                <a:solidFill>
                  <a:srgbClr val="006D6D"/>
                </a:solidFill>
                <a:latin typeface="Arial"/>
                <a:ea typeface="Arial"/>
                <a:cs typeface="Arial"/>
              </a:defRPr>
            </a:pPr>
            <a:r>
              <a:rPr sz="2100" b="1">
                <a:solidFill>
                  <a:srgbClr val="006D6D"/>
                </a:solidFill>
                <a:latin typeface="Arial"/>
                <a:ea typeface="Arial"/>
                <a:cs typeface="Arial"/>
              </a:rPr>
              <a:t>Verified locally across the application, API and saved reports.</a:t>
            </a:r>
          </a:p>
        </p:txBody>
      </p:sp>
    </p:spTree>
    <p:extLst>
      <p:ext uri="{BB962C8B-B14F-4D97-AF65-F5344CB8AC3E}">
        <p14:creationId xmlns:p14="http://schemas.microsoft.com/office/powerpoint/2010/main" val="619848806"/>
      </p:ext>
    </p:extLst>
  </p:cSld>
</p:sld>
</file>

<file path=ppt/slides/slide8.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7" name="text-59">
            <a:extLst xmlns:a="http://schemas.openxmlformats.org/drawingml/2006/main">
              <a:ext uri="{FF2B5EF4-FFF2-40B4-BE49-F238E27FC236}">
                <a16:creationId xmlns:a16="http://schemas.microsoft.com/office/drawing/2014/main" id="{C1C6630F-758A-411B-A9D4-B1EF2E95FEB3}"/>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RecallScope</a:t>
            </a:r>
          </a:p>
        </p:txBody>
      </p:sp>
      <p:sp>
        <p:nvSpPr>
          <p:cNvPr id="2" name="text-60">
            <a:extLst xmlns:a="http://schemas.openxmlformats.org/drawingml/2006/main">
              <a:ext uri="{FF2B5EF4-FFF2-40B4-BE49-F238E27FC236}">
                <a16:creationId xmlns:a16="http://schemas.microsoft.com/office/drawing/2014/main" id="{3F514630-AE7A-4CCA-9DDF-BB25F0974BCB}"/>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9CDED0"/>
                </a:solidFill>
                <a:latin typeface="Arial"/>
                <a:ea typeface="Arial"/>
                <a:cs typeface="Arial"/>
              </a:defRPr>
            </a:pPr>
            <a:r>
              <a:rPr sz="1275" b="0">
                <a:solidFill>
                  <a:srgbClr val="9CDED0"/>
                </a:solidFill>
                <a:latin typeface="Arial"/>
                <a:ea typeface="Arial"/>
                <a:cs typeface="Arial"/>
              </a:rPr>
              <a:t>RecallScope</a:t>
            </a:r>
          </a:p>
        </p:txBody>
      </p:sp>
      <p:sp>
        <p:nvSpPr>
          <p:cNvPr id="3" name="text-61">
            <a:extLst xmlns:a="http://schemas.openxmlformats.org/drawingml/2006/main">
              <a:ext uri="{FF2B5EF4-FFF2-40B4-BE49-F238E27FC236}">
                <a16:creationId xmlns:a16="http://schemas.microsoft.com/office/drawing/2014/main" id="{1FDD5E66-D1B3-4B36-84DF-2D4AA5494386}"/>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9CDED0"/>
                </a:solidFill>
                <a:latin typeface="Arial"/>
                <a:ea typeface="Arial"/>
                <a:cs typeface="Arial"/>
              </a:defRPr>
            </a:pPr>
            <a:r>
              <a:rPr sz="1275" b="0">
                <a:solidFill>
                  <a:srgbClr val="9CDED0"/>
                </a:solidFill>
                <a:latin typeface="Arial"/>
                <a:ea typeface="Arial"/>
                <a:cs typeface="Arial"/>
              </a:rPr>
              <a:t>08</a:t>
            </a:r>
          </a:p>
        </p:txBody>
      </p:sp>
      <p:sp>
        <p:nvSpPr>
          <p:cNvPr id="4" name="text-62">
            <a:extLst xmlns:a="http://schemas.openxmlformats.org/drawingml/2006/main">
              <a:ext uri="{FF2B5EF4-FFF2-40B4-BE49-F238E27FC236}">
                <a16:creationId xmlns:a16="http://schemas.microsoft.com/office/drawing/2014/main" id="{DE93799E-A71E-4523-A7A7-02911DA364D8}"/>
              </a:ext>
            </a:extLst>
          </p:cNvPr>
          <p:cNvSpPr>
            <a:spLocks xmlns:a="http://schemas.openxmlformats.org/drawingml/2006/main" noGrp="1"/>
          </p:cNvSpPr>
          <p:nvPr/>
        </p:nvSpPr>
        <p:spPr>
          <a:xfrm xmlns:a="http://schemas.openxmlformats.org/drawingml/2006/main">
            <a:off x="685800" y="2057400"/>
            <a:ext cx="108204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4575" b="1">
                <a:solidFill>
                  <a:srgbClr val="FFFFFF"/>
                </a:solidFill>
                <a:latin typeface="Arial"/>
                <a:ea typeface="Arial"/>
                <a:cs typeface="Arial"/>
              </a:defRPr>
            </a:pPr>
            <a:r>
              <a:rPr sz="4575" b="1">
                <a:solidFill>
                  <a:srgbClr val="FFFFFF"/>
                </a:solidFill>
                <a:latin typeface="Arial"/>
                <a:ea typeface="Arial"/>
                <a:cs typeface="Arial"/>
              </a:rPr>
              <a:t>From an ingredient lot</a:t>
            </a:r>
          </a:p>
          <a:p xmlns:a="http://schemas.openxmlformats.org/drawingml/2006/main">
            <a:pPr algn="l">
              <a:buNone/>
              <a:defRPr sz="4575" b="1">
                <a:solidFill>
                  <a:srgbClr val="FFFFFF"/>
                </a:solidFill>
                <a:latin typeface="Arial"/>
                <a:ea typeface="Arial"/>
                <a:cs typeface="Arial"/>
              </a:defRPr>
            </a:pPr>
            <a:r>
              <a:rPr sz="4575" b="1">
                <a:solidFill>
                  <a:srgbClr val="FFFFFF"/>
                </a:solidFill>
                <a:latin typeface="Arial"/>
                <a:ea typeface="Arial"/>
                <a:cs typeface="Arial"/>
              </a:rPr>
              <a:t>to every recorded delivery.</a:t>
            </a:r>
          </a:p>
        </p:txBody>
      </p:sp>
      <p:sp>
        <p:nvSpPr>
          <p:cNvPr id="5" name="text-63">
            <a:extLst xmlns:a="http://schemas.openxmlformats.org/drawingml/2006/main">
              <a:ext uri="{FF2B5EF4-FFF2-40B4-BE49-F238E27FC236}">
                <a16:creationId xmlns:a16="http://schemas.microsoft.com/office/drawing/2014/main" id="{D36D38DA-4827-4F67-9B73-4FB2BA7255BC}"/>
              </a:ext>
            </a:extLst>
          </p:cNvPr>
          <p:cNvSpPr>
            <a:spLocks xmlns:a="http://schemas.openxmlformats.org/drawingml/2006/main" noGrp="1"/>
          </p:cNvSpPr>
          <p:nvPr/>
        </p:nvSpPr>
        <p:spPr>
          <a:xfrm xmlns:a="http://schemas.openxmlformats.org/drawingml/2006/main">
            <a:off x="733425" y="4133850"/>
            <a:ext cx="10001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550" b="0">
                <a:solidFill>
                  <a:srgbClr val="9CDED0"/>
                </a:solidFill>
                <a:latin typeface="Arial"/>
                <a:ea typeface="Arial"/>
                <a:cs typeface="Arial"/>
              </a:defRPr>
            </a:pPr>
            <a:r>
              <a:rPr sz="2550" b="0">
                <a:solidFill>
                  <a:srgbClr val="9CDED0"/>
                </a:solidFill>
                <a:latin typeface="Arial"/>
                <a:ea typeface="Arial"/>
                <a:cs typeface="Arial"/>
              </a:rPr>
              <a:t>Select a lot, follow its production batches and open the source behind each customer delivery.</a:t>
            </a:r>
          </a:p>
        </p:txBody>
      </p:sp>
      <p:sp>
        <p:nvSpPr>
          <p:cNvPr id="6" name="text-64">
            <a:extLst xmlns:a="http://schemas.openxmlformats.org/drawingml/2006/main">
              <a:ext uri="{FF2B5EF4-FFF2-40B4-BE49-F238E27FC236}">
                <a16:creationId xmlns:a16="http://schemas.microsoft.com/office/drawing/2014/main" id="{ACB35869-753E-411A-973A-627A06E724D6}"/>
              </a:ext>
            </a:extLst>
          </p:cNvPr>
          <p:cNvSpPr>
            <a:spLocks xmlns:a="http://schemas.openxmlformats.org/drawingml/2006/main" noGrp="1"/>
          </p:cNvSpPr>
          <p:nvPr/>
        </p:nvSpPr>
        <p:spPr>
          <a:xfrm xmlns:a="http://schemas.openxmlformats.org/drawingml/2006/main">
            <a:off x="733425" y="5467350"/>
            <a:ext cx="10001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recallscope.console3096.chatgpt.site</a:t>
            </a:r>
          </a:p>
        </p:txBody>
      </p:sp>
    </p:spTree>
    <p:extLst>
      <p:ext uri="{BB962C8B-B14F-4D97-AF65-F5344CB8AC3E}">
        <p14:creationId xmlns:p14="http://schemas.microsoft.com/office/powerpoint/2010/main" val="9246190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2026-09-12T11:53:40.0870000Z</dcterms:created>
  <dcterms:modified xsi:type="dcterms:W3CDTF">2026-09-12T11:53:40.0870000Z</dcterms:modified>
</coreProperties>
</file>